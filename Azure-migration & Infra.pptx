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1"/>
  </p:notesMasterIdLst>
  <p:sldIdLst>
    <p:sldId id="256" r:id="rId5"/>
    <p:sldId id="258" r:id="rId6"/>
    <p:sldId id="259" r:id="rId7"/>
    <p:sldId id="262" r:id="rId8"/>
    <p:sldId id="263" r:id="rId9"/>
    <p:sldId id="264" r:id="rId10"/>
    <p:sldId id="266" r:id="rId11"/>
    <p:sldId id="267" r:id="rId12"/>
    <p:sldId id="268" r:id="rId13"/>
    <p:sldId id="269" r:id="rId14"/>
    <p:sldId id="265"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5" r:id="rId28"/>
    <p:sldId id="283" r:id="rId29"/>
    <p:sldId id="284" r:id="rId30"/>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Calibri Light" panose="020F0302020204030204" pitchFamily="34" charset="0"/>
      <p:regular r:id="rId36"/>
      <p:italic r:id="rId37"/>
    </p:embeddedFont>
    <p:embeddedFont>
      <p:font typeface="Montserrat" panose="00000500000000000000" pitchFamily="2"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Segoe UI Semibold" panose="020B0702040204020203" pitchFamily="3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D4"/>
    <a:srgbClr val="50E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17" autoAdjust="0"/>
    <p:restoredTop sz="94960" autoAdjust="0"/>
  </p:normalViewPr>
  <p:slideViewPr>
    <p:cSldViewPr snapToGrid="0" snapToObjects="1">
      <p:cViewPr varScale="1">
        <p:scale>
          <a:sx n="81" d="100"/>
          <a:sy n="81" d="100"/>
        </p:scale>
        <p:origin x="1110" y="90"/>
      </p:cViewPr>
      <p:guideLst/>
    </p:cSldViewPr>
  </p:slideViewPr>
  <p:outlineViewPr>
    <p:cViewPr>
      <p:scale>
        <a:sx n="33" d="100"/>
        <a:sy n="33" d="100"/>
      </p:scale>
      <p:origin x="0" y="-448"/>
    </p:cViewPr>
  </p:outlin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49" Type="http://schemas.openxmlformats.org/officeDocument/2006/relationships/font" Target="fonts/font1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Segoe UI" panose="020B0502040204020203"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Segoe UI" panose="020B0502040204020203" pitchFamily="34" charset="0"/>
              </a:defRPr>
            </a:lvl1pPr>
          </a:lstStyle>
          <a:p>
            <a:fld id="{A70A69C9-77F7-2444-B7B0-BC593D620CAE}" type="datetimeFigureOut">
              <a:rPr lang="en-US" smtClean="0"/>
              <a:pPr/>
              <a:t>6/9/2022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Segoe UI" panose="020B050204020402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Segoe UI" panose="020B0502040204020203" pitchFamily="34" charset="0"/>
              </a:defRPr>
            </a:lvl1pPr>
          </a:lstStyle>
          <a:p>
            <a:fld id="{D779D80F-7A82-BF45-974E-D1579E57A9C0}" type="slidenum">
              <a:rPr lang="en-US" smtClean="0"/>
              <a:pPr/>
              <a:t>‹#›</a:t>
            </a:fld>
            <a:endParaRPr lang="en-US" dirty="0"/>
          </a:p>
        </p:txBody>
      </p:sp>
    </p:spTree>
    <p:extLst>
      <p:ext uri="{BB962C8B-B14F-4D97-AF65-F5344CB8AC3E}">
        <p14:creationId xmlns:p14="http://schemas.microsoft.com/office/powerpoint/2010/main" val="536758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Segoe UI" panose="020B0502040204020203" pitchFamily="34" charset="0"/>
        <a:ea typeface="+mn-ea"/>
        <a:cs typeface="+mn-cs"/>
      </a:defRPr>
    </a:lvl1pPr>
    <a:lvl2pPr marL="457200" algn="l" defTabSz="914400" rtl="0" eaLnBrk="1" latinLnBrk="0" hangingPunct="1">
      <a:defRPr sz="1200" b="0" i="0" kern="1200">
        <a:solidFill>
          <a:schemeClr val="tx1"/>
        </a:solidFill>
        <a:latin typeface="Segoe UI" panose="020B0502040204020203" pitchFamily="34" charset="0"/>
        <a:ea typeface="+mn-ea"/>
        <a:cs typeface="+mn-cs"/>
      </a:defRPr>
    </a:lvl2pPr>
    <a:lvl3pPr marL="914400" algn="l" defTabSz="914400" rtl="0" eaLnBrk="1" latinLnBrk="0" hangingPunct="1">
      <a:defRPr sz="1200" b="0" i="0" kern="1200">
        <a:solidFill>
          <a:schemeClr val="tx1"/>
        </a:solidFill>
        <a:latin typeface="Segoe UI" panose="020B0502040204020203" pitchFamily="34" charset="0"/>
        <a:ea typeface="+mn-ea"/>
        <a:cs typeface="+mn-cs"/>
      </a:defRPr>
    </a:lvl3pPr>
    <a:lvl4pPr marL="1371600" algn="l" defTabSz="914400" rtl="0" eaLnBrk="1" latinLnBrk="0" hangingPunct="1">
      <a:defRPr sz="1200" b="0" i="0" kern="1200">
        <a:solidFill>
          <a:schemeClr val="tx1"/>
        </a:solidFill>
        <a:latin typeface="Segoe UI" panose="020B0502040204020203" pitchFamily="34" charset="0"/>
        <a:ea typeface="+mn-ea"/>
        <a:cs typeface="+mn-cs"/>
      </a:defRPr>
    </a:lvl4pPr>
    <a:lvl5pPr marL="1828800" algn="l" defTabSz="914400" rtl="0" eaLnBrk="1" latinLnBrk="0" hangingPunct="1">
      <a:defRPr sz="1200" b="0" i="0" kern="1200">
        <a:solidFill>
          <a:schemeClr val="tx1"/>
        </a:solidFill>
        <a:latin typeface="Segoe UI" panose="020B050204020402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9D80F-7A82-BF45-974E-D1579E57A9C0}" type="slidenum">
              <a:rPr lang="en-US" smtClean="0"/>
              <a:t>1</a:t>
            </a:fld>
            <a:endParaRPr lang="en-US"/>
          </a:p>
        </p:txBody>
      </p:sp>
    </p:spTree>
    <p:extLst>
      <p:ext uri="{BB962C8B-B14F-4D97-AF65-F5344CB8AC3E}">
        <p14:creationId xmlns:p14="http://schemas.microsoft.com/office/powerpoint/2010/main" val="2217117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a:t>
            </a:fld>
            <a:endParaRPr lang="en-US" dirty="0"/>
          </a:p>
        </p:txBody>
      </p:sp>
    </p:spTree>
    <p:extLst>
      <p:ext uri="{BB962C8B-B14F-4D97-AF65-F5344CB8AC3E}">
        <p14:creationId xmlns:p14="http://schemas.microsoft.com/office/powerpoint/2010/main" val="3496715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3</a:t>
            </a:fld>
            <a:endParaRPr lang="en-US" dirty="0"/>
          </a:p>
        </p:txBody>
      </p:sp>
    </p:spTree>
    <p:extLst>
      <p:ext uri="{BB962C8B-B14F-4D97-AF65-F5344CB8AC3E}">
        <p14:creationId xmlns:p14="http://schemas.microsoft.com/office/powerpoint/2010/main" val="2655116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4</a:t>
            </a:fld>
            <a:endParaRPr lang="en-US" dirty="0"/>
          </a:p>
        </p:txBody>
      </p:sp>
    </p:spTree>
    <p:extLst>
      <p:ext uri="{BB962C8B-B14F-4D97-AF65-F5344CB8AC3E}">
        <p14:creationId xmlns:p14="http://schemas.microsoft.com/office/powerpoint/2010/main" val="4123387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5</a:t>
            </a:fld>
            <a:endParaRPr lang="en-US" dirty="0"/>
          </a:p>
        </p:txBody>
      </p:sp>
    </p:spTree>
    <p:extLst>
      <p:ext uri="{BB962C8B-B14F-4D97-AF65-F5344CB8AC3E}">
        <p14:creationId xmlns:p14="http://schemas.microsoft.com/office/powerpoint/2010/main" val="2833829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6</a:t>
            </a:fld>
            <a:endParaRPr lang="en-US" dirty="0"/>
          </a:p>
        </p:txBody>
      </p:sp>
    </p:spTree>
    <p:extLst>
      <p:ext uri="{BB962C8B-B14F-4D97-AF65-F5344CB8AC3E}">
        <p14:creationId xmlns:p14="http://schemas.microsoft.com/office/powerpoint/2010/main" val="1304858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9D80F-7A82-BF45-974E-D1579E57A9C0}" type="slidenum">
              <a:rPr lang="en-US" smtClean="0"/>
              <a:pPr/>
              <a:t>7</a:t>
            </a:fld>
            <a:endParaRPr lang="en-US" dirty="0"/>
          </a:p>
        </p:txBody>
      </p:sp>
    </p:spTree>
    <p:extLst>
      <p:ext uri="{BB962C8B-B14F-4D97-AF65-F5344CB8AC3E}">
        <p14:creationId xmlns:p14="http://schemas.microsoft.com/office/powerpoint/2010/main" val="16548966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8</a:t>
            </a:fld>
            <a:endParaRPr lang="en-US" dirty="0"/>
          </a:p>
        </p:txBody>
      </p:sp>
    </p:spTree>
    <p:extLst>
      <p:ext uri="{BB962C8B-B14F-4D97-AF65-F5344CB8AC3E}">
        <p14:creationId xmlns:p14="http://schemas.microsoft.com/office/powerpoint/2010/main" val="3859566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9</a:t>
            </a:fld>
            <a:endParaRPr lang="en-US" dirty="0"/>
          </a:p>
        </p:txBody>
      </p:sp>
    </p:spTree>
    <p:extLst>
      <p:ext uri="{BB962C8B-B14F-4D97-AF65-F5344CB8AC3E}">
        <p14:creationId xmlns:p14="http://schemas.microsoft.com/office/powerpoint/2010/main" val="2239020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10</a:t>
            </a:fld>
            <a:endParaRPr lang="en-US" dirty="0"/>
          </a:p>
        </p:txBody>
      </p:sp>
    </p:spTree>
    <p:extLst>
      <p:ext uri="{BB962C8B-B14F-4D97-AF65-F5344CB8AC3E}">
        <p14:creationId xmlns:p14="http://schemas.microsoft.com/office/powerpoint/2010/main" val="3520576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11</a:t>
            </a:fld>
            <a:endParaRPr lang="en-US" dirty="0"/>
          </a:p>
        </p:txBody>
      </p:sp>
    </p:spTree>
    <p:extLst>
      <p:ext uri="{BB962C8B-B14F-4D97-AF65-F5344CB8AC3E}">
        <p14:creationId xmlns:p14="http://schemas.microsoft.com/office/powerpoint/2010/main" val="2953263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12</a:t>
            </a:fld>
            <a:endParaRPr lang="en-US" dirty="0"/>
          </a:p>
        </p:txBody>
      </p:sp>
    </p:spTree>
    <p:extLst>
      <p:ext uri="{BB962C8B-B14F-4D97-AF65-F5344CB8AC3E}">
        <p14:creationId xmlns:p14="http://schemas.microsoft.com/office/powerpoint/2010/main" val="2622928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13</a:t>
            </a:fld>
            <a:endParaRPr lang="en-US" dirty="0"/>
          </a:p>
        </p:txBody>
      </p:sp>
    </p:spTree>
    <p:extLst>
      <p:ext uri="{BB962C8B-B14F-4D97-AF65-F5344CB8AC3E}">
        <p14:creationId xmlns:p14="http://schemas.microsoft.com/office/powerpoint/2010/main" val="2882218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14</a:t>
            </a:fld>
            <a:endParaRPr lang="en-US" dirty="0"/>
          </a:p>
        </p:txBody>
      </p:sp>
    </p:spTree>
    <p:extLst>
      <p:ext uri="{BB962C8B-B14F-4D97-AF65-F5344CB8AC3E}">
        <p14:creationId xmlns:p14="http://schemas.microsoft.com/office/powerpoint/2010/main" val="3488195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15</a:t>
            </a:fld>
            <a:endParaRPr lang="en-US" dirty="0"/>
          </a:p>
        </p:txBody>
      </p:sp>
    </p:spTree>
    <p:extLst>
      <p:ext uri="{BB962C8B-B14F-4D97-AF65-F5344CB8AC3E}">
        <p14:creationId xmlns:p14="http://schemas.microsoft.com/office/powerpoint/2010/main" val="4053273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16</a:t>
            </a:fld>
            <a:endParaRPr lang="en-US" dirty="0"/>
          </a:p>
        </p:txBody>
      </p:sp>
    </p:spTree>
    <p:extLst>
      <p:ext uri="{BB962C8B-B14F-4D97-AF65-F5344CB8AC3E}">
        <p14:creationId xmlns:p14="http://schemas.microsoft.com/office/powerpoint/2010/main" val="912762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17</a:t>
            </a:fld>
            <a:endParaRPr lang="en-US" dirty="0"/>
          </a:p>
        </p:txBody>
      </p:sp>
    </p:spTree>
    <p:extLst>
      <p:ext uri="{BB962C8B-B14F-4D97-AF65-F5344CB8AC3E}">
        <p14:creationId xmlns:p14="http://schemas.microsoft.com/office/powerpoint/2010/main" val="2977400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18</a:t>
            </a:fld>
            <a:endParaRPr lang="en-US" dirty="0"/>
          </a:p>
        </p:txBody>
      </p:sp>
    </p:spTree>
    <p:extLst>
      <p:ext uri="{BB962C8B-B14F-4D97-AF65-F5344CB8AC3E}">
        <p14:creationId xmlns:p14="http://schemas.microsoft.com/office/powerpoint/2010/main" val="123576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19</a:t>
            </a:fld>
            <a:endParaRPr lang="en-US" dirty="0"/>
          </a:p>
        </p:txBody>
      </p:sp>
    </p:spTree>
    <p:extLst>
      <p:ext uri="{BB962C8B-B14F-4D97-AF65-F5344CB8AC3E}">
        <p14:creationId xmlns:p14="http://schemas.microsoft.com/office/powerpoint/2010/main" val="2877260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20</a:t>
            </a:fld>
            <a:endParaRPr lang="en-US" dirty="0"/>
          </a:p>
        </p:txBody>
      </p:sp>
    </p:spTree>
    <p:extLst>
      <p:ext uri="{BB962C8B-B14F-4D97-AF65-F5344CB8AC3E}">
        <p14:creationId xmlns:p14="http://schemas.microsoft.com/office/powerpoint/2010/main" val="3953729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21</a:t>
            </a:fld>
            <a:endParaRPr lang="en-US" dirty="0"/>
          </a:p>
        </p:txBody>
      </p:sp>
    </p:spTree>
    <p:extLst>
      <p:ext uri="{BB962C8B-B14F-4D97-AF65-F5344CB8AC3E}">
        <p14:creationId xmlns:p14="http://schemas.microsoft.com/office/powerpoint/2010/main" val="3733123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22</a:t>
            </a:fld>
            <a:endParaRPr lang="en-US" dirty="0"/>
          </a:p>
        </p:txBody>
      </p:sp>
    </p:spTree>
    <p:extLst>
      <p:ext uri="{BB962C8B-B14F-4D97-AF65-F5344CB8AC3E}">
        <p14:creationId xmlns:p14="http://schemas.microsoft.com/office/powerpoint/2010/main" val="1628020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23</a:t>
            </a:fld>
            <a:endParaRPr lang="en-US" dirty="0"/>
          </a:p>
        </p:txBody>
      </p:sp>
    </p:spTree>
    <p:extLst>
      <p:ext uri="{BB962C8B-B14F-4D97-AF65-F5344CB8AC3E}">
        <p14:creationId xmlns:p14="http://schemas.microsoft.com/office/powerpoint/2010/main" val="3397903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International version (for loc)</a:t>
            </a:r>
          </a:p>
        </p:txBody>
      </p:sp>
      <p:sp>
        <p:nvSpPr>
          <p:cNvPr id="4" name="Slide Number Placeholder 3"/>
          <p:cNvSpPr>
            <a:spLocks noGrp="1"/>
          </p:cNvSpPr>
          <p:nvPr>
            <p:ph type="sldNum" sz="quarter" idx="5"/>
          </p:nvPr>
        </p:nvSpPr>
        <p:spPr/>
        <p:txBody>
          <a:bodyPr/>
          <a:lstStyle/>
          <a:p>
            <a:fld id="{D779D80F-7A82-BF45-974E-D1579E57A9C0}" type="slidenum">
              <a:rPr lang="en-US" smtClean="0"/>
              <a:pPr/>
              <a:t>24</a:t>
            </a:fld>
            <a:endParaRPr lang="en-US" dirty="0"/>
          </a:p>
        </p:txBody>
      </p:sp>
    </p:spTree>
    <p:extLst>
      <p:ext uri="{BB962C8B-B14F-4D97-AF65-F5344CB8AC3E}">
        <p14:creationId xmlns:p14="http://schemas.microsoft.com/office/powerpoint/2010/main" val="29184500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25</a:t>
            </a:fld>
            <a:endParaRPr lang="en-US" dirty="0"/>
          </a:p>
        </p:txBody>
      </p:sp>
    </p:spTree>
    <p:extLst>
      <p:ext uri="{BB962C8B-B14F-4D97-AF65-F5344CB8AC3E}">
        <p14:creationId xmlns:p14="http://schemas.microsoft.com/office/powerpoint/2010/main" val="3110359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79D80F-7A82-BF45-974E-D1579E57A9C0}" type="slidenum">
              <a:rPr lang="en-US" smtClean="0"/>
              <a:pPr/>
              <a:t>26</a:t>
            </a:fld>
            <a:endParaRPr lang="en-US" dirty="0"/>
          </a:p>
        </p:txBody>
      </p:sp>
    </p:spTree>
    <p:extLst>
      <p:ext uri="{BB962C8B-B14F-4D97-AF65-F5344CB8AC3E}">
        <p14:creationId xmlns:p14="http://schemas.microsoft.com/office/powerpoint/2010/main" val="3030371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110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9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668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8694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793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486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4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7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5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836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6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1838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7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99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0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998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8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3972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7623215"/>
      </p:ext>
    </p:extLst>
  </p:cSld>
  <p:clrMap bg1="lt1" tx1="dk1" bg2="lt2" tx2="dk2" accent1="accent1" accent2="accent2" accent3="accent3" accent4="accent4" accent5="accent5" accent6="accent6" hlink="hlink" folHlink="folHlink"/>
  <p:sldLayoutIdLst>
    <p:sldLayoutId id="2147483655" r:id="rId1"/>
    <p:sldLayoutId id="2147483664" r:id="rId2"/>
    <p:sldLayoutId id="2147483656" r:id="rId3"/>
    <p:sldLayoutId id="2147483657" r:id="rId4"/>
    <p:sldLayoutId id="2147483658" r:id="rId5"/>
    <p:sldLayoutId id="2147483666" r:id="rId6"/>
    <p:sldLayoutId id="2147483659" r:id="rId7"/>
    <p:sldLayoutId id="2147483660" r:id="rId8"/>
    <p:sldLayoutId id="2147483661" r:id="rId9"/>
    <p:sldLayoutId id="2147483662" r:id="rId10"/>
    <p:sldLayoutId id="2147483665"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3.emf"/></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3.xml"/><Relationship Id="rId18" Type="http://schemas.openxmlformats.org/officeDocument/2006/relationships/slide" Target="slide17.xml"/><Relationship Id="rId26" Type="http://schemas.openxmlformats.org/officeDocument/2006/relationships/slide" Target="slide25.xml"/><Relationship Id="rId3" Type="http://schemas.openxmlformats.org/officeDocument/2006/relationships/image" Target="../media/image14.png"/><Relationship Id="rId21" Type="http://schemas.openxmlformats.org/officeDocument/2006/relationships/slide" Target="slide20.xml"/><Relationship Id="rId7" Type="http://schemas.openxmlformats.org/officeDocument/2006/relationships/slide" Target="slide6.xml"/><Relationship Id="rId12" Type="http://schemas.openxmlformats.org/officeDocument/2006/relationships/slide" Target="slide12.xml"/><Relationship Id="rId17" Type="http://schemas.openxmlformats.org/officeDocument/2006/relationships/slide" Target="slide16.xml"/><Relationship Id="rId25" Type="http://schemas.openxmlformats.org/officeDocument/2006/relationships/slide" Target="slide24.xml"/><Relationship Id="rId2" Type="http://schemas.openxmlformats.org/officeDocument/2006/relationships/notesSlide" Target="../notesSlides/notesSlide2.xml"/><Relationship Id="rId16" Type="http://schemas.openxmlformats.org/officeDocument/2006/relationships/slide" Target="slide15.xml"/><Relationship Id="rId20" Type="http://schemas.openxmlformats.org/officeDocument/2006/relationships/slide" Target="slide19.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11.xml"/><Relationship Id="rId24" Type="http://schemas.openxmlformats.org/officeDocument/2006/relationships/slide" Target="slide23.xml"/><Relationship Id="rId5" Type="http://schemas.openxmlformats.org/officeDocument/2006/relationships/slide" Target="slide4.xml"/><Relationship Id="rId15" Type="http://schemas.openxmlformats.org/officeDocument/2006/relationships/slide" Target="slide8.xml"/><Relationship Id="rId23" Type="http://schemas.openxmlformats.org/officeDocument/2006/relationships/slide" Target="slide22.xml"/><Relationship Id="rId10" Type="http://schemas.openxmlformats.org/officeDocument/2006/relationships/slide" Target="slide10.xml"/><Relationship Id="rId19" Type="http://schemas.openxmlformats.org/officeDocument/2006/relationships/slide" Target="slide18.xml"/><Relationship Id="rId4" Type="http://schemas.openxmlformats.org/officeDocument/2006/relationships/slide" Target="slide3.xml"/><Relationship Id="rId9" Type="http://schemas.openxmlformats.org/officeDocument/2006/relationships/slide" Target="slide9.xml"/><Relationship Id="rId14" Type="http://schemas.openxmlformats.org/officeDocument/2006/relationships/slide" Target="slide14.xml"/><Relationship Id="rId22" Type="http://schemas.openxmlformats.org/officeDocument/2006/relationships/slide" Target="slide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hyperlink" Target="https://info.flexera.com/CM-REPORT-State-of-the-Cloud" TargetMode="External"/><Relationship Id="rId4" Type="http://schemas.openxmlformats.org/officeDocument/2006/relationships/hyperlink" Target="https://azure.microsoft.com/overview/cloud-economic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hyperlink" Target="https://www.idc.com/getdoc.jsp?containerId=US47241821" TargetMode="External"/><Relationship Id="rId4" Type="http://schemas.openxmlformats.org/officeDocument/2006/relationships/hyperlink" Target="https://azure.microsoft.com/overview/cloud-economics/"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emf"/><Relationship Id="rId3" Type="http://schemas.openxmlformats.org/officeDocument/2006/relationships/image" Target="../media/image24.png"/><Relationship Id="rId7" Type="http://schemas.openxmlformats.org/officeDocument/2006/relationships/image" Target="../media/image28.svg"/><Relationship Id="rId12" Type="http://schemas.openxmlformats.org/officeDocument/2006/relationships/image" Target="../media/image33.emf"/><Relationship Id="rId17" Type="http://schemas.openxmlformats.org/officeDocument/2006/relationships/image" Target="../media/image38.png"/><Relationship Id="rId2" Type="http://schemas.openxmlformats.org/officeDocument/2006/relationships/notesSlide" Target="../notesSlides/notesSlide11.xml"/><Relationship Id="rId16"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sv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azure.microsoft.com/overview/cloud-enablement/cloud-adoption-framework/"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0.png"/><Relationship Id="rId3" Type="http://schemas.openxmlformats.org/officeDocument/2006/relationships/image" Target="../media/image43.png"/><Relationship Id="rId7" Type="http://schemas.openxmlformats.org/officeDocument/2006/relationships/image" Target="../media/image46.png"/><Relationship Id="rId12" Type="http://schemas.microsoft.com/office/2007/relationships/hdphoto" Target="../media/hdphoto3.wdp"/><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44.png"/><Relationship Id="rId9" Type="http://schemas.microsoft.com/office/2007/relationships/hdphoto" Target="../media/hdphoto2.wdp"/><Relationship Id="rId1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info.flexera.com/CM-REPORT-State-of-the-Cloud"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overview/trusted-cloud/compliance/"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 Id="rId5" Type="http://schemas.openxmlformats.org/officeDocument/2006/relationships/image" Target="../media/image53.png"/><Relationship Id="rId4" Type="http://schemas.openxmlformats.org/officeDocument/2006/relationships/hyperlink" Target="https://azure.microsoft.com/services/active-directory/"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esources/azure-is-helping-organizations-manage-regulatory-challenges/" TargetMode="External"/><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docs.microsoft.com/learn/modules/accelerate-azure-migration-journey/" TargetMode="External"/><Relationship Id="rId13" Type="http://schemas.openxmlformats.org/officeDocument/2006/relationships/image" Target="../media/image58.png"/><Relationship Id="rId3" Type="http://schemas.openxmlformats.org/officeDocument/2006/relationships/hyperlink" Target="https://docs.microsoft.com/learn/modules/principles-cloud-computing/index" TargetMode="External"/><Relationship Id="rId7" Type="http://schemas.openxmlformats.org/officeDocument/2006/relationships/hyperlink" Target="https://docs.microsoft.com/assessments/?mode=pre-assessment&amp;session=local" TargetMode="External"/><Relationship Id="rId12"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docs.microsoft.com/learn/paths/describe-capabilities-of-microsoft-security-solutions/" TargetMode="External"/><Relationship Id="rId11" Type="http://schemas.openxmlformats.org/officeDocument/2006/relationships/image" Target="../media/image56.png"/><Relationship Id="rId5" Type="http://schemas.openxmlformats.org/officeDocument/2006/relationships/hyperlink" Target="https://docs.microsoft.com/learn/certifications/browse/?resource_type=certification&amp;products=power-bi,sql-server,azure&amp;type=fundamentals,role-based,specialty" TargetMode="External"/><Relationship Id="rId10" Type="http://schemas.openxmlformats.org/officeDocument/2006/relationships/image" Target="../media/image55.png"/><Relationship Id="rId4" Type="http://schemas.openxmlformats.org/officeDocument/2006/relationships/hyperlink" Target="https://docs.microsoft.com/learn/paths/migrate-application-workloads-data-azure/" TargetMode="External"/><Relationship Id="rId9" Type="http://schemas.openxmlformats.org/officeDocument/2006/relationships/image" Target="../media/image54.emf"/><Relationship Id="rId1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hyperlink" Target="https://azure.microsoft.com/migration/migration-modernization-progra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95F30A4-7799-F84B-B55D-7783D2F5A317}"/>
              </a:ext>
            </a:extLst>
          </p:cNvPr>
          <p:cNvSpPr txBox="1">
            <a:spLocks noGrp="1"/>
          </p:cNvSpPr>
          <p:nvPr>
            <p:ph type="title" idx="4294967295"/>
          </p:nvPr>
        </p:nvSpPr>
        <p:spPr>
          <a:xfrm>
            <a:off x="618706" y="2476068"/>
            <a:ext cx="6740037" cy="149553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399" b="1" i="0" u="none" strike="noStrike" kern="1200" cap="none" spc="0" normalizeH="0" baseline="0" noProof="0" dirty="0">
                <a:ln>
                  <a:noFill/>
                </a:ln>
                <a:solidFill>
                  <a:schemeClr val="bg1"/>
                </a:solidFill>
                <a:effectLst/>
                <a:uLnTx/>
                <a:uFillTx/>
                <a:latin typeface="Segoe UI Semibold" panose="020B0502040204020203" pitchFamily="34" charset="0"/>
                <a:ea typeface="+mj-ea"/>
                <a:cs typeface="Segoe UI Semibold" panose="020B0502040204020203" pitchFamily="34" charset="0"/>
              </a:rPr>
              <a:t>Making the Business Case for Moving to the Cloud</a:t>
            </a:r>
          </a:p>
        </p:txBody>
      </p:sp>
      <p:pic>
        <p:nvPicPr>
          <p:cNvPr id="4" name="Picture 3" descr="Microsoft Azure logo&#10;">
            <a:extLst>
              <a:ext uri="{FF2B5EF4-FFF2-40B4-BE49-F238E27FC236}">
                <a16:creationId xmlns:a16="http://schemas.microsoft.com/office/drawing/2014/main" id="{E423BA91-0469-624E-881B-26D1E85D1D3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45798" y="607272"/>
            <a:ext cx="1964298" cy="279831"/>
          </a:xfrm>
          <a:prstGeom prst="rect">
            <a:avLst/>
          </a:prstGeom>
        </p:spPr>
      </p:pic>
      <p:sp>
        <p:nvSpPr>
          <p:cNvPr id="5" name="TextBox 4">
            <a:extLst>
              <a:ext uri="{FF2B5EF4-FFF2-40B4-BE49-F238E27FC236}">
                <a16:creationId xmlns:a16="http://schemas.microsoft.com/office/drawing/2014/main" id="{45D1E36A-F31D-384F-ABA3-C30FA1557950}"/>
              </a:ext>
              <a:ext uri="{C183D7F6-B498-43B3-948B-1728B52AA6E4}">
                <adec:decorative xmlns:adec="http://schemas.microsoft.com/office/drawing/2017/decorative" val="0"/>
              </a:ext>
            </a:extLst>
          </p:cNvPr>
          <p:cNvSpPr txBox="1"/>
          <p:nvPr/>
        </p:nvSpPr>
        <p:spPr>
          <a:xfrm>
            <a:off x="745798" y="5560572"/>
            <a:ext cx="3682763" cy="790024"/>
          </a:xfrm>
          <a:prstGeom prst="rect">
            <a:avLst/>
          </a:prstGeom>
          <a:noFill/>
        </p:spPr>
        <p:txBody>
          <a:bodyPr wrap="square" lIns="0" rtlCol="0">
            <a:spAutoFit/>
          </a:bodyPr>
          <a:lstStyle/>
          <a:p>
            <a:pPr defTabSz="914225">
              <a:lnSpc>
                <a:spcPct val="150000"/>
              </a:lnSpc>
              <a:defRPr/>
            </a:pPr>
            <a:r>
              <a:rPr lang="en-gb" sz="1600" dirty="0">
                <a:solidFill>
                  <a:srgbClr val="FFFFFF"/>
                </a:solidFill>
                <a:latin typeface="Segoe UI" panose="020B0502040204020203" pitchFamily="34" charset="0"/>
                <a:cs typeface="Segoe UI" panose="020B0502040204020203" pitchFamily="34" charset="0"/>
              </a:rPr>
              <a:t>[Your name here]</a:t>
            </a:r>
          </a:p>
          <a:p>
            <a:pPr defTabSz="914367">
              <a:lnSpc>
                <a:spcPct val="150000"/>
              </a:lnSpc>
              <a:defRPr/>
            </a:pPr>
            <a:r>
              <a:rPr lang="en-gb" sz="1600" dirty="0">
                <a:solidFill>
                  <a:srgbClr val="FFFFFF"/>
                </a:solidFill>
                <a:latin typeface="Segoe UI" panose="020B0502040204020203" pitchFamily="34" charset="0"/>
                <a:cs typeface="Segoe UI" panose="020B0502040204020203" pitchFamily="34" charset="0"/>
              </a:rPr>
              <a:t>[Presentation date here]</a:t>
            </a:r>
          </a:p>
        </p:txBody>
      </p:sp>
    </p:spTree>
    <p:extLst>
      <p:ext uri="{BB962C8B-B14F-4D97-AF65-F5344CB8AC3E}">
        <p14:creationId xmlns:p14="http://schemas.microsoft.com/office/powerpoint/2010/main" val="1581654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F0F477-ACC4-CF42-A4EA-49ED988705E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9279" y="1960512"/>
            <a:ext cx="2057109" cy="1765050"/>
          </a:xfrm>
          <a:prstGeom prst="rect">
            <a:avLst/>
          </a:prstGeom>
        </p:spPr>
      </p:pic>
      <p:sp>
        <p:nvSpPr>
          <p:cNvPr id="3" name="Title 3">
            <a:extLst>
              <a:ext uri="{FF2B5EF4-FFF2-40B4-BE49-F238E27FC236}">
                <a16:creationId xmlns:a16="http://schemas.microsoft.com/office/drawing/2014/main" id="{907A74F6-A1CD-4C47-85D9-CBE9B2D33741}"/>
              </a:ext>
            </a:extLst>
          </p:cNvPr>
          <p:cNvSpPr txBox="1">
            <a:spLocks noGrp="1"/>
          </p:cNvSpPr>
          <p:nvPr>
            <p:ph type="title" idx="4294967295"/>
          </p:nvPr>
        </p:nvSpPr>
        <p:spPr>
          <a:xfrm>
            <a:off x="618706" y="3364799"/>
            <a:ext cx="1986246" cy="49852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1" i="0" u="none" strike="noStrike" kern="1200" cap="none" spc="0" normalizeH="0" baseline="0" noProof="0" dirty="0">
                <a:ln>
                  <a:noFill/>
                </a:ln>
                <a:solidFill>
                  <a:srgbClr val="0078D4"/>
                </a:solidFill>
                <a:effectLst/>
                <a:uLnTx/>
                <a:uFillTx/>
                <a:latin typeface="Segoe UI Semibold" panose="020B0502040204020203" pitchFamily="34" charset="0"/>
                <a:ea typeface="+mj-ea"/>
                <a:cs typeface="Segoe UI Semibold" panose="020B0502040204020203" pitchFamily="34" charset="0"/>
              </a:rPr>
              <a:t>Topics</a:t>
            </a:r>
          </a:p>
        </p:txBody>
      </p:sp>
      <p:sp>
        <p:nvSpPr>
          <p:cNvPr id="12" name="TextBox 11">
            <a:extLst>
              <a:ext uri="{FF2B5EF4-FFF2-40B4-BE49-F238E27FC236}">
                <a16:creationId xmlns:a16="http://schemas.microsoft.com/office/drawing/2014/main" id="{FDF4014A-D9D9-FE40-BCF2-E72EF53EF1C7}"/>
              </a:ext>
            </a:extLst>
          </p:cNvPr>
          <p:cNvSpPr txBox="1"/>
          <p:nvPr/>
        </p:nvSpPr>
        <p:spPr>
          <a:xfrm>
            <a:off x="4564448" y="1034829"/>
            <a:ext cx="3579635" cy="259045"/>
          </a:xfrm>
          <a:prstGeom prst="rect">
            <a:avLst/>
          </a:prstGeom>
          <a:noFill/>
        </p:spPr>
        <p:txBody>
          <a:bodyPr wrap="square">
            <a:spAutoFit/>
          </a:bodyPr>
          <a:lstStyle/>
          <a:p>
            <a:pPr defTabSz="896386">
              <a:lnSpc>
                <a:spcPts val="1330"/>
              </a:lnSpc>
            </a:pPr>
            <a:r>
              <a:rPr lang="en-gb" sz="1400" b="1" spc="0" dirty="0">
                <a:solidFill>
                  <a:srgbClr val="0078D4"/>
                </a:solidFill>
                <a:latin typeface="Segoe UI Semibold" panose="020B0502040204020203" pitchFamily="34" charset="0"/>
                <a:cs typeface="Segoe UI Semibold" panose="020B0502040204020203" pitchFamily="34" charset="0"/>
                <a:hlinkClick r:id="rId4" action="ppaction://hlinksldjump">
                  <a:extLst>
                    <a:ext uri="{A12FA001-AC4F-418D-AE19-62706E023703}">
                      <ahyp:hlinkClr xmlns:ahyp="http://schemas.microsoft.com/office/drawing/2018/hyperlinkcolor" val="tx"/>
                    </a:ext>
                  </a:extLst>
                </a:hlinkClick>
              </a:rPr>
              <a:t>Why companies are moving to the cloud</a:t>
            </a:r>
            <a:endParaRPr lang="en-US" sz="1400" b="1" spc="0" dirty="0">
              <a:solidFill>
                <a:srgbClr val="0078D4"/>
              </a:solidFill>
              <a:latin typeface="Segoe UI Semibold" panose="020B0502040204020203" pitchFamily="34" charset="0"/>
              <a:cs typeface="Segoe UI Semibold" panose="020B0502040204020203" pitchFamily="34" charset="0"/>
            </a:endParaRPr>
          </a:p>
        </p:txBody>
      </p:sp>
      <p:sp>
        <p:nvSpPr>
          <p:cNvPr id="4" name="Title 3">
            <a:extLst>
              <a:ext uri="{FF2B5EF4-FFF2-40B4-BE49-F238E27FC236}">
                <a16:creationId xmlns:a16="http://schemas.microsoft.com/office/drawing/2014/main" id="{F81A5751-78AD-914A-B56E-69D37753B8D7}"/>
              </a:ext>
            </a:extLst>
          </p:cNvPr>
          <p:cNvSpPr txBox="1">
            <a:spLocks/>
          </p:cNvSpPr>
          <p:nvPr/>
        </p:nvSpPr>
        <p:spPr>
          <a:xfrm>
            <a:off x="4391837" y="1351716"/>
            <a:ext cx="3207570" cy="5184496"/>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3600" kern="1200" spc="-50" baseline="0">
                <a:gradFill>
                  <a:gsLst>
                    <a:gs pos="62564">
                      <a:schemeClr val="tx1"/>
                    </a:gs>
                    <a:gs pos="55000">
                      <a:schemeClr val="tx1"/>
                    </a:gs>
                  </a:gsLst>
                  <a:lin ang="5400000" scaled="0"/>
                </a:gradFill>
                <a:latin typeface="+mj-lt"/>
                <a:ea typeface="+mj-ea"/>
                <a:cs typeface="Segoe UI" panose="020B0502040204020203" pitchFamily="34" charset="0"/>
              </a:defRPr>
            </a:lvl1pPr>
          </a:lstStyle>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5" action="ppaction://hlinksldjump">
                  <a:extLst>
                    <a:ext uri="{A12FA001-AC4F-418D-AE19-62706E023703}">
                      <ahyp:hlinkClr xmlns:ahyp="http://schemas.microsoft.com/office/drawing/2018/hyperlinkcolor" val="tx"/>
                    </a:ext>
                  </a:extLst>
                </a:hlinkClick>
              </a:rPr>
              <a:t>Enterprises are accelerating digital transformation</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6" action="ppaction://hlinksldjump">
                  <a:extLst>
                    <a:ext uri="{A12FA001-AC4F-418D-AE19-62706E023703}">
                      <ahyp:hlinkClr xmlns:ahyp="http://schemas.microsoft.com/office/drawing/2018/hyperlinkcolor" val="tx"/>
                    </a:ext>
                  </a:extLst>
                </a:hlinkClick>
              </a:rPr>
              <a:t>The next era of business is here </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7" action="ppaction://hlinksldjump">
                  <a:extLst>
                    <a:ext uri="{A12FA001-AC4F-418D-AE19-62706E023703}">
                      <ahyp:hlinkClr xmlns:ahyp="http://schemas.microsoft.com/office/drawing/2018/hyperlinkcolor" val="tx"/>
                    </a:ext>
                  </a:extLst>
                </a:hlinkClick>
              </a:rPr>
              <a:t>Why move now?</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8" action="ppaction://hlinksldjump">
                  <a:extLst>
                    <a:ext uri="{A12FA001-AC4F-418D-AE19-62706E023703}">
                      <ahyp:hlinkClr xmlns:ahyp="http://schemas.microsoft.com/office/drawing/2018/hyperlinkcolor" val="tx"/>
                    </a:ext>
                  </a:extLst>
                </a:hlinkClick>
              </a:rPr>
              <a:t>Moving from CAPEX to OPEX?</a:t>
            </a:r>
            <a:endParaRPr lang="en-US" sz="1200" spc="0" dirty="0">
              <a:solidFill>
                <a:schemeClr val="tx1"/>
              </a:solidFill>
              <a:latin typeface="Segoe UI" panose="020B0502040204020203" pitchFamily="34" charset="0"/>
            </a:endParaRPr>
          </a:p>
          <a:p>
            <a:pPr marL="228600" defTabSz="896386">
              <a:lnSpc>
                <a:spcPts val="1330"/>
              </a:lnSpc>
              <a:buSzPct val="75000"/>
            </a:pPr>
            <a:endParaRPr lang="en-US" sz="1200" spc="0" dirty="0">
              <a:solidFill>
                <a:schemeClr val="tx1"/>
              </a:solidFill>
              <a:latin typeface="Segoe UI" panose="020B0502040204020203" pitchFamily="34" charset="0"/>
            </a:endParaRPr>
          </a:p>
          <a:p>
            <a:pPr defTabSz="896386">
              <a:lnSpc>
                <a:spcPts val="1330"/>
              </a:lnSpc>
            </a:pPr>
            <a:endParaRPr lang="en-US" sz="1200" spc="0" dirty="0">
              <a:solidFill>
                <a:schemeClr val="tx1"/>
              </a:solidFill>
              <a:latin typeface="Segoe UI" panose="020B0502040204020203" pitchFamily="34" charset="0"/>
            </a:endParaRPr>
          </a:p>
          <a:p>
            <a:pPr defTabSz="896386">
              <a:lnSpc>
                <a:spcPts val="1330"/>
              </a:lnSpc>
            </a:pPr>
            <a:endParaRPr lang="en-US" sz="1200" spc="0" dirty="0">
              <a:solidFill>
                <a:schemeClr val="tx1"/>
              </a:solidFill>
              <a:latin typeface="Segoe UI" panose="020B0502040204020203" pitchFamily="34" charset="0"/>
            </a:endParaRPr>
          </a:p>
          <a:p>
            <a:pPr defTabSz="896386">
              <a:lnSpc>
                <a:spcPts val="1330"/>
              </a:lnSpc>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gb" sz="1200" spc="0" dirty="0">
              <a:solidFill>
                <a:schemeClr val="tx1"/>
              </a:solidFill>
              <a:latin typeface="Segoe UI" panose="020B0502040204020203" pitchFamily="34" charset="0"/>
              <a:hlinkClick r:id="rId9" action="ppaction://hlinksldjump">
                <a:extLst>
                  <a:ext uri="{A12FA001-AC4F-418D-AE19-62706E023703}">
                    <ahyp:hlinkClr xmlns:ahyp="http://schemas.microsoft.com/office/drawing/2018/hyperlinkcolor" val="tx"/>
                  </a:ext>
                </a:extLst>
              </a:hlinkClick>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9" action="ppaction://hlinksldjump">
                  <a:extLst>
                    <a:ext uri="{A12FA001-AC4F-418D-AE19-62706E023703}">
                      <ahyp:hlinkClr xmlns:ahyp="http://schemas.microsoft.com/office/drawing/2018/hyperlinkcolor" val="tx"/>
                    </a:ext>
                  </a:extLst>
                </a:hlinkClick>
              </a:rPr>
              <a:t>Understanding cloud services </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0" action="ppaction://hlinksldjump">
                  <a:extLst>
                    <a:ext uri="{A12FA001-AC4F-418D-AE19-62706E023703}">
                      <ahyp:hlinkClr xmlns:ahyp="http://schemas.microsoft.com/office/drawing/2018/hyperlinkcolor" val="tx"/>
                    </a:ext>
                  </a:extLst>
                </a:hlinkClick>
              </a:rPr>
              <a:t>Understanding migration and modernisation</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1" action="ppaction://hlinksldjump">
                  <a:extLst>
                    <a:ext uri="{A12FA001-AC4F-418D-AE19-62706E023703}">
                      <ahyp:hlinkClr xmlns:ahyp="http://schemas.microsoft.com/office/drawing/2018/hyperlinkcolor" val="tx"/>
                    </a:ext>
                  </a:extLst>
                </a:hlinkClick>
              </a:rPr>
              <a:t>Common migration and modernisation projects</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2" action="ppaction://hlinksldjump">
                  <a:extLst>
                    <a:ext uri="{A12FA001-AC4F-418D-AE19-62706E023703}">
                      <ahyp:hlinkClr xmlns:ahyp="http://schemas.microsoft.com/office/drawing/2018/hyperlinkcolor" val="tx"/>
                    </a:ext>
                  </a:extLst>
                </a:hlinkClick>
              </a:rPr>
              <a:t>Prioritising cloud migration and modernisation</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3" action="ppaction://hlinksldjump">
                  <a:extLst>
                    <a:ext uri="{A12FA001-AC4F-418D-AE19-62706E023703}">
                      <ahyp:hlinkClr xmlns:ahyp="http://schemas.microsoft.com/office/drawing/2018/hyperlinkcolor" val="tx"/>
                    </a:ext>
                  </a:extLst>
                </a:hlinkClick>
              </a:rPr>
              <a:t>Migration and modernisation approaches</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4" action="ppaction://hlinksldjump">
                  <a:extLst>
                    <a:ext uri="{A12FA001-AC4F-418D-AE19-62706E023703}">
                      <ahyp:hlinkClr xmlns:ahyp="http://schemas.microsoft.com/office/drawing/2018/hyperlinkcolor" val="tx"/>
                    </a:ext>
                  </a:extLst>
                </a:hlinkClick>
              </a:rPr>
              <a:t>Steps for migrating and modernising to the cloud</a:t>
            </a:r>
            <a:endParaRPr lang="en-US" sz="1200" spc="0" dirty="0">
              <a:solidFill>
                <a:schemeClr val="tx1"/>
              </a:solidFill>
              <a:latin typeface="Segoe UI" panose="020B0502040204020203" pitchFamily="34" charset="0"/>
            </a:endParaRPr>
          </a:p>
          <a:p>
            <a:pPr defTabSz="896386">
              <a:lnSpc>
                <a:spcPts val="1330"/>
              </a:lnSpc>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defTabSz="896386">
              <a:lnSpc>
                <a:spcPts val="1330"/>
              </a:lnSpc>
            </a:pPr>
            <a:endParaRPr lang="en-US" sz="2000" spc="0" dirty="0">
              <a:solidFill>
                <a:schemeClr val="tx1"/>
              </a:solidFill>
              <a:latin typeface="Segoe UI" panose="020B0502040204020203" pitchFamily="34" charset="0"/>
            </a:endParaRPr>
          </a:p>
        </p:txBody>
      </p:sp>
      <p:sp>
        <p:nvSpPr>
          <p:cNvPr id="14" name="TextBox 13">
            <a:extLst>
              <a:ext uri="{FF2B5EF4-FFF2-40B4-BE49-F238E27FC236}">
                <a16:creationId xmlns:a16="http://schemas.microsoft.com/office/drawing/2014/main" id="{8482E0D2-B5F6-1542-9722-339CF3EC9A16}"/>
              </a:ext>
            </a:extLst>
          </p:cNvPr>
          <p:cNvSpPr txBox="1"/>
          <p:nvPr/>
        </p:nvSpPr>
        <p:spPr>
          <a:xfrm>
            <a:off x="4530027" y="3001176"/>
            <a:ext cx="3866880" cy="307777"/>
          </a:xfrm>
          <a:prstGeom prst="rect">
            <a:avLst/>
          </a:prstGeom>
          <a:noFill/>
        </p:spPr>
        <p:txBody>
          <a:bodyPr wrap="square">
            <a:spAutoFit/>
          </a:bodyPr>
          <a:lstStyle/>
          <a:p>
            <a:r>
              <a:rPr lang="en-gb" sz="1400" b="1" spc="0" dirty="0">
                <a:solidFill>
                  <a:srgbClr val="0078D4"/>
                </a:solidFill>
                <a:latin typeface="Segoe UI Semibold" panose="020B0502040204020203" pitchFamily="34" charset="0"/>
                <a:cs typeface="Segoe UI Semibold" panose="020B0502040204020203" pitchFamily="34" charset="0"/>
                <a:hlinkClick r:id="rId15" action="ppaction://hlinksldjump">
                  <a:extLst>
                    <a:ext uri="{A12FA001-AC4F-418D-AE19-62706E023703}">
                      <ahyp:hlinkClr xmlns:ahyp="http://schemas.microsoft.com/office/drawing/2018/hyperlinkcolor" val="tx"/>
                    </a:ext>
                  </a:extLst>
                </a:hlinkClick>
              </a:rPr>
              <a:t>Cloud migration and modernisation concepts </a:t>
            </a:r>
            <a:endParaRPr lang="en-US" sz="1400" dirty="0"/>
          </a:p>
        </p:txBody>
      </p:sp>
      <p:sp>
        <p:nvSpPr>
          <p:cNvPr id="5" name="Title 3">
            <a:extLst>
              <a:ext uri="{FF2B5EF4-FFF2-40B4-BE49-F238E27FC236}">
                <a16:creationId xmlns:a16="http://schemas.microsoft.com/office/drawing/2014/main" id="{533907CE-1108-B14E-813C-AD6F32B98888}"/>
              </a:ext>
            </a:extLst>
          </p:cNvPr>
          <p:cNvSpPr txBox="1">
            <a:spLocks/>
          </p:cNvSpPr>
          <p:nvPr/>
        </p:nvSpPr>
        <p:spPr>
          <a:xfrm>
            <a:off x="8396907" y="881806"/>
            <a:ext cx="3436157" cy="4598695"/>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3600" kern="1200" spc="-50" baseline="0">
                <a:gradFill>
                  <a:gsLst>
                    <a:gs pos="62564">
                      <a:schemeClr val="tx1"/>
                    </a:gs>
                    <a:gs pos="55000">
                      <a:schemeClr val="tx1"/>
                    </a:gs>
                  </a:gsLst>
                  <a:lin ang="5400000" scaled="0"/>
                </a:gradFill>
                <a:latin typeface="+mj-lt"/>
                <a:ea typeface="+mj-ea"/>
                <a:cs typeface="Segoe UI" panose="020B0502040204020203" pitchFamily="34" charset="0"/>
              </a:defRPr>
            </a:lvl1pPr>
          </a:lstStyle>
          <a:p>
            <a:pPr defTabSz="896386">
              <a:lnSpc>
                <a:spcPts val="1330"/>
              </a:lnSpc>
            </a:pPr>
            <a:endParaRPr lang="en-US" sz="1200" spc="0" dirty="0">
              <a:solidFill>
                <a:schemeClr val="tx1"/>
              </a:solidFill>
              <a:latin typeface="Segoe UI" panose="020B0502040204020203" pitchFamily="34" charset="0"/>
            </a:endParaRPr>
          </a:p>
          <a:p>
            <a:pPr marL="228600" defTabSz="896386">
              <a:lnSpc>
                <a:spcPts val="1330"/>
              </a:lnSpc>
              <a:buSzPct val="75000"/>
            </a:pPr>
            <a:r>
              <a:rPr lang="en-gb" sz="1400" b="1" spc="0" dirty="0">
                <a:solidFill>
                  <a:srgbClr val="0078D4"/>
                </a:solidFill>
                <a:latin typeface="Segoe UI Semibold" panose="020B0502040204020203" pitchFamily="34" charset="0"/>
                <a:cs typeface="Segoe UI Semibold" panose="020B0502040204020203" pitchFamily="34" charset="0"/>
                <a:hlinkClick r:id="rId16" action="ppaction://hlinksldjump">
                  <a:extLst>
                    <a:ext uri="{A12FA001-AC4F-418D-AE19-62706E023703}">
                      <ahyp:hlinkClr xmlns:ahyp="http://schemas.microsoft.com/office/drawing/2018/hyperlinkcolor" val="tx"/>
                    </a:ext>
                  </a:extLst>
                </a:hlinkClick>
              </a:rPr>
              <a:t>Why migrate and modernise to Azure?</a:t>
            </a:r>
            <a:endParaRPr lang="en-US" sz="1400" b="1" spc="0" dirty="0">
              <a:solidFill>
                <a:srgbClr val="0078D4"/>
              </a:solidFill>
              <a:latin typeface="Segoe UI Semibold" panose="020B0502040204020203" pitchFamily="34" charset="0"/>
              <a:cs typeface="Segoe UI Semibold"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7" action="ppaction://hlinksldjump">
                  <a:extLst>
                    <a:ext uri="{A12FA001-AC4F-418D-AE19-62706E023703}">
                      <ahyp:hlinkClr xmlns:ahyp="http://schemas.microsoft.com/office/drawing/2018/hyperlinkcolor" val="tx"/>
                    </a:ext>
                  </a:extLst>
                </a:hlinkClick>
              </a:rPr>
              <a:t>Future-proof your business with Azure</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18" action="ppaction://hlinksldjump">
                  <a:extLst>
                    <a:ext uri="{A12FA001-AC4F-418D-AE19-62706E023703}">
                      <ahyp:hlinkClr xmlns:ahyp="http://schemas.microsoft.com/office/drawing/2018/hyperlinkcolor" val="tx"/>
                    </a:ext>
                  </a:extLst>
                </a:hlinkClick>
              </a:rPr>
              <a:t>Navigate complex IT environments</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US" sz="1200" spc="0" dirty="0">
                <a:solidFill>
                  <a:schemeClr val="tx1"/>
                </a:solidFill>
                <a:latin typeface="Segoe UI" panose="020B0502040204020203" pitchFamily="34" charset="0"/>
                <a:hlinkClick r:id="rId19" action="ppaction://hlinksldjump">
                  <a:extLst>
                    <a:ext uri="{A12FA001-AC4F-418D-AE19-62706E023703}">
                      <ahyp:hlinkClr xmlns:ahyp="http://schemas.microsoft.com/office/drawing/2018/hyperlinkcolor" val="tx"/>
                    </a:ext>
                  </a:extLst>
                </a:hlinkClick>
              </a:rPr>
              <a:t>Manage complex IT environments seamlessly as you move</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228600" defTabSz="896386">
              <a:lnSpc>
                <a:spcPct val="100000"/>
              </a:lnSpc>
              <a:buSzPct val="75000"/>
            </a:pPr>
            <a:r>
              <a:rPr lang="en-gb" sz="1400" b="1" spc="0" dirty="0">
                <a:solidFill>
                  <a:srgbClr val="0078D4"/>
                </a:solidFill>
                <a:latin typeface="Segoe UI Semibold" panose="020B0502040204020203" pitchFamily="34" charset="0"/>
                <a:cs typeface="Segoe UI Semibold" panose="020B0502040204020203" pitchFamily="34" charset="0"/>
                <a:hlinkClick r:id="rId20" action="ppaction://hlinksldjump">
                  <a:extLst>
                    <a:ext uri="{A12FA001-AC4F-418D-AE19-62706E023703}">
                      <ahyp:hlinkClr xmlns:ahyp="http://schemas.microsoft.com/office/drawing/2018/hyperlinkcolor" val="tx"/>
                    </a:ext>
                  </a:extLst>
                </a:hlinkClick>
              </a:rPr>
              <a:t>Security, compliance, management and operational benefits</a:t>
            </a:r>
            <a:endParaRPr lang="en-US" sz="1400" b="1" spc="0" dirty="0">
              <a:solidFill>
                <a:srgbClr val="0078D4"/>
              </a:solidFill>
              <a:latin typeface="Segoe UI Semibold" panose="020B0502040204020203" pitchFamily="34" charset="0"/>
              <a:cs typeface="Segoe UI Semibold"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21" action="ppaction://hlinksldjump">
                  <a:extLst>
                    <a:ext uri="{A12FA001-AC4F-418D-AE19-62706E023703}">
                      <ahyp:hlinkClr xmlns:ahyp="http://schemas.microsoft.com/office/drawing/2018/hyperlinkcolor" val="tx"/>
                    </a:ext>
                  </a:extLst>
                </a:hlinkClick>
              </a:rPr>
              <a:t>Security benefits</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22" action="ppaction://hlinksldjump">
                  <a:extLst>
                    <a:ext uri="{A12FA001-AC4F-418D-AE19-62706E023703}">
                      <ahyp:hlinkClr xmlns:ahyp="http://schemas.microsoft.com/office/drawing/2018/hyperlinkcolor" val="tx"/>
                    </a:ext>
                  </a:extLst>
                </a:hlinkClick>
              </a:rPr>
              <a:t>Compliance and management benefits </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23" action="ppaction://hlinksldjump">
                  <a:extLst>
                    <a:ext uri="{A12FA001-AC4F-418D-AE19-62706E023703}">
                      <ahyp:hlinkClr xmlns:ahyp="http://schemas.microsoft.com/office/drawing/2018/hyperlinkcolor" val="tx"/>
                    </a:ext>
                  </a:extLst>
                </a:hlinkClick>
              </a:rPr>
              <a:t>Operational benefits </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228600" defTabSz="896386">
              <a:lnSpc>
                <a:spcPts val="1330"/>
              </a:lnSpc>
              <a:buSzPct val="75000"/>
            </a:pPr>
            <a:r>
              <a:rPr lang="en-gb" sz="1400" b="1" spc="0" dirty="0">
                <a:solidFill>
                  <a:srgbClr val="0078D4"/>
                </a:solidFill>
                <a:latin typeface="Segoe UI Semibold" panose="020B0502040204020203" pitchFamily="34" charset="0"/>
                <a:cs typeface="Segoe UI Semibold" panose="020B0502040204020203" pitchFamily="34" charset="0"/>
                <a:hlinkClick r:id="rId24" action="ppaction://hlinksldjump">
                  <a:extLst>
                    <a:ext uri="{A12FA001-AC4F-418D-AE19-62706E023703}">
                      <ahyp:hlinkClr xmlns:ahyp="http://schemas.microsoft.com/office/drawing/2018/hyperlinkcolor" val="tx"/>
                    </a:ext>
                  </a:extLst>
                </a:hlinkClick>
              </a:rPr>
              <a:t>Find additional support and resources</a:t>
            </a:r>
            <a:endParaRPr lang="en-US" sz="1400" b="1" spc="0" dirty="0">
              <a:solidFill>
                <a:srgbClr val="0078D4"/>
              </a:solidFill>
              <a:latin typeface="Segoe UI Semibold" panose="020B0502040204020203" pitchFamily="34" charset="0"/>
              <a:cs typeface="Segoe UI Semibold"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25" action="ppaction://hlinksldjump">
                  <a:extLst>
                    <a:ext uri="{A12FA001-AC4F-418D-AE19-62706E023703}">
                      <ahyp:hlinkClr xmlns:ahyp="http://schemas.microsoft.com/office/drawing/2018/hyperlinkcolor" val="tx"/>
                    </a:ext>
                  </a:extLst>
                </a:hlinkClick>
              </a:rPr>
              <a:t>Readiness</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r>
              <a:rPr lang="en-gb" sz="1200" spc="0" dirty="0">
                <a:solidFill>
                  <a:schemeClr val="tx1"/>
                </a:solidFill>
                <a:latin typeface="Segoe UI" panose="020B0502040204020203" pitchFamily="34" charset="0"/>
                <a:hlinkClick r:id="rId26" action="ppaction://hlinksldjump">
                  <a:extLst>
                    <a:ext uri="{A12FA001-AC4F-418D-AE19-62706E023703}">
                      <ahyp:hlinkClr xmlns:ahyp="http://schemas.microsoft.com/office/drawing/2018/hyperlinkcolor" val="tx"/>
                    </a:ext>
                  </a:extLst>
                </a:hlinkClick>
              </a:rPr>
              <a:t>Move forward with confidence</a:t>
            </a:r>
            <a:endParaRPr lang="en-US" sz="1200" spc="0" dirty="0">
              <a:solidFill>
                <a:schemeClr val="tx1"/>
              </a:solidFill>
              <a:latin typeface="Segoe UI" panose="020B0502040204020203" pitchFamily="34" charset="0"/>
            </a:endParaRPr>
          </a:p>
          <a:p>
            <a:pPr marL="393700" indent="-165100" defTabSz="896386">
              <a:lnSpc>
                <a:spcPts val="1330"/>
              </a:lnSpc>
              <a:buSzPct val="75000"/>
              <a:buFont typeface="Arial" panose="020B0604020202020204" pitchFamily="34" charset="0"/>
              <a:buChar char="•"/>
            </a:pPr>
            <a:endParaRPr lang="en-US" sz="1200" spc="0" dirty="0">
              <a:solidFill>
                <a:schemeClr val="tx1"/>
              </a:solidFill>
              <a:latin typeface="Segoe UI" panose="020B0502040204020203" pitchFamily="34" charset="0"/>
            </a:endParaRPr>
          </a:p>
        </p:txBody>
      </p:sp>
    </p:spTree>
    <p:extLst>
      <p:ext uri="{BB962C8B-B14F-4D97-AF65-F5344CB8AC3E}">
        <p14:creationId xmlns:p14="http://schemas.microsoft.com/office/powerpoint/2010/main" val="2795579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14C6-DFB8-224A-B3CC-23B253840EDD}"/>
              </a:ext>
            </a:extLst>
          </p:cNvPr>
          <p:cNvSpPr txBox="1">
            <a:spLocks noGrp="1"/>
          </p:cNvSpPr>
          <p:nvPr>
            <p:ph type="title" idx="4294967295"/>
          </p:nvPr>
        </p:nvSpPr>
        <p:spPr>
          <a:xfrm>
            <a:off x="618706" y="1981539"/>
            <a:ext cx="6173979" cy="22433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rPr>
              <a:t>Why companies are moving to the cloud</a:t>
            </a:r>
            <a:endParaRPr kumimoji="0" lang="en-US" sz="20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endParaRPr>
          </a:p>
        </p:txBody>
      </p:sp>
    </p:spTree>
    <p:extLst>
      <p:ext uri="{BB962C8B-B14F-4D97-AF65-F5344CB8AC3E}">
        <p14:creationId xmlns:p14="http://schemas.microsoft.com/office/powerpoint/2010/main" val="13022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2469BCF0-4C69-4441-B650-DC22BC336F10}"/>
              </a:ext>
            </a:extLst>
          </p:cNvPr>
          <p:cNvSpPr>
            <a:spLocks noGrp="1"/>
          </p:cNvSpPr>
          <p:nvPr>
            <p:ph type="title" idx="4294967295"/>
          </p:nvPr>
        </p:nvSpPr>
        <p:spPr>
          <a:xfrm>
            <a:off x="618706" y="308750"/>
            <a:ext cx="7923141"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Enterprises are accelerating digital transformation</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3">
            <a:extLst>
              <a:ext uri="{FF2B5EF4-FFF2-40B4-BE49-F238E27FC236}">
                <a16:creationId xmlns:a16="http://schemas.microsoft.com/office/drawing/2014/main" id="{D036C1F1-44DB-EA4C-93FD-0FDFED5E8EFA}"/>
              </a:ext>
            </a:extLst>
          </p:cNvPr>
          <p:cNvSpPr>
            <a:spLocks noGrp="1"/>
          </p:cNvSpPr>
          <p:nvPr/>
        </p:nvSpPr>
        <p:spPr>
          <a:xfrm>
            <a:off x="1393960" y="2598004"/>
            <a:ext cx="3205312" cy="166199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797999" fontAlgn="base">
              <a:lnSpc>
                <a:spcPct val="90000"/>
              </a:lnSpc>
              <a:spcBef>
                <a:spcPct val="0"/>
              </a:spcBef>
              <a:spcAft>
                <a:spcPct val="0"/>
              </a:spcAft>
              <a:buNone/>
              <a:tabLst>
                <a:tab pos="920876" algn="l"/>
              </a:tabLst>
              <a:defRPr/>
            </a:pPr>
            <a:r>
              <a:rPr lang="en-gb" sz="12000" spc="-50" dirty="0">
                <a:ln w="3175">
                  <a:noFill/>
                </a:ln>
                <a:solidFill>
                  <a:srgbClr val="0078D4"/>
                </a:solidFill>
                <a:latin typeface="Segoe UI Semibold"/>
                <a:cs typeface="+mn-cs"/>
              </a:rPr>
              <a:t>50%</a:t>
            </a:r>
            <a:endParaRPr lang="en-IN" sz="12000" dirty="0">
              <a:solidFill>
                <a:srgbClr val="0078D4"/>
              </a:solidFill>
              <a:latin typeface="Segoe UI" panose="020B0502040204020203" pitchFamily="34" charset="0"/>
            </a:endParaRPr>
          </a:p>
        </p:txBody>
      </p:sp>
      <p:sp>
        <p:nvSpPr>
          <p:cNvPr id="4" name="Content Placeholder 4">
            <a:extLst>
              <a:ext uri="{FF2B5EF4-FFF2-40B4-BE49-F238E27FC236}">
                <a16:creationId xmlns:a16="http://schemas.microsoft.com/office/drawing/2014/main" id="{DD340255-D5D1-214D-8DF5-2F6B0664AE98}"/>
              </a:ext>
            </a:extLst>
          </p:cNvPr>
          <p:cNvSpPr>
            <a:spLocks noGrp="1"/>
          </p:cNvSpPr>
          <p:nvPr/>
        </p:nvSpPr>
        <p:spPr>
          <a:xfrm>
            <a:off x="1500360" y="4299970"/>
            <a:ext cx="2896276" cy="8617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of organisations report that their workloads and data are in the public cloud, and they expect that number to increase in the coming year</a:t>
            </a:r>
          </a:p>
        </p:txBody>
      </p:sp>
      <p:sp>
        <p:nvSpPr>
          <p:cNvPr id="5" name="Content Placeholder 5">
            <a:extLst>
              <a:ext uri="{FF2B5EF4-FFF2-40B4-BE49-F238E27FC236}">
                <a16:creationId xmlns:a16="http://schemas.microsoft.com/office/drawing/2014/main" id="{7D4AD55B-25F5-2B43-B995-523CD6B051F7}"/>
              </a:ext>
            </a:extLst>
          </p:cNvPr>
          <p:cNvSpPr>
            <a:spLocks noGrp="1"/>
          </p:cNvSpPr>
          <p:nvPr/>
        </p:nvSpPr>
        <p:spPr>
          <a:xfrm>
            <a:off x="7401544" y="2598003"/>
            <a:ext cx="3396496" cy="166199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797999" fontAlgn="base">
              <a:lnSpc>
                <a:spcPct val="90000"/>
              </a:lnSpc>
              <a:spcBef>
                <a:spcPct val="0"/>
              </a:spcBef>
              <a:spcAft>
                <a:spcPct val="0"/>
              </a:spcAft>
              <a:buNone/>
              <a:tabLst>
                <a:tab pos="920876" algn="l"/>
              </a:tabLst>
              <a:defRPr/>
            </a:pPr>
            <a:r>
              <a:rPr lang="en-gb" sz="12000" spc="-50" dirty="0">
                <a:ln w="3175">
                  <a:noFill/>
                </a:ln>
                <a:solidFill>
                  <a:srgbClr val="0078D4"/>
                </a:solidFill>
                <a:latin typeface="Segoe UI Semibold"/>
                <a:cs typeface="+mn-cs"/>
              </a:rPr>
              <a:t>66%</a:t>
            </a:r>
          </a:p>
        </p:txBody>
      </p:sp>
      <p:sp>
        <p:nvSpPr>
          <p:cNvPr id="6" name="Content Placeholder 6">
            <a:extLst>
              <a:ext uri="{FF2B5EF4-FFF2-40B4-BE49-F238E27FC236}">
                <a16:creationId xmlns:a16="http://schemas.microsoft.com/office/drawing/2014/main" id="{9B494642-34C3-F04C-8F0A-67FB647E8855}"/>
              </a:ext>
            </a:extLst>
          </p:cNvPr>
          <p:cNvSpPr>
            <a:spLocks noGrp="1"/>
          </p:cNvSpPr>
          <p:nvPr/>
        </p:nvSpPr>
        <p:spPr>
          <a:xfrm>
            <a:off x="7608013" y="4299969"/>
            <a:ext cx="2367906" cy="8617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of surveyed organisations reported that their actual cloud usage in the past year has been higher than planned</a:t>
            </a:r>
          </a:p>
        </p:txBody>
      </p:sp>
      <p:sp>
        <p:nvSpPr>
          <p:cNvPr id="9" name="Content Placeholder 4">
            <a:extLst>
              <a:ext uri="{FF2B5EF4-FFF2-40B4-BE49-F238E27FC236}">
                <a16:creationId xmlns:a16="http://schemas.microsoft.com/office/drawing/2014/main" id="{5C0B6495-B06D-3E40-A3A5-6271A883AC57}"/>
              </a:ext>
            </a:extLst>
          </p:cNvPr>
          <p:cNvSpPr>
            <a:spLocks noGrp="1"/>
          </p:cNvSpPr>
          <p:nvPr/>
        </p:nvSpPr>
        <p:spPr>
          <a:xfrm>
            <a:off x="618707" y="5891110"/>
            <a:ext cx="11102238"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Discover more resources to help build your cloud business case </a:t>
            </a:r>
            <a:r>
              <a:rPr lang="en-gb" sz="1600" dirty="0">
                <a:latin typeface="Segoe UI" panose="020B0502040204020203" pitchFamily="34" charset="0"/>
                <a:hlinkClick r:id="rId4"/>
              </a:rPr>
              <a:t>here </a:t>
            </a:r>
            <a:endParaRPr lang="en-GB" sz="1600" dirty="0">
              <a:latin typeface="Segoe UI" panose="020B0502040204020203" pitchFamily="34" charset="0"/>
            </a:endParaRPr>
          </a:p>
        </p:txBody>
      </p:sp>
      <p:sp>
        <p:nvSpPr>
          <p:cNvPr id="7" name="Content Placeholder 7">
            <a:extLst>
              <a:ext uri="{FF2B5EF4-FFF2-40B4-BE49-F238E27FC236}">
                <a16:creationId xmlns:a16="http://schemas.microsoft.com/office/drawing/2014/main" id="{77D64953-5718-0146-8F3B-238B3C819986}"/>
              </a:ext>
            </a:extLst>
          </p:cNvPr>
          <p:cNvSpPr>
            <a:spLocks noGrp="1"/>
          </p:cNvSpPr>
          <p:nvPr/>
        </p:nvSpPr>
        <p:spPr>
          <a:xfrm>
            <a:off x="618706" y="6549250"/>
            <a:ext cx="6989307" cy="12311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367">
              <a:spcBef>
                <a:spcPts val="0"/>
              </a:spcBef>
              <a:buSzTx/>
              <a:buNone/>
            </a:pPr>
            <a:r>
              <a:rPr lang="en-gb" sz="800" dirty="0">
                <a:latin typeface="Segoe UI" panose="020B0502040204020203" pitchFamily="34" charset="0"/>
                <a:cs typeface="+mn-cs"/>
              </a:rPr>
              <a:t>Flexera 2022: </a:t>
            </a:r>
            <a:r>
              <a:rPr lang="en-gb" sz="800" dirty="0">
                <a:latin typeface="Segoe UI" panose="020B0502040204020203" pitchFamily="34" charset="0"/>
                <a:cs typeface="+mn-cs"/>
                <a:hlinkClick r:id="rId5"/>
              </a:rPr>
              <a:t>State of the Cloud Report</a:t>
            </a:r>
            <a:endParaRPr lang="en-US" sz="800" dirty="0">
              <a:latin typeface="Segoe UI" panose="020B0502040204020203" pitchFamily="34" charset="0"/>
              <a:cs typeface="+mn-cs"/>
            </a:endParaRPr>
          </a:p>
        </p:txBody>
      </p:sp>
    </p:spTree>
    <p:extLst>
      <p:ext uri="{BB962C8B-B14F-4D97-AF65-F5344CB8AC3E}">
        <p14:creationId xmlns:p14="http://schemas.microsoft.com/office/powerpoint/2010/main" val="387448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1E9296B-9919-2943-B588-5C985F528019}"/>
              </a:ext>
            </a:extLst>
          </p:cNvPr>
          <p:cNvSpPr>
            <a:spLocks noGrp="1"/>
          </p:cNvSpPr>
          <p:nvPr>
            <p:ph type="title" idx="4294967295"/>
          </p:nvPr>
        </p:nvSpPr>
        <p:spPr>
          <a:xfrm>
            <a:off x="618707" y="1840988"/>
            <a:ext cx="3174818" cy="182819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The next era of business is here </a:t>
            </a:r>
          </a:p>
        </p:txBody>
      </p:sp>
      <p:sp>
        <p:nvSpPr>
          <p:cNvPr id="3" name="Content Placeholder 4">
            <a:extLst>
              <a:ext uri="{FF2B5EF4-FFF2-40B4-BE49-F238E27FC236}">
                <a16:creationId xmlns:a16="http://schemas.microsoft.com/office/drawing/2014/main" id="{8DF965D3-4EB2-0A48-975C-53566F16695E}"/>
              </a:ext>
            </a:extLst>
          </p:cNvPr>
          <p:cNvSpPr>
            <a:spLocks noGrp="1"/>
          </p:cNvSpPr>
          <p:nvPr/>
        </p:nvSpPr>
        <p:spPr>
          <a:xfrm>
            <a:off x="618707" y="3873843"/>
            <a:ext cx="2725651"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IT leaders are taking key steps to stay ahead of the curve.</a:t>
            </a:r>
          </a:p>
        </p:txBody>
      </p:sp>
      <p:sp>
        <p:nvSpPr>
          <p:cNvPr id="4" name="Rectangle 3">
            <a:extLst>
              <a:ext uri="{FF2B5EF4-FFF2-40B4-BE49-F238E27FC236}">
                <a16:creationId xmlns:a16="http://schemas.microsoft.com/office/drawing/2014/main" id="{DF6F4814-4F79-234B-814F-CA7CE92635C2}"/>
              </a:ext>
            </a:extLst>
          </p:cNvPr>
          <p:cNvSpPr/>
          <p:nvPr/>
        </p:nvSpPr>
        <p:spPr>
          <a:xfrm>
            <a:off x="6096000" y="1563989"/>
            <a:ext cx="5029200" cy="553998"/>
          </a:xfrm>
          <a:prstGeom prst="rect">
            <a:avLst/>
          </a:prstGeom>
        </p:spPr>
        <p:txBody>
          <a:bodyPr wrap="square">
            <a:spAutoFit/>
          </a:bodyPr>
          <a:lstStyle/>
          <a:p>
            <a:r>
              <a:rPr lang="en-gb" sz="1600" b="1" dirty="0">
                <a:solidFill>
                  <a:srgbClr val="0078D4"/>
                </a:solidFill>
                <a:latin typeface="Segoe UI Semibold" panose="020B0502040204020203" pitchFamily="34" charset="0"/>
                <a:cs typeface="Segoe UI Semibold" panose="020B0502040204020203" pitchFamily="34" charset="0"/>
              </a:rPr>
              <a:t>Prioritise investment and people </a:t>
            </a:r>
            <a:r>
              <a:rPr lang="en-gb" sz="1400" dirty="0">
                <a:latin typeface="Segoe UI" panose="020B0502040204020203" pitchFamily="34" charset="0"/>
                <a:cs typeface="Segoe UI" panose="020B0502040204020203" pitchFamily="34" charset="0"/>
              </a:rPr>
              <a:t>by fuelling new growth initiatives to stay ahead of the curve</a:t>
            </a:r>
            <a:endParaRPr lang="en-US" sz="1600" dirty="0">
              <a:latin typeface="Segoe UI" panose="020B0502040204020203" pitchFamily="34" charset="0"/>
              <a:cs typeface="Segoe UI" panose="020B0502040204020203" pitchFamily="34" charset="0"/>
            </a:endParaRPr>
          </a:p>
        </p:txBody>
      </p:sp>
      <p:sp>
        <p:nvSpPr>
          <p:cNvPr id="6" name="TextBox 5">
            <a:extLst>
              <a:ext uri="{FF2B5EF4-FFF2-40B4-BE49-F238E27FC236}">
                <a16:creationId xmlns:a16="http://schemas.microsoft.com/office/drawing/2014/main" id="{2408B3DE-C24B-E148-B89E-4EA221DF8F5A}"/>
              </a:ext>
            </a:extLst>
          </p:cNvPr>
          <p:cNvSpPr txBox="1"/>
          <p:nvPr/>
        </p:nvSpPr>
        <p:spPr>
          <a:xfrm>
            <a:off x="6191003" y="2684401"/>
            <a:ext cx="5482441" cy="461665"/>
          </a:xfrm>
          <a:prstGeom prst="rect">
            <a:avLst/>
          </a:prstGeom>
          <a:noFill/>
        </p:spPr>
        <p:txBody>
          <a:bodyPr wrap="square" lIns="0" tIns="0" rIns="0" bIns="0" rtlCol="0">
            <a:spAutoFit/>
          </a:bodyPr>
          <a:lstStyle/>
          <a:p>
            <a:r>
              <a:rPr lang="en-gb" sz="1600" b="1" dirty="0">
                <a:solidFill>
                  <a:srgbClr val="0078D4"/>
                </a:solidFill>
                <a:latin typeface="Segoe UI Semibold" panose="020B0502040204020203" pitchFamily="34" charset="0"/>
                <a:cs typeface="Segoe UI Semibold" panose="020B0502040204020203" pitchFamily="34" charset="0"/>
              </a:rPr>
              <a:t>Remodel business operations </a:t>
            </a:r>
            <a:r>
              <a:rPr lang="en-gb" sz="1400" dirty="0">
                <a:latin typeface="Segoe UI" panose="020B0502040204020203" pitchFamily="34" charset="0"/>
                <a:cs typeface="Segoe UI" panose="020B0502040204020203" pitchFamily="34" charset="0"/>
              </a:rPr>
              <a:t>by increasing supply chain efficiency and digital resilience for increased productivity</a:t>
            </a:r>
            <a:endParaRPr lang="en-US" sz="1600" dirty="0">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2A098945-FD16-AB4C-B20F-CC5BE582A7A9}"/>
              </a:ext>
            </a:extLst>
          </p:cNvPr>
          <p:cNvSpPr txBox="1"/>
          <p:nvPr/>
        </p:nvSpPr>
        <p:spPr>
          <a:xfrm>
            <a:off x="6191004" y="3687094"/>
            <a:ext cx="5624944" cy="461665"/>
          </a:xfrm>
          <a:prstGeom prst="rect">
            <a:avLst/>
          </a:prstGeom>
          <a:noFill/>
        </p:spPr>
        <p:txBody>
          <a:bodyPr wrap="square" lIns="0" tIns="0" rIns="0" bIns="0" rtlCol="0">
            <a:spAutoFit/>
          </a:bodyPr>
          <a:lstStyle/>
          <a:p>
            <a:r>
              <a:rPr lang="en-gb" sz="1600" b="1" dirty="0">
                <a:solidFill>
                  <a:srgbClr val="0078D4"/>
                </a:solidFill>
                <a:latin typeface="Segoe UI Semibold" panose="020B0502040204020203" pitchFamily="34" charset="0"/>
                <a:cs typeface="Segoe UI Semibold" panose="020B0502040204020203" pitchFamily="34" charset="0"/>
              </a:rPr>
              <a:t>Build the right skills and culture </a:t>
            </a:r>
            <a:r>
              <a:rPr lang="en-gb" sz="1400" dirty="0">
                <a:latin typeface="Segoe UI" panose="020B0502040204020203" pitchFamily="34" charset="0"/>
                <a:cs typeface="Segoe UI" panose="020B0502040204020203" pitchFamily="34" charset="0"/>
              </a:rPr>
              <a:t>by upskilling people and cultivating a community that embraces agility and innovation</a:t>
            </a:r>
            <a:endParaRPr lang="en-US" sz="1600" dirty="0">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9F4DF62-F618-5849-BFCA-35C5F11AFA1D}"/>
              </a:ext>
            </a:extLst>
          </p:cNvPr>
          <p:cNvSpPr txBox="1"/>
          <p:nvPr/>
        </p:nvSpPr>
        <p:spPr>
          <a:xfrm>
            <a:off x="6191003" y="4730218"/>
            <a:ext cx="5482441" cy="461665"/>
          </a:xfrm>
          <a:prstGeom prst="rect">
            <a:avLst/>
          </a:prstGeom>
          <a:noFill/>
        </p:spPr>
        <p:txBody>
          <a:bodyPr wrap="square" lIns="0" tIns="0" rIns="0" bIns="0" rtlCol="0">
            <a:spAutoFit/>
          </a:bodyPr>
          <a:lstStyle/>
          <a:p>
            <a:r>
              <a:rPr lang="en-gb" sz="1600" b="1" dirty="0">
                <a:solidFill>
                  <a:srgbClr val="0078D4"/>
                </a:solidFill>
                <a:latin typeface="Segoe UI Semibold" panose="020B0502040204020203" pitchFamily="34" charset="0"/>
                <a:cs typeface="Segoe UI Semibold" panose="020B0502040204020203" pitchFamily="34" charset="0"/>
              </a:rPr>
              <a:t>Reduce technical debt </a:t>
            </a:r>
            <a:r>
              <a:rPr lang="en-gb" sz="1400" dirty="0">
                <a:latin typeface="Segoe UI" panose="020B0502040204020203" pitchFamily="34" charset="0"/>
                <a:cs typeface="Segoe UI" panose="020B0502040204020203" pitchFamily="34" charset="0"/>
              </a:rPr>
              <a:t>by accelerating IT and app modernisation that aligns with your business objectives</a:t>
            </a:r>
            <a:endParaRPr lang="en-US" sz="1600" dirty="0">
              <a:latin typeface="Segoe UI" panose="020B0502040204020203" pitchFamily="34" charset="0"/>
              <a:cs typeface="Segoe UI" panose="020B0502040204020203" pitchFamily="34" charset="0"/>
            </a:endParaRPr>
          </a:p>
        </p:txBody>
      </p:sp>
      <p:pic>
        <p:nvPicPr>
          <p:cNvPr id="9" name="Picture 8">
            <a:extLst>
              <a:ext uri="{FF2B5EF4-FFF2-40B4-BE49-F238E27FC236}">
                <a16:creationId xmlns:a16="http://schemas.microsoft.com/office/drawing/2014/main" id="{9F3599D6-066A-EA43-BEF5-1DBB02FE673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59570" y="1567610"/>
            <a:ext cx="574526" cy="574526"/>
          </a:xfrm>
          <a:prstGeom prst="rect">
            <a:avLst/>
          </a:prstGeom>
        </p:spPr>
      </p:pic>
      <p:pic>
        <p:nvPicPr>
          <p:cNvPr id="11" name="Picture 10">
            <a:extLst>
              <a:ext uri="{FF2B5EF4-FFF2-40B4-BE49-F238E27FC236}">
                <a16:creationId xmlns:a16="http://schemas.microsoft.com/office/drawing/2014/main" id="{0D819BBF-358D-8841-9DFD-9114C396D3D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359570" y="2651170"/>
            <a:ext cx="574526" cy="574526"/>
          </a:xfrm>
          <a:prstGeom prst="rect">
            <a:avLst/>
          </a:prstGeom>
        </p:spPr>
      </p:pic>
      <p:pic>
        <p:nvPicPr>
          <p:cNvPr id="13" name="Picture 12">
            <a:extLst>
              <a:ext uri="{FF2B5EF4-FFF2-40B4-BE49-F238E27FC236}">
                <a16:creationId xmlns:a16="http://schemas.microsoft.com/office/drawing/2014/main" id="{259C1C61-8279-7743-BF29-52A28BC5FF48}"/>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359570" y="3631531"/>
            <a:ext cx="574526" cy="574526"/>
          </a:xfrm>
          <a:prstGeom prst="rect">
            <a:avLst/>
          </a:prstGeom>
        </p:spPr>
      </p:pic>
      <p:pic>
        <p:nvPicPr>
          <p:cNvPr id="17" name="Picture 16">
            <a:extLst>
              <a:ext uri="{FF2B5EF4-FFF2-40B4-BE49-F238E27FC236}">
                <a16:creationId xmlns:a16="http://schemas.microsoft.com/office/drawing/2014/main" id="{F5DA34CD-EAD4-9647-9979-81A52E77CEEE}"/>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359569" y="4715091"/>
            <a:ext cx="574527" cy="574527"/>
          </a:xfrm>
          <a:prstGeom prst="rect">
            <a:avLst/>
          </a:prstGeom>
        </p:spPr>
      </p:pic>
    </p:spTree>
    <p:extLst>
      <p:ext uri="{BB962C8B-B14F-4D97-AF65-F5344CB8AC3E}">
        <p14:creationId xmlns:p14="http://schemas.microsoft.com/office/powerpoint/2010/main" val="820848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DDBD0682-A9F4-904D-820B-9E5BE261F300}"/>
              </a:ext>
            </a:extLst>
          </p:cNvPr>
          <p:cNvSpPr>
            <a:spLocks noGrp="1"/>
          </p:cNvSpPr>
          <p:nvPr>
            <p:ph type="title" idx="4294967295"/>
          </p:nvPr>
        </p:nvSpPr>
        <p:spPr>
          <a:xfrm>
            <a:off x="618707" y="1857577"/>
            <a:ext cx="3174818"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Why move now?</a:t>
            </a:r>
          </a:p>
        </p:txBody>
      </p:sp>
      <p:sp>
        <p:nvSpPr>
          <p:cNvPr id="5" name="Content Placeholder 4">
            <a:extLst>
              <a:ext uri="{FF2B5EF4-FFF2-40B4-BE49-F238E27FC236}">
                <a16:creationId xmlns:a16="http://schemas.microsoft.com/office/drawing/2014/main" id="{B1192464-66CC-3E4E-80DB-523E651F62AD}"/>
              </a:ext>
            </a:extLst>
          </p:cNvPr>
          <p:cNvSpPr>
            <a:spLocks noGrp="1"/>
          </p:cNvSpPr>
          <p:nvPr/>
        </p:nvSpPr>
        <p:spPr>
          <a:xfrm>
            <a:off x="618708" y="3390864"/>
            <a:ext cx="2450170" cy="172354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Many factors can influence the decision to modernise or migrate to the cloud. </a:t>
            </a:r>
          </a:p>
          <a:p>
            <a:pPr marL="0" lvl="0" indent="0" defTabSz="914192">
              <a:spcBef>
                <a:spcPts val="0"/>
              </a:spcBef>
              <a:buSzTx/>
              <a:buNone/>
              <a:defRPr/>
            </a:pPr>
            <a:endParaRPr lang="en-GB" sz="1600" dirty="0">
              <a:latin typeface="Segoe UI" panose="020B0502040204020203" pitchFamily="34" charset="0"/>
            </a:endParaRPr>
          </a:p>
          <a:p>
            <a:pPr marL="0" lvl="0" indent="0" defTabSz="914192">
              <a:spcBef>
                <a:spcPts val="0"/>
              </a:spcBef>
              <a:buSzTx/>
              <a:buNone/>
              <a:defRPr/>
            </a:pPr>
            <a:r>
              <a:rPr lang="en-gb" sz="1600" dirty="0">
                <a:latin typeface="Segoe UI" panose="020B0502040204020203" pitchFamily="34" charset="0"/>
              </a:rPr>
              <a:t>Understand the top triggers and align goals and milestones. </a:t>
            </a:r>
          </a:p>
        </p:txBody>
      </p:sp>
      <p:pic>
        <p:nvPicPr>
          <p:cNvPr id="3" name="Picture 2" descr="Circular chart displaying common migration and modernisation triggers. ">
            <a:extLst>
              <a:ext uri="{FF2B5EF4-FFF2-40B4-BE49-F238E27FC236}">
                <a16:creationId xmlns:a16="http://schemas.microsoft.com/office/drawing/2014/main" id="{FD7CC411-3A6F-8D4B-B99B-0A500DB96725}"/>
              </a:ext>
            </a:extLst>
          </p:cNvPr>
          <p:cNvPicPr>
            <a:picLocks noChangeAspect="1"/>
          </p:cNvPicPr>
          <p:nvPr/>
        </p:nvPicPr>
        <p:blipFill>
          <a:blip r:embed="rId3"/>
          <a:stretch>
            <a:fillRect/>
          </a:stretch>
        </p:blipFill>
        <p:spPr>
          <a:xfrm>
            <a:off x="5375017" y="498625"/>
            <a:ext cx="5350648" cy="5860750"/>
          </a:xfrm>
          <a:prstGeom prst="rect">
            <a:avLst/>
          </a:prstGeom>
        </p:spPr>
      </p:pic>
      <p:sp>
        <p:nvSpPr>
          <p:cNvPr id="16" name="Rectangle 15">
            <a:extLst>
              <a:ext uri="{FF2B5EF4-FFF2-40B4-BE49-F238E27FC236}">
                <a16:creationId xmlns:a16="http://schemas.microsoft.com/office/drawing/2014/main" id="{3ECDEC84-15B0-1D41-A9EE-C9E7E6149B77}"/>
              </a:ext>
              <a:ext uri="{C183D7F6-B498-43B3-948B-1728B52AA6E4}">
                <adec:decorative xmlns:adec="http://schemas.microsoft.com/office/drawing/2017/decorative" val="1"/>
              </a:ext>
            </a:extLst>
          </p:cNvPr>
          <p:cNvSpPr/>
          <p:nvPr/>
        </p:nvSpPr>
        <p:spPr>
          <a:xfrm>
            <a:off x="7012231" y="2871241"/>
            <a:ext cx="2004285" cy="307777"/>
          </a:xfrm>
          <a:prstGeom prst="rect">
            <a:avLst/>
          </a:prstGeom>
        </p:spPr>
        <p:txBody>
          <a:bodyPr wrap="square" lIns="182802">
            <a:spAutoFit/>
          </a:bodyPr>
          <a:lstStyle/>
          <a:p>
            <a:pPr algn="ctr" defTabSz="913841">
              <a:spcAft>
                <a:spcPts val="800"/>
              </a:spcAft>
              <a:defRPr/>
            </a:pPr>
            <a:r>
              <a:rPr lang="en-gb" sz="1400" b="1" kern="0" dirty="0">
                <a:solidFill>
                  <a:schemeClr val="bg1"/>
                </a:solidFill>
                <a:latin typeface="Segoe UI Semibold" panose="020B0502040204020203" pitchFamily="34" charset="0"/>
                <a:ea typeface="Calibri" panose="020F0502020204030204" pitchFamily="34" charset="0"/>
                <a:cs typeface="Segoe UI Semibold" panose="020B0502040204020203" pitchFamily="34" charset="0"/>
              </a:rPr>
              <a:t>Migration triggers</a:t>
            </a:r>
          </a:p>
        </p:txBody>
      </p:sp>
      <p:sp>
        <p:nvSpPr>
          <p:cNvPr id="17" name="Rectangle 16">
            <a:extLst>
              <a:ext uri="{FF2B5EF4-FFF2-40B4-BE49-F238E27FC236}">
                <a16:creationId xmlns:a16="http://schemas.microsoft.com/office/drawing/2014/main" id="{0B7CA451-C46F-E94F-ADB0-B4AF487DC207}"/>
              </a:ext>
              <a:ext uri="{C183D7F6-B498-43B3-948B-1728B52AA6E4}">
                <adec:decorative xmlns:adec="http://schemas.microsoft.com/office/drawing/2017/decorative" val="1"/>
              </a:ext>
            </a:extLst>
          </p:cNvPr>
          <p:cNvSpPr/>
          <p:nvPr/>
        </p:nvSpPr>
        <p:spPr>
          <a:xfrm>
            <a:off x="7012231" y="3635329"/>
            <a:ext cx="2004285" cy="523220"/>
          </a:xfrm>
          <a:prstGeom prst="rect">
            <a:avLst/>
          </a:prstGeom>
        </p:spPr>
        <p:txBody>
          <a:bodyPr wrap="square" lIns="182802">
            <a:spAutoFit/>
          </a:bodyPr>
          <a:lstStyle/>
          <a:p>
            <a:pPr algn="ctr" defTabSz="913841">
              <a:spcAft>
                <a:spcPts val="800"/>
              </a:spcAft>
              <a:defRPr/>
            </a:pPr>
            <a:r>
              <a:rPr lang="en-gb" sz="1400" b="1" kern="0" dirty="0">
                <a:latin typeface="Segoe UI Semibold" panose="020B0502040204020203" pitchFamily="34" charset="0"/>
                <a:ea typeface="Calibri" panose="020F0502020204030204" pitchFamily="34" charset="0"/>
                <a:cs typeface="Segoe UI Semibold" panose="020B0502040204020203" pitchFamily="34" charset="0"/>
              </a:rPr>
              <a:t>Modernisation triggers</a:t>
            </a:r>
          </a:p>
        </p:txBody>
      </p:sp>
      <p:sp>
        <p:nvSpPr>
          <p:cNvPr id="15" name="Rectangle 14">
            <a:extLst>
              <a:ext uri="{FF2B5EF4-FFF2-40B4-BE49-F238E27FC236}">
                <a16:creationId xmlns:a16="http://schemas.microsoft.com/office/drawing/2014/main" id="{43027796-0D3A-D545-92AE-C712796DAA1C}"/>
              </a:ext>
              <a:ext uri="{C183D7F6-B498-43B3-948B-1728B52AA6E4}">
                <adec:decorative xmlns:adec="http://schemas.microsoft.com/office/drawing/2017/decorative" val="1"/>
              </a:ext>
            </a:extLst>
          </p:cNvPr>
          <p:cNvSpPr/>
          <p:nvPr/>
        </p:nvSpPr>
        <p:spPr>
          <a:xfrm>
            <a:off x="4561319" y="656919"/>
            <a:ext cx="2450912" cy="523220"/>
          </a:xfrm>
          <a:prstGeom prst="rect">
            <a:avLst/>
          </a:prstGeom>
        </p:spPr>
        <p:txBody>
          <a:bodyPr wrap="square" lIns="182802">
            <a:spAutoFit/>
          </a:bodyPr>
          <a:lstStyle/>
          <a:p>
            <a:pPr algn="r" defTabSz="913841">
              <a:spcAft>
                <a:spcPts val="800"/>
              </a:spcAft>
              <a:defRPr/>
            </a:pPr>
            <a:r>
              <a:rPr lang="en-gb" sz="1400" b="1" kern="0" dirty="0">
                <a:latin typeface="Segoe UI Semibold" panose="020B0502040204020203" pitchFamily="34" charset="0"/>
                <a:ea typeface="Calibri" panose="020F0502020204030204" pitchFamily="34" charset="0"/>
                <a:cs typeface="Segoe UI Semibold" panose="020B0502040204020203" pitchFamily="34" charset="0"/>
              </a:rPr>
              <a:t>Cash flow challenges, CAPEX to OPEX</a:t>
            </a:r>
          </a:p>
        </p:txBody>
      </p:sp>
      <p:sp>
        <p:nvSpPr>
          <p:cNvPr id="10" name="Rectangle 9">
            <a:extLst>
              <a:ext uri="{FF2B5EF4-FFF2-40B4-BE49-F238E27FC236}">
                <a16:creationId xmlns:a16="http://schemas.microsoft.com/office/drawing/2014/main" id="{AF997944-1CFE-2C4D-AF3E-34032A9F818B}"/>
              </a:ext>
              <a:ext uri="{C183D7F6-B498-43B3-948B-1728B52AA6E4}">
                <adec:decorative xmlns:adec="http://schemas.microsoft.com/office/drawing/2017/decorative" val="1"/>
              </a:ext>
            </a:extLst>
          </p:cNvPr>
          <p:cNvSpPr/>
          <p:nvPr/>
        </p:nvSpPr>
        <p:spPr>
          <a:xfrm>
            <a:off x="4077695" y="2087492"/>
            <a:ext cx="1566864" cy="523220"/>
          </a:xfrm>
          <a:prstGeom prst="rect">
            <a:avLst/>
          </a:prstGeom>
        </p:spPr>
        <p:txBody>
          <a:bodyPr wrap="square" lIns="182802">
            <a:spAutoFit/>
          </a:bodyPr>
          <a:lstStyle/>
          <a:p>
            <a:pPr algn="r" defTabSz="913841">
              <a:spcAft>
                <a:spcPts val="800"/>
              </a:spcAft>
              <a:defRPr/>
            </a:pPr>
            <a:r>
              <a:rPr lang="en-gb" sz="1400" b="1" kern="0" dirty="0">
                <a:latin typeface="Segoe UI Semibold" panose="020B0502040204020203" pitchFamily="34" charset="0"/>
                <a:ea typeface="Calibri" panose="020F0502020204030204" pitchFamily="34" charset="0"/>
                <a:cs typeface="Segoe UI Semibold" panose="020B0502040204020203" pitchFamily="34" charset="0"/>
              </a:rPr>
              <a:t>Data centre contract expiry</a:t>
            </a:r>
          </a:p>
        </p:txBody>
      </p:sp>
      <p:sp>
        <p:nvSpPr>
          <p:cNvPr id="18" name="Rectangle 17">
            <a:extLst>
              <a:ext uri="{FF2B5EF4-FFF2-40B4-BE49-F238E27FC236}">
                <a16:creationId xmlns:a16="http://schemas.microsoft.com/office/drawing/2014/main" id="{D96ABF6E-42F3-8149-BB98-9868DD737C09}"/>
              </a:ext>
              <a:ext uri="{C183D7F6-B498-43B3-948B-1728B52AA6E4}">
                <adec:decorative xmlns:adec="http://schemas.microsoft.com/office/drawing/2017/decorative" val="1"/>
              </a:ext>
            </a:extLst>
          </p:cNvPr>
          <p:cNvSpPr/>
          <p:nvPr/>
        </p:nvSpPr>
        <p:spPr>
          <a:xfrm>
            <a:off x="4147084" y="3937122"/>
            <a:ext cx="1364360" cy="523220"/>
          </a:xfrm>
          <a:prstGeom prst="rect">
            <a:avLst/>
          </a:prstGeom>
        </p:spPr>
        <p:txBody>
          <a:bodyPr wrap="square" lIns="182802">
            <a:spAutoFit/>
          </a:bodyPr>
          <a:lstStyle/>
          <a:p>
            <a:pPr algn="r" defTabSz="913841">
              <a:spcAft>
                <a:spcPts val="800"/>
              </a:spcAft>
              <a:defRPr/>
            </a:pPr>
            <a:r>
              <a:rPr lang="en-gb" sz="1400" b="1" kern="0" dirty="0">
                <a:latin typeface="Segoe UI Semibold" panose="020B0502040204020203" pitchFamily="34" charset="0"/>
                <a:ea typeface="Calibri" panose="020F0502020204030204" pitchFamily="34" charset="0"/>
                <a:cs typeface="Segoe UI Semibold" panose="020B0502040204020203" pitchFamily="34" charset="0"/>
              </a:rPr>
              <a:t>Enabling remote work</a:t>
            </a:r>
          </a:p>
        </p:txBody>
      </p:sp>
      <p:sp>
        <p:nvSpPr>
          <p:cNvPr id="12" name="Rectangle 11">
            <a:extLst>
              <a:ext uri="{FF2B5EF4-FFF2-40B4-BE49-F238E27FC236}">
                <a16:creationId xmlns:a16="http://schemas.microsoft.com/office/drawing/2014/main" id="{956673F5-80C0-2E49-A882-9D44588E236B}"/>
              </a:ext>
              <a:ext uri="{C183D7F6-B498-43B3-948B-1728B52AA6E4}">
                <adec:decorative xmlns:adec="http://schemas.microsoft.com/office/drawing/2017/decorative" val="1"/>
              </a:ext>
            </a:extLst>
          </p:cNvPr>
          <p:cNvSpPr/>
          <p:nvPr/>
        </p:nvSpPr>
        <p:spPr>
          <a:xfrm>
            <a:off x="5215467" y="5485674"/>
            <a:ext cx="1364360" cy="523220"/>
          </a:xfrm>
          <a:prstGeom prst="rect">
            <a:avLst/>
          </a:prstGeom>
        </p:spPr>
        <p:txBody>
          <a:bodyPr wrap="square" lIns="182802">
            <a:spAutoFit/>
          </a:bodyPr>
          <a:lstStyle/>
          <a:p>
            <a:pPr algn="r" defTabSz="913841">
              <a:spcAft>
                <a:spcPts val="800"/>
              </a:spcAft>
              <a:defRPr/>
            </a:pPr>
            <a:r>
              <a:rPr lang="en-gb" sz="1400" b="1" kern="0" dirty="0">
                <a:latin typeface="Segoe UI Semibold" panose="020B0502040204020203" pitchFamily="34" charset="0"/>
                <a:ea typeface="Calibri" panose="020F0502020204030204" pitchFamily="34" charset="0"/>
                <a:cs typeface="Segoe UI Semibold" panose="020B0502040204020203" pitchFamily="34" charset="0"/>
              </a:rPr>
              <a:t>Faster time to market</a:t>
            </a:r>
          </a:p>
        </p:txBody>
      </p:sp>
      <p:sp>
        <p:nvSpPr>
          <p:cNvPr id="14" name="Rectangle 13">
            <a:extLst>
              <a:ext uri="{FF2B5EF4-FFF2-40B4-BE49-F238E27FC236}">
                <a16:creationId xmlns:a16="http://schemas.microsoft.com/office/drawing/2014/main" id="{CE021293-3CF8-9843-8668-642F212242C4}"/>
              </a:ext>
              <a:ext uri="{C183D7F6-B498-43B3-948B-1728B52AA6E4}">
                <adec:decorative xmlns:adec="http://schemas.microsoft.com/office/drawing/2017/decorative" val="1"/>
              </a:ext>
            </a:extLst>
          </p:cNvPr>
          <p:cNvSpPr/>
          <p:nvPr/>
        </p:nvSpPr>
        <p:spPr>
          <a:xfrm>
            <a:off x="7048198" y="5994449"/>
            <a:ext cx="2004285" cy="523220"/>
          </a:xfrm>
          <a:prstGeom prst="rect">
            <a:avLst/>
          </a:prstGeom>
        </p:spPr>
        <p:txBody>
          <a:bodyPr wrap="square" lIns="182802">
            <a:spAutoFit/>
          </a:bodyPr>
          <a:lstStyle/>
          <a:p>
            <a:pPr algn="ctr" defTabSz="913841">
              <a:spcAft>
                <a:spcPts val="800"/>
              </a:spcAft>
              <a:defRPr/>
            </a:pPr>
            <a:r>
              <a:rPr lang="en-gb" sz="1400" b="1" kern="0" dirty="0">
                <a:latin typeface="Segoe UI Semibold" panose="020B0502040204020203" pitchFamily="34" charset="0"/>
                <a:ea typeface="Calibri" panose="020F0502020204030204" pitchFamily="34" charset="0"/>
                <a:cs typeface="Segoe UI Semibold" panose="020B0502040204020203" pitchFamily="34" charset="0"/>
              </a:rPr>
              <a:t>Digital transformation</a:t>
            </a:r>
          </a:p>
        </p:txBody>
      </p:sp>
      <p:sp>
        <p:nvSpPr>
          <p:cNvPr id="13" name="Rectangle 12">
            <a:extLst>
              <a:ext uri="{FF2B5EF4-FFF2-40B4-BE49-F238E27FC236}">
                <a16:creationId xmlns:a16="http://schemas.microsoft.com/office/drawing/2014/main" id="{94551FC6-0357-D54D-810E-40D0DE605FBF}"/>
              </a:ext>
              <a:ext uri="{C183D7F6-B498-43B3-948B-1728B52AA6E4}">
                <adec:decorative xmlns:adec="http://schemas.microsoft.com/office/drawing/2017/decorative" val="1"/>
              </a:ext>
            </a:extLst>
          </p:cNvPr>
          <p:cNvSpPr/>
          <p:nvPr/>
        </p:nvSpPr>
        <p:spPr>
          <a:xfrm>
            <a:off x="9412292" y="5485674"/>
            <a:ext cx="1364360" cy="523220"/>
          </a:xfrm>
          <a:prstGeom prst="rect">
            <a:avLst/>
          </a:prstGeom>
        </p:spPr>
        <p:txBody>
          <a:bodyPr wrap="square" lIns="182802">
            <a:spAutoFit/>
          </a:bodyPr>
          <a:lstStyle/>
          <a:p>
            <a:pPr defTabSz="913841">
              <a:spcAft>
                <a:spcPts val="800"/>
              </a:spcAft>
              <a:defRPr/>
            </a:pPr>
            <a:r>
              <a:rPr lang="en-gb" sz="1400" b="1" kern="0" dirty="0">
                <a:latin typeface="Segoe UI Semibold" panose="020B0502040204020203" pitchFamily="34" charset="0"/>
                <a:cs typeface="Segoe UI Semibold" panose="020B0502040204020203" pitchFamily="34" charset="0"/>
              </a:rPr>
              <a:t>Application innovation</a:t>
            </a:r>
            <a:endParaRPr lang="en-US" sz="1200" b="1" kern="0" dirty="0">
              <a:latin typeface="Segoe UI Semibold" panose="020B0502040204020203" pitchFamily="34" charset="0"/>
              <a:cs typeface="Segoe UI Semibold" panose="020B0502040204020203" pitchFamily="34" charset="0"/>
            </a:endParaRPr>
          </a:p>
        </p:txBody>
      </p:sp>
      <p:sp>
        <p:nvSpPr>
          <p:cNvPr id="9" name="Rectangle 8">
            <a:extLst>
              <a:ext uri="{FF2B5EF4-FFF2-40B4-BE49-F238E27FC236}">
                <a16:creationId xmlns:a16="http://schemas.microsoft.com/office/drawing/2014/main" id="{C8B32259-03E1-9547-9C95-945BCA997F55}"/>
              </a:ext>
              <a:ext uri="{C183D7F6-B498-43B3-948B-1728B52AA6E4}">
                <adec:decorative xmlns:adec="http://schemas.microsoft.com/office/drawing/2017/decorative" val="1"/>
              </a:ext>
            </a:extLst>
          </p:cNvPr>
          <p:cNvSpPr/>
          <p:nvPr/>
        </p:nvSpPr>
        <p:spPr>
          <a:xfrm>
            <a:off x="10476938" y="3746788"/>
            <a:ext cx="1715062" cy="738664"/>
          </a:xfrm>
          <a:prstGeom prst="rect">
            <a:avLst/>
          </a:prstGeom>
        </p:spPr>
        <p:txBody>
          <a:bodyPr wrap="square" lIns="182802">
            <a:spAutoFit/>
          </a:bodyPr>
          <a:lstStyle/>
          <a:p>
            <a:pPr defTabSz="913841">
              <a:spcAft>
                <a:spcPts val="800"/>
              </a:spcAft>
              <a:defRPr/>
            </a:pPr>
            <a:r>
              <a:rPr lang="en-gb" sz="1400" b="1" kern="0" dirty="0">
                <a:latin typeface="Segoe UI Semibold" panose="020B0502040204020203" pitchFamily="34" charset="0"/>
                <a:cs typeface="Segoe UI Semibold" panose="020B0502040204020203" pitchFamily="34" charset="0"/>
              </a:rPr>
              <a:t>Rapidly scale applications and infrastructure</a:t>
            </a:r>
          </a:p>
        </p:txBody>
      </p:sp>
      <p:sp>
        <p:nvSpPr>
          <p:cNvPr id="11" name="Rectangle 10">
            <a:extLst>
              <a:ext uri="{FF2B5EF4-FFF2-40B4-BE49-F238E27FC236}">
                <a16:creationId xmlns:a16="http://schemas.microsoft.com/office/drawing/2014/main" id="{467408AC-AF62-F34A-86CE-4C6615CB8471}"/>
              </a:ext>
              <a:ext uri="{C183D7F6-B498-43B3-948B-1728B52AA6E4}">
                <adec:decorative xmlns:adec="http://schemas.microsoft.com/office/drawing/2017/decorative" val="1"/>
              </a:ext>
            </a:extLst>
          </p:cNvPr>
          <p:cNvSpPr/>
          <p:nvPr/>
        </p:nvSpPr>
        <p:spPr>
          <a:xfrm>
            <a:off x="10194364" y="2040923"/>
            <a:ext cx="2206270" cy="307777"/>
          </a:xfrm>
          <a:prstGeom prst="rect">
            <a:avLst/>
          </a:prstGeom>
        </p:spPr>
        <p:txBody>
          <a:bodyPr wrap="square" lIns="182802">
            <a:spAutoFit/>
          </a:bodyPr>
          <a:lstStyle/>
          <a:p>
            <a:pPr defTabSz="913841">
              <a:spcAft>
                <a:spcPts val="800"/>
              </a:spcAft>
              <a:defRPr/>
            </a:pPr>
            <a:r>
              <a:rPr lang="en-gb" sz="1400" b="1" kern="0" dirty="0">
                <a:latin typeface="Segoe UI Semibold" panose="020B0502040204020203" pitchFamily="34" charset="0"/>
                <a:cs typeface="Segoe UI Semibold" panose="020B0502040204020203" pitchFamily="34" charset="0"/>
              </a:rPr>
              <a:t>Business continuity</a:t>
            </a:r>
            <a:endParaRPr lang="en-US" sz="1200" b="1" kern="0" dirty="0">
              <a:latin typeface="Segoe UI Semibold" panose="020B0502040204020203" pitchFamily="34" charset="0"/>
              <a:cs typeface="Segoe UI Semibold" panose="020B0502040204020203" pitchFamily="34" charset="0"/>
            </a:endParaRPr>
          </a:p>
        </p:txBody>
      </p:sp>
      <p:sp>
        <p:nvSpPr>
          <p:cNvPr id="7" name="Rectangle 6">
            <a:extLst>
              <a:ext uri="{FF2B5EF4-FFF2-40B4-BE49-F238E27FC236}">
                <a16:creationId xmlns:a16="http://schemas.microsoft.com/office/drawing/2014/main" id="{52CA0115-E3F1-EF46-80AA-0BB18EFED709}"/>
              </a:ext>
              <a:ext uri="{C183D7F6-B498-43B3-948B-1728B52AA6E4}">
                <adec:decorative xmlns:adec="http://schemas.microsoft.com/office/drawing/2017/decorative" val="1"/>
              </a:ext>
            </a:extLst>
          </p:cNvPr>
          <p:cNvSpPr/>
          <p:nvPr/>
        </p:nvSpPr>
        <p:spPr>
          <a:xfrm>
            <a:off x="8991337" y="810807"/>
            <a:ext cx="2206270" cy="307777"/>
          </a:xfrm>
          <a:prstGeom prst="rect">
            <a:avLst/>
          </a:prstGeom>
        </p:spPr>
        <p:txBody>
          <a:bodyPr wrap="square" lIns="182802">
            <a:spAutoFit/>
          </a:bodyPr>
          <a:lstStyle/>
          <a:p>
            <a:pPr defTabSz="913841">
              <a:defRPr/>
            </a:pPr>
            <a:r>
              <a:rPr lang="en-gb" sz="1400" b="1" kern="0" dirty="0">
                <a:latin typeface="Segoe UI Semibold" panose="020B0502040204020203" pitchFamily="34" charset="0"/>
                <a:cs typeface="Segoe UI Semibold" panose="020B0502040204020203" pitchFamily="34" charset="0"/>
              </a:rPr>
              <a:t>Cybersecurity threats </a:t>
            </a:r>
          </a:p>
        </p:txBody>
      </p:sp>
    </p:spTree>
    <p:extLst>
      <p:ext uri="{BB962C8B-B14F-4D97-AF65-F5344CB8AC3E}">
        <p14:creationId xmlns:p14="http://schemas.microsoft.com/office/powerpoint/2010/main" val="626832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8C5F98-5314-C440-8745-C6F5A55350DC}"/>
              </a:ext>
              <a:ext uri="{C183D7F6-B498-43B3-948B-1728B52AA6E4}">
                <adec:decorative xmlns:adec="http://schemas.microsoft.com/office/drawing/2017/decorative" val="1"/>
              </a:ext>
            </a:extLst>
          </p:cNvPr>
          <p:cNvSpPr/>
          <p:nvPr/>
        </p:nvSpPr>
        <p:spPr>
          <a:xfrm>
            <a:off x="12032" y="0"/>
            <a:ext cx="12192000" cy="24012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362C6EB-FE8C-9A47-90DB-FF6A5CB2EB09}"/>
              </a:ext>
              <a:ext uri="{C183D7F6-B498-43B3-948B-1728B52AA6E4}">
                <adec:decorative xmlns:adec="http://schemas.microsoft.com/office/drawing/2017/decorative" val="1"/>
              </a:ext>
            </a:extLst>
          </p:cNvPr>
          <p:cNvSpPr/>
          <p:nvPr/>
        </p:nvSpPr>
        <p:spPr>
          <a:xfrm>
            <a:off x="12032" y="5272221"/>
            <a:ext cx="12192000" cy="15978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A275D72C-3F4D-5540-8EBC-A83CA1B25E4B}"/>
              </a:ext>
            </a:extLst>
          </p:cNvPr>
          <p:cNvSpPr>
            <a:spLocks noGrp="1"/>
          </p:cNvSpPr>
          <p:nvPr>
            <p:ph type="title" idx="4294967295"/>
          </p:nvPr>
        </p:nvSpPr>
        <p:spPr>
          <a:xfrm>
            <a:off x="618706" y="407604"/>
            <a:ext cx="7923141"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Moving from CAPEX to OPEX?</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72A8ADEB-1A80-0C41-8024-DEFB8D31B48F}"/>
              </a:ext>
            </a:extLst>
          </p:cNvPr>
          <p:cNvSpPr>
            <a:spLocks noGrp="1"/>
          </p:cNvSpPr>
          <p:nvPr/>
        </p:nvSpPr>
        <p:spPr>
          <a:xfrm>
            <a:off x="618707" y="1115918"/>
            <a:ext cx="6658915"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Many organisations want to move to the cloud in order to move IT expenses from capital expenditures to operational expenditures. </a:t>
            </a:r>
          </a:p>
        </p:txBody>
      </p:sp>
      <p:sp>
        <p:nvSpPr>
          <p:cNvPr id="6" name="TextBox 5">
            <a:extLst>
              <a:ext uri="{FF2B5EF4-FFF2-40B4-BE49-F238E27FC236}">
                <a16:creationId xmlns:a16="http://schemas.microsoft.com/office/drawing/2014/main" id="{8C59F91C-DCB5-944F-A06B-4393199241F1}"/>
              </a:ext>
            </a:extLst>
          </p:cNvPr>
          <p:cNvSpPr txBox="1"/>
          <p:nvPr/>
        </p:nvSpPr>
        <p:spPr>
          <a:xfrm>
            <a:off x="4503288" y="2006252"/>
            <a:ext cx="3185424" cy="246221"/>
          </a:xfrm>
          <a:prstGeom prst="rect">
            <a:avLst/>
          </a:prstGeom>
          <a:noFill/>
        </p:spPr>
        <p:txBody>
          <a:bodyPr wrap="none" lIns="0" tIns="0" rIns="0" bIns="0" rtlCol="0">
            <a:spAutoFit/>
          </a:bodyPr>
          <a:lstStyle/>
          <a:p>
            <a:r>
              <a:rPr lang="en-gb" sz="1600" b="1" dirty="0">
                <a:solidFill>
                  <a:srgbClr val="0078D4"/>
                </a:solidFill>
                <a:latin typeface="Segoe UI Semibold" panose="020B0502040204020203" pitchFamily="34" charset="0"/>
                <a:cs typeface="Segoe UI Semibold" panose="020B0502040204020203" pitchFamily="34" charset="0"/>
              </a:rPr>
              <a:t>Here are some factors to consider:</a:t>
            </a:r>
          </a:p>
        </p:txBody>
      </p:sp>
      <p:sp>
        <p:nvSpPr>
          <p:cNvPr id="7" name="TextBox 6">
            <a:extLst>
              <a:ext uri="{FF2B5EF4-FFF2-40B4-BE49-F238E27FC236}">
                <a16:creationId xmlns:a16="http://schemas.microsoft.com/office/drawing/2014/main" id="{A727CC8F-842F-8F4A-AB43-EA0CC3909740}"/>
              </a:ext>
            </a:extLst>
          </p:cNvPr>
          <p:cNvSpPr txBox="1"/>
          <p:nvPr/>
        </p:nvSpPr>
        <p:spPr>
          <a:xfrm>
            <a:off x="2504925" y="2571425"/>
            <a:ext cx="621067" cy="246221"/>
          </a:xfrm>
          <a:prstGeom prst="rect">
            <a:avLst/>
          </a:prstGeom>
          <a:noFill/>
        </p:spPr>
        <p:txBody>
          <a:bodyPr wrap="none" lIns="0" tIns="0" rIns="0" bIns="0" rtlCol="0">
            <a:spAutoFit/>
          </a:bodyPr>
          <a:lstStyle/>
          <a:p>
            <a:r>
              <a:rPr lang="en-gb" sz="1600" b="1" dirty="0">
                <a:solidFill>
                  <a:srgbClr val="0078D4"/>
                </a:solidFill>
                <a:latin typeface="Segoe UI Semibold" panose="020B0502040204020203" pitchFamily="34" charset="0"/>
                <a:cs typeface="Segoe UI Semibold" panose="020B0502040204020203" pitchFamily="34" charset="0"/>
              </a:rPr>
              <a:t>CAPEX</a:t>
            </a:r>
          </a:p>
        </p:txBody>
      </p:sp>
      <p:sp>
        <p:nvSpPr>
          <p:cNvPr id="9" name="Content Placeholder 4">
            <a:extLst>
              <a:ext uri="{FF2B5EF4-FFF2-40B4-BE49-F238E27FC236}">
                <a16:creationId xmlns:a16="http://schemas.microsoft.com/office/drawing/2014/main" id="{0168A68C-45FA-EB43-A891-563968C1BF21}"/>
              </a:ext>
            </a:extLst>
          </p:cNvPr>
          <p:cNvSpPr>
            <a:spLocks noGrp="1"/>
          </p:cNvSpPr>
          <p:nvPr/>
        </p:nvSpPr>
        <p:spPr>
          <a:xfrm>
            <a:off x="1249375" y="3075050"/>
            <a:ext cx="4035467" cy="193899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Can take advantage of amortisation and depreciation of investments over an extended period of time.</a:t>
            </a:r>
          </a:p>
          <a:p>
            <a:pPr marL="0" lvl="0" indent="0" defTabSz="914192">
              <a:spcBef>
                <a:spcPts val="0"/>
              </a:spcBef>
              <a:buSzTx/>
              <a:buNone/>
              <a:defRPr/>
            </a:pPr>
            <a:endParaRPr lang="en-GB" sz="1400" dirty="0">
              <a:latin typeface="Segoe UI" panose="020B0502040204020203" pitchFamily="34" charset="0"/>
            </a:endParaRPr>
          </a:p>
          <a:p>
            <a:pPr marL="0" lvl="0" indent="0" defTabSz="914192">
              <a:spcBef>
                <a:spcPts val="0"/>
              </a:spcBef>
              <a:buSzTx/>
              <a:buNone/>
              <a:defRPr/>
            </a:pPr>
            <a:r>
              <a:rPr lang="en-gb" sz="1400" dirty="0">
                <a:latin typeface="Segoe UI" panose="020B0502040204020203" pitchFamily="34" charset="0"/>
              </a:rPr>
              <a:t>Requires large up-front investment leading to </a:t>
            </a:r>
            <a:br>
              <a:rPr lang="en-gb" sz="1400" dirty="0">
                <a:latin typeface="Segoe UI" panose="020B0502040204020203" pitchFamily="34" charset="0"/>
              </a:rPr>
            </a:br>
            <a:r>
              <a:rPr lang="en-gb" sz="1400" dirty="0">
                <a:latin typeface="Segoe UI" panose="020B0502040204020203" pitchFamily="34" charset="0"/>
              </a:rPr>
              <a:t>a lengthy approval process and higher risk. </a:t>
            </a:r>
          </a:p>
          <a:p>
            <a:pPr marL="0" lvl="0" indent="0" defTabSz="914192">
              <a:spcBef>
                <a:spcPts val="0"/>
              </a:spcBef>
              <a:buSzTx/>
              <a:buNone/>
              <a:defRPr/>
            </a:pPr>
            <a:endParaRPr lang="en-GB" sz="1400" dirty="0">
              <a:latin typeface="Segoe UI" panose="020B0502040204020203" pitchFamily="34" charset="0"/>
            </a:endParaRPr>
          </a:p>
          <a:p>
            <a:pPr marL="0" lvl="0" indent="0" defTabSz="914192">
              <a:spcBef>
                <a:spcPts val="0"/>
              </a:spcBef>
              <a:buSzTx/>
              <a:buNone/>
              <a:defRPr/>
            </a:pPr>
            <a:r>
              <a:rPr lang="en-gb" sz="1400" dirty="0">
                <a:latin typeface="Segoe UI" panose="020B0502040204020203" pitchFamily="34" charset="0"/>
              </a:rPr>
              <a:t>Difficult to estimate future needs – enterprises often have to overprovision to be on the safe side.</a:t>
            </a:r>
          </a:p>
        </p:txBody>
      </p:sp>
      <p:sp>
        <p:nvSpPr>
          <p:cNvPr id="8" name="TextBox 7">
            <a:extLst>
              <a:ext uri="{FF2B5EF4-FFF2-40B4-BE49-F238E27FC236}">
                <a16:creationId xmlns:a16="http://schemas.microsoft.com/office/drawing/2014/main" id="{469990CF-E01C-1348-A408-06A24F424611}"/>
              </a:ext>
            </a:extLst>
          </p:cNvPr>
          <p:cNvSpPr txBox="1"/>
          <p:nvPr/>
        </p:nvSpPr>
        <p:spPr>
          <a:xfrm>
            <a:off x="8856623" y="2571425"/>
            <a:ext cx="510461" cy="246221"/>
          </a:xfrm>
          <a:prstGeom prst="rect">
            <a:avLst/>
          </a:prstGeom>
          <a:noFill/>
        </p:spPr>
        <p:txBody>
          <a:bodyPr wrap="none" lIns="0" tIns="0" rIns="0" bIns="0" rtlCol="0">
            <a:spAutoFit/>
          </a:bodyPr>
          <a:lstStyle/>
          <a:p>
            <a:r>
              <a:rPr lang="en-gb" sz="1600" b="1" dirty="0">
                <a:solidFill>
                  <a:srgbClr val="0078D4"/>
                </a:solidFill>
                <a:latin typeface="Segoe UI Semibold" panose="020B0502040204020203" pitchFamily="34" charset="0"/>
                <a:cs typeface="Segoe UI Semibold" panose="020B0502040204020203" pitchFamily="34" charset="0"/>
              </a:rPr>
              <a:t>OPEX</a:t>
            </a:r>
          </a:p>
        </p:txBody>
      </p:sp>
      <p:sp>
        <p:nvSpPr>
          <p:cNvPr id="10" name="Content Placeholder 4">
            <a:extLst>
              <a:ext uri="{FF2B5EF4-FFF2-40B4-BE49-F238E27FC236}">
                <a16:creationId xmlns:a16="http://schemas.microsoft.com/office/drawing/2014/main" id="{951000D8-8428-7A45-8881-AEF07F21D019}"/>
              </a:ext>
            </a:extLst>
          </p:cNvPr>
          <p:cNvSpPr>
            <a:spLocks noGrp="1"/>
          </p:cNvSpPr>
          <p:nvPr/>
        </p:nvSpPr>
        <p:spPr>
          <a:xfrm>
            <a:off x="7094121" y="3075050"/>
            <a:ext cx="4035467" cy="1723549"/>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Pay-per-use allows enterprises to only pay for what they use and makes it easy to scale up or down.</a:t>
            </a:r>
          </a:p>
          <a:p>
            <a:pPr marL="0" lvl="0" indent="0" defTabSz="914192">
              <a:spcBef>
                <a:spcPts val="0"/>
              </a:spcBef>
              <a:buSzTx/>
              <a:buNone/>
              <a:defRPr/>
            </a:pPr>
            <a:endParaRPr lang="en-GB" sz="1400" dirty="0">
              <a:latin typeface="Segoe UI" panose="020B0502040204020203" pitchFamily="34" charset="0"/>
            </a:endParaRPr>
          </a:p>
          <a:p>
            <a:pPr marL="0" lvl="0" indent="0" defTabSz="914192">
              <a:spcBef>
                <a:spcPts val="0"/>
              </a:spcBef>
              <a:buSzTx/>
              <a:buNone/>
              <a:defRPr/>
            </a:pPr>
            <a:r>
              <a:rPr lang="en-gb" sz="1400" dirty="0">
                <a:latin typeface="Segoe UI" panose="020B0502040204020203" pitchFamily="34" charset="0"/>
              </a:rPr>
              <a:t>Less investment, operating costs and risk; speeds up budgeting process.</a:t>
            </a:r>
          </a:p>
          <a:p>
            <a:pPr marL="0" lvl="0" indent="0" defTabSz="914192">
              <a:spcBef>
                <a:spcPts val="0"/>
              </a:spcBef>
              <a:buSzTx/>
              <a:buNone/>
              <a:defRPr/>
            </a:pPr>
            <a:endParaRPr lang="en-GB" sz="1400" dirty="0">
              <a:latin typeface="Segoe UI" panose="020B0502040204020203" pitchFamily="34" charset="0"/>
            </a:endParaRPr>
          </a:p>
          <a:p>
            <a:pPr marL="0" lvl="0" indent="0" defTabSz="914192">
              <a:spcBef>
                <a:spcPts val="0"/>
              </a:spcBef>
              <a:buSzTx/>
              <a:buNone/>
              <a:defRPr/>
            </a:pPr>
            <a:r>
              <a:rPr lang="en-gb" sz="1400" dirty="0">
                <a:latin typeface="Segoe UI" panose="020B0502040204020203" pitchFamily="34" charset="0"/>
              </a:rPr>
              <a:t>Commitment-based models (lock in for a year or three years) diminish benefits of OPEX.</a:t>
            </a:r>
          </a:p>
        </p:txBody>
      </p:sp>
      <p:sp>
        <p:nvSpPr>
          <p:cNvPr id="23" name="Content Placeholder 4">
            <a:extLst>
              <a:ext uri="{FF2B5EF4-FFF2-40B4-BE49-F238E27FC236}">
                <a16:creationId xmlns:a16="http://schemas.microsoft.com/office/drawing/2014/main" id="{D8DA160F-2584-304A-93C8-5B29E75A08EE}"/>
              </a:ext>
            </a:extLst>
          </p:cNvPr>
          <p:cNvSpPr>
            <a:spLocks noGrp="1"/>
          </p:cNvSpPr>
          <p:nvPr/>
        </p:nvSpPr>
        <p:spPr>
          <a:xfrm>
            <a:off x="1249375" y="5526638"/>
            <a:ext cx="4512497" cy="64633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IDC predicts that by 2023, 80% of organisations using the cloud will establish a FinOps function to optimise cloud resources and maximise value. </a:t>
            </a:r>
          </a:p>
        </p:txBody>
      </p:sp>
      <p:sp>
        <p:nvSpPr>
          <p:cNvPr id="25" name="Content Placeholder 4">
            <a:extLst>
              <a:ext uri="{FF2B5EF4-FFF2-40B4-BE49-F238E27FC236}">
                <a16:creationId xmlns:a16="http://schemas.microsoft.com/office/drawing/2014/main" id="{CB8198B7-D2C4-9E41-9B9D-FF42E4C0ABF3}"/>
              </a:ext>
            </a:extLst>
          </p:cNvPr>
          <p:cNvSpPr>
            <a:spLocks noGrp="1"/>
          </p:cNvSpPr>
          <p:nvPr/>
        </p:nvSpPr>
        <p:spPr>
          <a:xfrm>
            <a:off x="7094121" y="5585936"/>
            <a:ext cx="4666135" cy="21544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Find more resources on cloud economics </a:t>
            </a:r>
            <a:r>
              <a:rPr lang="en-gb" sz="1400" dirty="0">
                <a:latin typeface="Segoe UI" panose="020B0502040204020203" pitchFamily="34" charset="0"/>
                <a:hlinkClick r:id="rId4"/>
              </a:rPr>
              <a:t>here</a:t>
            </a:r>
            <a:endParaRPr lang="en-GB" sz="1400" dirty="0">
              <a:latin typeface="Segoe UI" panose="020B0502040204020203" pitchFamily="34" charset="0"/>
            </a:endParaRPr>
          </a:p>
        </p:txBody>
      </p:sp>
      <p:sp>
        <p:nvSpPr>
          <p:cNvPr id="24" name="Content Placeholder 4">
            <a:extLst>
              <a:ext uri="{FF2B5EF4-FFF2-40B4-BE49-F238E27FC236}">
                <a16:creationId xmlns:a16="http://schemas.microsoft.com/office/drawing/2014/main" id="{E9AEEAA1-58B3-044D-A2FB-3DFFA6353C00}"/>
              </a:ext>
            </a:extLst>
          </p:cNvPr>
          <p:cNvSpPr>
            <a:spLocks noGrp="1"/>
          </p:cNvSpPr>
          <p:nvPr/>
        </p:nvSpPr>
        <p:spPr>
          <a:xfrm>
            <a:off x="772127" y="6592097"/>
            <a:ext cx="2876555" cy="12311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800" dirty="0">
                <a:latin typeface="Segoe UI" panose="020B0502040204020203" pitchFamily="34" charset="0"/>
              </a:rPr>
              <a:t>Source: IDC </a:t>
            </a:r>
            <a:r>
              <a:rPr lang="en-gb" sz="800" dirty="0" err="1">
                <a:latin typeface="Segoe UI" panose="020B0502040204020203" pitchFamily="34" charset="0"/>
                <a:hlinkClick r:id="rId5"/>
              </a:rPr>
              <a:t>FutureScape: Worldwide Cloud 2022 Predictions</a:t>
            </a:r>
            <a:endParaRPr lang="en-GB" sz="800" dirty="0">
              <a:latin typeface="Segoe UI" panose="020B0502040204020203" pitchFamily="34" charset="0"/>
            </a:endParaRPr>
          </a:p>
        </p:txBody>
      </p:sp>
      <p:sp>
        <p:nvSpPr>
          <p:cNvPr id="21" name="Content Placeholder 4">
            <a:extLst>
              <a:ext uri="{FF2B5EF4-FFF2-40B4-BE49-F238E27FC236}">
                <a16:creationId xmlns:a16="http://schemas.microsoft.com/office/drawing/2014/main" id="{8F8EF7AB-9098-464D-8BC7-E966C34EF178}"/>
              </a:ext>
              <a:ext uri="{C183D7F6-B498-43B3-948B-1728B52AA6E4}">
                <adec:decorative xmlns:adec="http://schemas.microsoft.com/office/drawing/2017/decorative" val="1"/>
              </a:ext>
            </a:extLst>
          </p:cNvPr>
          <p:cNvSpPr>
            <a:spLocks noGrp="1"/>
          </p:cNvSpPr>
          <p:nvPr/>
        </p:nvSpPr>
        <p:spPr>
          <a:xfrm>
            <a:off x="9809091" y="6530546"/>
            <a:ext cx="691109" cy="1692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100" dirty="0">
                <a:latin typeface="Segoe UI" panose="020B0502040204020203" pitchFamily="34" charset="0"/>
              </a:rPr>
              <a:t>Positives</a:t>
            </a:r>
          </a:p>
        </p:txBody>
      </p:sp>
      <p:sp>
        <p:nvSpPr>
          <p:cNvPr id="22" name="Content Placeholder 4">
            <a:extLst>
              <a:ext uri="{FF2B5EF4-FFF2-40B4-BE49-F238E27FC236}">
                <a16:creationId xmlns:a16="http://schemas.microsoft.com/office/drawing/2014/main" id="{F21EBE27-10A8-3242-89A5-9D1662454830}"/>
              </a:ext>
              <a:ext uri="{C183D7F6-B498-43B3-948B-1728B52AA6E4}">
                <adec:decorative xmlns:adec="http://schemas.microsoft.com/office/drawing/2017/decorative" val="1"/>
              </a:ext>
            </a:extLst>
          </p:cNvPr>
          <p:cNvSpPr>
            <a:spLocks noGrp="1"/>
          </p:cNvSpPr>
          <p:nvPr/>
        </p:nvSpPr>
        <p:spPr>
          <a:xfrm>
            <a:off x="10973462" y="6530546"/>
            <a:ext cx="691109" cy="1692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100" dirty="0">
                <a:latin typeface="Segoe UI" panose="020B0502040204020203" pitchFamily="34" charset="0"/>
              </a:rPr>
              <a:t>Negatives</a:t>
            </a:r>
          </a:p>
        </p:txBody>
      </p:sp>
      <p:pic>
        <p:nvPicPr>
          <p:cNvPr id="11" name="Picture 10">
            <a:extLst>
              <a:ext uri="{FF2B5EF4-FFF2-40B4-BE49-F238E27FC236}">
                <a16:creationId xmlns:a16="http://schemas.microsoft.com/office/drawing/2014/main" id="{8B3E3E75-4A45-FA41-8531-F4654E982217}"/>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6611" y="4481483"/>
            <a:ext cx="219948" cy="219948"/>
          </a:xfrm>
          <a:prstGeom prst="rect">
            <a:avLst/>
          </a:prstGeom>
        </p:spPr>
      </p:pic>
      <p:pic>
        <p:nvPicPr>
          <p:cNvPr id="27" name="Picture 26">
            <a:extLst>
              <a:ext uri="{FF2B5EF4-FFF2-40B4-BE49-F238E27FC236}">
                <a16:creationId xmlns:a16="http://schemas.microsoft.com/office/drawing/2014/main" id="{75A9FDFF-5D08-624C-A848-E2EC9648AA9C}"/>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700292" y="3189409"/>
            <a:ext cx="219948" cy="219948"/>
          </a:xfrm>
          <a:prstGeom prst="rect">
            <a:avLst/>
          </a:prstGeom>
        </p:spPr>
      </p:pic>
      <p:pic>
        <p:nvPicPr>
          <p:cNvPr id="28" name="Picture 27">
            <a:extLst>
              <a:ext uri="{FF2B5EF4-FFF2-40B4-BE49-F238E27FC236}">
                <a16:creationId xmlns:a16="http://schemas.microsoft.com/office/drawing/2014/main" id="{3DD40BC1-AD54-854F-93B8-87C68A929CA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700292" y="3807247"/>
            <a:ext cx="219948" cy="219948"/>
          </a:xfrm>
          <a:prstGeom prst="rect">
            <a:avLst/>
          </a:prstGeom>
        </p:spPr>
      </p:pic>
      <p:pic>
        <p:nvPicPr>
          <p:cNvPr id="29" name="Picture 28">
            <a:extLst>
              <a:ext uri="{FF2B5EF4-FFF2-40B4-BE49-F238E27FC236}">
                <a16:creationId xmlns:a16="http://schemas.microsoft.com/office/drawing/2014/main" id="{393CD675-6881-4144-A8C5-79DEE9BFEC6C}"/>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55689" y="3189409"/>
            <a:ext cx="219948" cy="219948"/>
          </a:xfrm>
          <a:prstGeom prst="rect">
            <a:avLst/>
          </a:prstGeom>
        </p:spPr>
      </p:pic>
      <p:pic>
        <p:nvPicPr>
          <p:cNvPr id="30" name="Picture 29">
            <a:extLst>
              <a:ext uri="{FF2B5EF4-FFF2-40B4-BE49-F238E27FC236}">
                <a16:creationId xmlns:a16="http://schemas.microsoft.com/office/drawing/2014/main" id="{4B18DE07-C290-DA48-BFB1-86BDEEEBC730}"/>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55689" y="4666834"/>
            <a:ext cx="219948" cy="219948"/>
          </a:xfrm>
          <a:prstGeom prst="rect">
            <a:avLst/>
          </a:prstGeom>
        </p:spPr>
      </p:pic>
      <p:pic>
        <p:nvPicPr>
          <p:cNvPr id="31" name="Picture 30">
            <a:extLst>
              <a:ext uri="{FF2B5EF4-FFF2-40B4-BE49-F238E27FC236}">
                <a16:creationId xmlns:a16="http://schemas.microsoft.com/office/drawing/2014/main" id="{EF26652F-5A1F-E443-B1EA-5339AE059866}"/>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55689" y="4048996"/>
            <a:ext cx="219948" cy="219948"/>
          </a:xfrm>
          <a:prstGeom prst="rect">
            <a:avLst/>
          </a:prstGeom>
        </p:spPr>
      </p:pic>
      <p:pic>
        <p:nvPicPr>
          <p:cNvPr id="32" name="Picture 31">
            <a:extLst>
              <a:ext uri="{FF2B5EF4-FFF2-40B4-BE49-F238E27FC236}">
                <a16:creationId xmlns:a16="http://schemas.microsoft.com/office/drawing/2014/main" id="{0578322A-7085-0843-B8D2-3DC2F63D7CB0}"/>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93314" y="6495260"/>
            <a:ext cx="219948" cy="219948"/>
          </a:xfrm>
          <a:prstGeom prst="rect">
            <a:avLst/>
          </a:prstGeom>
        </p:spPr>
      </p:pic>
      <p:pic>
        <p:nvPicPr>
          <p:cNvPr id="33" name="Picture 32">
            <a:extLst>
              <a:ext uri="{FF2B5EF4-FFF2-40B4-BE49-F238E27FC236}">
                <a16:creationId xmlns:a16="http://schemas.microsoft.com/office/drawing/2014/main" id="{1095FCFF-EEE6-464E-B76F-EA25B48D140D}"/>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658952" y="6495260"/>
            <a:ext cx="219948" cy="219948"/>
          </a:xfrm>
          <a:prstGeom prst="rect">
            <a:avLst/>
          </a:prstGeom>
        </p:spPr>
      </p:pic>
    </p:spTree>
    <p:extLst>
      <p:ext uri="{BB962C8B-B14F-4D97-AF65-F5344CB8AC3E}">
        <p14:creationId xmlns:p14="http://schemas.microsoft.com/office/powerpoint/2010/main" val="2006646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14C6-DFB8-224A-B3CC-23B253840EDD}"/>
              </a:ext>
            </a:extLst>
          </p:cNvPr>
          <p:cNvSpPr txBox="1">
            <a:spLocks noGrp="1"/>
          </p:cNvSpPr>
          <p:nvPr>
            <p:ph type="title" idx="4294967295"/>
          </p:nvPr>
        </p:nvSpPr>
        <p:spPr>
          <a:xfrm>
            <a:off x="618706" y="1981539"/>
            <a:ext cx="7326689" cy="22433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rPr>
              <a:t>Cloud migration and modernisation concepts</a:t>
            </a:r>
            <a:endParaRPr kumimoji="0" lang="en-US" sz="20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endParaRPr>
          </a:p>
        </p:txBody>
      </p:sp>
    </p:spTree>
    <p:extLst>
      <p:ext uri="{BB962C8B-B14F-4D97-AF65-F5344CB8AC3E}">
        <p14:creationId xmlns:p14="http://schemas.microsoft.com/office/powerpoint/2010/main" val="1832452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61624E03-AB58-C241-9A17-63268F4CC331}"/>
              </a:ext>
            </a:extLst>
          </p:cNvPr>
          <p:cNvSpPr>
            <a:spLocks noGrp="1"/>
          </p:cNvSpPr>
          <p:nvPr>
            <p:ph type="title" idx="4294967295"/>
          </p:nvPr>
        </p:nvSpPr>
        <p:spPr>
          <a:xfrm>
            <a:off x="618706" y="308750"/>
            <a:ext cx="7923141"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Understanding cloud services: SaaS, IaaS and PaaS </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5" name="Rectangle 4">
            <a:extLst>
              <a:ext uri="{FF2B5EF4-FFF2-40B4-BE49-F238E27FC236}">
                <a16:creationId xmlns:a16="http://schemas.microsoft.com/office/drawing/2014/main" id="{5EC3ED4F-8A88-224C-A9E0-4F108C9AE418}"/>
              </a:ext>
            </a:extLst>
          </p:cNvPr>
          <p:cNvSpPr/>
          <p:nvPr/>
        </p:nvSpPr>
        <p:spPr>
          <a:xfrm>
            <a:off x="618706" y="2100556"/>
            <a:ext cx="3191370" cy="338554"/>
          </a:xfrm>
          <a:prstGeom prst="rect">
            <a:avLst/>
          </a:prstGeom>
        </p:spPr>
        <p:txBody>
          <a:bodyPr wrap="square">
            <a:spAutoFit/>
          </a:bodyPr>
          <a:lstStyle/>
          <a:p>
            <a:r>
              <a:rPr lang="en-gb" sz="1600" b="1" dirty="0">
                <a:solidFill>
                  <a:srgbClr val="0078D4"/>
                </a:solidFill>
                <a:latin typeface="Segoe UI Semibold" panose="020B0502040204020203" pitchFamily="34" charset="0"/>
                <a:cs typeface="Segoe UI Semibold" panose="020B0502040204020203" pitchFamily="34" charset="0"/>
              </a:rPr>
              <a:t>Software-as-a-Service (SaaS)</a:t>
            </a:r>
          </a:p>
        </p:txBody>
      </p:sp>
      <p:sp>
        <p:nvSpPr>
          <p:cNvPr id="3" name="Content Placeholder 4">
            <a:extLst>
              <a:ext uri="{FF2B5EF4-FFF2-40B4-BE49-F238E27FC236}">
                <a16:creationId xmlns:a16="http://schemas.microsoft.com/office/drawing/2014/main" id="{EAB11089-49B4-9F4B-8920-5D7964EE5A02}"/>
              </a:ext>
            </a:extLst>
          </p:cNvPr>
          <p:cNvSpPr>
            <a:spLocks noGrp="1"/>
          </p:cNvSpPr>
          <p:nvPr/>
        </p:nvSpPr>
        <p:spPr>
          <a:xfrm>
            <a:off x="729917" y="2439110"/>
            <a:ext cx="3080160" cy="86177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allows users to connect to and use cloud-based apps over the internet – for example, email, calendars and office tools like Microsoft 365. </a:t>
            </a:r>
          </a:p>
        </p:txBody>
      </p:sp>
      <p:sp>
        <p:nvSpPr>
          <p:cNvPr id="10" name="Text Placeholder 23">
            <a:extLst>
              <a:ext uri="{FF2B5EF4-FFF2-40B4-BE49-F238E27FC236}">
                <a16:creationId xmlns:a16="http://schemas.microsoft.com/office/drawing/2014/main" id="{89B073C7-2756-5546-931D-EBD03C565535}"/>
              </a:ext>
            </a:extLst>
          </p:cNvPr>
          <p:cNvSpPr txBox="1">
            <a:spLocks/>
          </p:cNvSpPr>
          <p:nvPr/>
        </p:nvSpPr>
        <p:spPr>
          <a:xfrm>
            <a:off x="747128" y="3809291"/>
            <a:ext cx="2749475" cy="1692771"/>
          </a:xfrm>
          <a:prstGeom prst="rect">
            <a:avLst/>
          </a:prstGeom>
        </p:spPr>
        <p:txBody>
          <a:bodyPr vert="horz" wrap="square" lIns="0" tIns="0" rIns="0" bIns="0" rtlCol="0">
            <a:spAutoFit/>
          </a:bodyPr>
          <a:lstStyle>
            <a:lvl1pPr marL="285750" marR="0" indent="-285750" algn="l" defTabSz="932742" rtl="0" eaLnBrk="1" fontAlgn="auto" latinLnBrk="0" hangingPunct="1">
              <a:lnSpc>
                <a:spcPts val="1800"/>
              </a:lnSpc>
              <a:spcBef>
                <a:spcPts val="0"/>
              </a:spcBef>
              <a:spcAft>
                <a:spcPts val="0"/>
              </a:spcAft>
              <a:buClrTx/>
              <a:buSzPct val="90000"/>
              <a:buFont typeface="Arial" panose="020B0604020202020204" pitchFamily="34" charset="0"/>
              <a:buChar char="•"/>
              <a:tabLst/>
              <a:defRPr sz="1400" b="0" i="0" kern="1200" spc="0" baseline="0">
                <a:solidFill>
                  <a:srgbClr val="000000"/>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Tx/>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6858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ts val="1765"/>
              </a:lnSpc>
              <a:buNone/>
            </a:pPr>
            <a:r>
              <a:rPr lang="en-gb" b="1" dirty="0">
                <a:solidFill>
                  <a:schemeClr val="tx1"/>
                </a:solidFill>
                <a:latin typeface="Segoe UI Semibold" panose="020B0502040204020203" pitchFamily="34" charset="0"/>
                <a:cs typeface="Segoe UI Semibold" panose="020B0502040204020203" pitchFamily="34" charset="0"/>
              </a:rPr>
              <a:t>Advantages of SaaS</a:t>
            </a:r>
            <a:b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Gain access to sophisticated applications. </a:t>
            </a:r>
          </a:p>
          <a:p>
            <a:pPr marL="165100" indent="-165100" defTabSz="914367">
              <a:lnSpc>
                <a:spcPts val="1565"/>
              </a:lnSpc>
            </a:pP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Easily mobilise your workforce. </a:t>
            </a:r>
          </a:p>
          <a:p>
            <a:pPr marL="0" indent="0" defTabSz="914367">
              <a:lnSpc>
                <a:spcPts val="1565"/>
              </a:lnSpc>
              <a:buNone/>
            </a:pP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Access app data from anywhere.</a:t>
            </a:r>
          </a:p>
        </p:txBody>
      </p:sp>
      <p:sp>
        <p:nvSpPr>
          <p:cNvPr id="7" name="Rectangle 6">
            <a:extLst>
              <a:ext uri="{FF2B5EF4-FFF2-40B4-BE49-F238E27FC236}">
                <a16:creationId xmlns:a16="http://schemas.microsoft.com/office/drawing/2014/main" id="{A552191C-83C2-2840-B42D-8776834AF621}"/>
              </a:ext>
            </a:extLst>
          </p:cNvPr>
          <p:cNvSpPr/>
          <p:nvPr/>
        </p:nvSpPr>
        <p:spPr>
          <a:xfrm>
            <a:off x="4300113" y="2100556"/>
            <a:ext cx="3401243" cy="338554"/>
          </a:xfrm>
          <a:prstGeom prst="rect">
            <a:avLst/>
          </a:prstGeom>
        </p:spPr>
        <p:txBody>
          <a:bodyPr wrap="square">
            <a:spAutoFit/>
          </a:bodyPr>
          <a:lstStyle/>
          <a:p>
            <a:r>
              <a:rPr lang="en-gb" sz="1600" b="1" dirty="0">
                <a:solidFill>
                  <a:srgbClr val="0078D4"/>
                </a:solidFill>
                <a:latin typeface="Segoe UI Semibold" panose="020B0502040204020203" pitchFamily="34" charset="0"/>
                <a:cs typeface="Segoe UI Semibold" panose="020B0502040204020203" pitchFamily="34" charset="0"/>
              </a:rPr>
              <a:t>Infrastructure-as-a-Service (IaaS) </a:t>
            </a:r>
          </a:p>
        </p:txBody>
      </p:sp>
      <p:sp>
        <p:nvSpPr>
          <p:cNvPr id="6" name="Content Placeholder 4">
            <a:extLst>
              <a:ext uri="{FF2B5EF4-FFF2-40B4-BE49-F238E27FC236}">
                <a16:creationId xmlns:a16="http://schemas.microsoft.com/office/drawing/2014/main" id="{64C0B7CA-BDCF-C648-8C7A-E30E34D619B3}"/>
              </a:ext>
            </a:extLst>
          </p:cNvPr>
          <p:cNvSpPr>
            <a:spLocks noGrp="1"/>
          </p:cNvSpPr>
          <p:nvPr/>
        </p:nvSpPr>
        <p:spPr>
          <a:xfrm>
            <a:off x="4411325" y="2439110"/>
            <a:ext cx="3080160" cy="107721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is an instant computing infrastructure, provisioned and managed over the internet. It quickly scales up and down with demand, letting you pay only for what you use.</a:t>
            </a:r>
          </a:p>
        </p:txBody>
      </p:sp>
      <p:sp>
        <p:nvSpPr>
          <p:cNvPr id="11" name="Text Placeholder 23">
            <a:extLst>
              <a:ext uri="{FF2B5EF4-FFF2-40B4-BE49-F238E27FC236}">
                <a16:creationId xmlns:a16="http://schemas.microsoft.com/office/drawing/2014/main" id="{1F7AA945-AAD1-E147-A967-5A23A4EB6BA7}"/>
              </a:ext>
            </a:extLst>
          </p:cNvPr>
          <p:cNvSpPr txBox="1">
            <a:spLocks/>
          </p:cNvSpPr>
          <p:nvPr/>
        </p:nvSpPr>
        <p:spPr>
          <a:xfrm>
            <a:off x="4411325" y="3809291"/>
            <a:ext cx="2999047" cy="2308324"/>
          </a:xfrm>
          <a:prstGeom prst="rect">
            <a:avLst/>
          </a:prstGeom>
        </p:spPr>
        <p:txBody>
          <a:bodyPr vert="horz" wrap="square" lIns="0" tIns="0" rIns="0" bIns="0" rtlCol="0">
            <a:spAutoFit/>
          </a:bodyPr>
          <a:lstStyle>
            <a:lvl1pPr marL="285750" marR="0" indent="-285750" algn="l" defTabSz="932742" rtl="0" eaLnBrk="1" fontAlgn="auto" latinLnBrk="0" hangingPunct="1">
              <a:lnSpc>
                <a:spcPts val="1800"/>
              </a:lnSpc>
              <a:spcBef>
                <a:spcPts val="0"/>
              </a:spcBef>
              <a:spcAft>
                <a:spcPts val="0"/>
              </a:spcAft>
              <a:buClrTx/>
              <a:buSzPct val="90000"/>
              <a:buFont typeface="Arial" panose="020B0604020202020204" pitchFamily="34" charset="0"/>
              <a:buChar char="•"/>
              <a:tabLst/>
              <a:defRPr sz="1400" b="0" i="0" kern="1200" spc="0" baseline="0">
                <a:solidFill>
                  <a:srgbClr val="000000"/>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Tx/>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6858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ts val="1765"/>
              </a:lnSpc>
              <a:buNone/>
            </a:pPr>
            <a:r>
              <a:rPr lang="en-gb" dirty="0">
                <a:solidFill>
                  <a:schemeClr val="tx1"/>
                </a:solidFill>
                <a:latin typeface="Segoe UI Semibold" panose="020B0502040204020203" pitchFamily="34" charset="0"/>
                <a:cs typeface="Segoe UI Semibold" panose="020B0502040204020203" pitchFamily="34" charset="0"/>
              </a:rPr>
              <a:t>Advantages of IaaS</a:t>
            </a:r>
            <a:b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Quickly set up and dismantle test and development environments.</a:t>
            </a:r>
          </a:p>
          <a:p>
            <a:pPr marL="165100" indent="-165100" defTabSz="914367">
              <a:lnSpc>
                <a:spcPts val="1565"/>
              </a:lnSpc>
            </a:pP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Improve business continuity and </a:t>
            </a:r>
            <a:br/>
            <a:r>
              <a:rPr lang="en-gb" dirty="0">
                <a:solidFill>
                  <a:schemeClr val="tx1"/>
                </a:solidFill>
                <a:latin typeface="Segoe UI" panose="020B0502040204020203" pitchFamily="34" charset="0"/>
                <a:cs typeface="Segoe UI" panose="020B0502040204020203" pitchFamily="34" charset="0"/>
              </a:rPr>
              <a:t>disaster recovery.</a:t>
            </a:r>
          </a:p>
          <a:p>
            <a:pPr marL="165100" indent="-165100" defTabSz="914367">
              <a:lnSpc>
                <a:spcPts val="1565"/>
              </a:lnSpc>
            </a:pP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Free up your team to focus on innovation rather than on IT infrastructure. </a:t>
            </a:r>
            <a:endParaRPr lang="en-US" dirty="0">
              <a:solidFill>
                <a:srgbClr val="FFFFFF"/>
              </a:solidFill>
              <a:latin typeface="Segoe UI" panose="020B0502040204020203" pitchFamily="34" charset="0"/>
              <a:cs typeface="Segoe UI" panose="020B0502040204020203" pitchFamily="34" charset="0"/>
            </a:endParaRPr>
          </a:p>
        </p:txBody>
      </p:sp>
      <p:sp>
        <p:nvSpPr>
          <p:cNvPr id="9" name="Rectangle 8">
            <a:extLst>
              <a:ext uri="{FF2B5EF4-FFF2-40B4-BE49-F238E27FC236}">
                <a16:creationId xmlns:a16="http://schemas.microsoft.com/office/drawing/2014/main" id="{EF1A8471-3AF9-EE46-AC07-1042CEAAEFE4}"/>
              </a:ext>
            </a:extLst>
          </p:cNvPr>
          <p:cNvSpPr/>
          <p:nvPr/>
        </p:nvSpPr>
        <p:spPr>
          <a:xfrm>
            <a:off x="8205755" y="2100556"/>
            <a:ext cx="3191370" cy="338554"/>
          </a:xfrm>
          <a:prstGeom prst="rect">
            <a:avLst/>
          </a:prstGeom>
        </p:spPr>
        <p:txBody>
          <a:bodyPr wrap="square">
            <a:spAutoFit/>
          </a:bodyPr>
          <a:lstStyle/>
          <a:p>
            <a:r>
              <a:rPr lang="en-gb" sz="1600" b="1" dirty="0">
                <a:solidFill>
                  <a:srgbClr val="0078D4"/>
                </a:solidFill>
                <a:latin typeface="Segoe UI Semibold" panose="020B0502040204020203" pitchFamily="34" charset="0"/>
                <a:cs typeface="Segoe UI Semibold" panose="020B0502040204020203" pitchFamily="34" charset="0"/>
              </a:rPr>
              <a:t>Platform-as-a-Service (PaaS) </a:t>
            </a:r>
          </a:p>
        </p:txBody>
      </p:sp>
      <p:sp>
        <p:nvSpPr>
          <p:cNvPr id="8" name="Content Placeholder 4">
            <a:extLst>
              <a:ext uri="{FF2B5EF4-FFF2-40B4-BE49-F238E27FC236}">
                <a16:creationId xmlns:a16="http://schemas.microsoft.com/office/drawing/2014/main" id="{19C8CAEB-6F8E-4548-906B-B1D62A45EAEB}"/>
              </a:ext>
            </a:extLst>
          </p:cNvPr>
          <p:cNvSpPr>
            <a:spLocks noGrp="1"/>
          </p:cNvSpPr>
          <p:nvPr/>
        </p:nvSpPr>
        <p:spPr>
          <a:xfrm>
            <a:off x="8316966" y="2439110"/>
            <a:ext cx="3080160" cy="107721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is a complete development and deployment environment in the cloud. Its resources enable you to deliver everything from cloud-based apps to cloud-enabled enterprise applications.</a:t>
            </a:r>
          </a:p>
        </p:txBody>
      </p:sp>
      <p:sp>
        <p:nvSpPr>
          <p:cNvPr id="12" name="Text Placeholder 23">
            <a:extLst>
              <a:ext uri="{FF2B5EF4-FFF2-40B4-BE49-F238E27FC236}">
                <a16:creationId xmlns:a16="http://schemas.microsoft.com/office/drawing/2014/main" id="{3B1C2F69-E600-484D-A1B5-DE76FD39E8FF}"/>
              </a:ext>
            </a:extLst>
          </p:cNvPr>
          <p:cNvSpPr txBox="1">
            <a:spLocks/>
          </p:cNvSpPr>
          <p:nvPr/>
        </p:nvSpPr>
        <p:spPr>
          <a:xfrm>
            <a:off x="8336155" y="3809291"/>
            <a:ext cx="2887165" cy="1897955"/>
          </a:xfrm>
          <a:prstGeom prst="rect">
            <a:avLst/>
          </a:prstGeom>
        </p:spPr>
        <p:txBody>
          <a:bodyPr vert="horz" wrap="square" lIns="0" tIns="0" rIns="0" bIns="0" rtlCol="0">
            <a:spAutoFit/>
          </a:bodyPr>
          <a:lstStyle>
            <a:lvl1pPr marL="285750" marR="0" indent="-285750" algn="l" defTabSz="932742" rtl="0" eaLnBrk="1" fontAlgn="auto" latinLnBrk="0" hangingPunct="1">
              <a:lnSpc>
                <a:spcPts val="1800"/>
              </a:lnSpc>
              <a:spcBef>
                <a:spcPts val="0"/>
              </a:spcBef>
              <a:spcAft>
                <a:spcPts val="0"/>
              </a:spcAft>
              <a:buClrTx/>
              <a:buSzPct val="90000"/>
              <a:buFont typeface="Arial" panose="020B0604020202020204" pitchFamily="34" charset="0"/>
              <a:buChar char="•"/>
              <a:tabLst/>
              <a:defRPr sz="1400" b="0" i="0" kern="1200" spc="0" baseline="0">
                <a:solidFill>
                  <a:srgbClr val="000000"/>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Tx/>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6858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ts val="1765"/>
              </a:lnSpc>
              <a:buNone/>
            </a:pPr>
            <a:r>
              <a:rPr lang="en-gb" b="1" dirty="0">
                <a:solidFill>
                  <a:schemeClr val="tx1"/>
                </a:solidFill>
                <a:latin typeface="Segoe UI Semibold" panose="020B0502040204020203" pitchFamily="34" charset="0"/>
                <a:cs typeface="Segoe UI Semibold" panose="020B0502040204020203" pitchFamily="34" charset="0"/>
              </a:rPr>
              <a:t>Advantages of PaaS</a:t>
            </a:r>
            <a:b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Cut coding time.</a:t>
            </a:r>
          </a:p>
          <a:p>
            <a:pPr marL="165100" indent="-165100" defTabSz="914367">
              <a:lnSpc>
                <a:spcPts val="1565"/>
              </a:lnSpc>
            </a:pP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Develop for multiple platforms, including mobile.</a:t>
            </a:r>
          </a:p>
          <a:p>
            <a:pPr marL="165100" indent="-165100" defTabSz="914367">
              <a:lnSpc>
                <a:spcPts val="1565"/>
              </a:lnSpc>
            </a:pPr>
            <a:endParaRPr lang="en-US" dirty="0">
              <a:solidFill>
                <a:schemeClr val="tx1"/>
              </a:solidFill>
              <a:latin typeface="Segoe UI" panose="020B0502040204020203" pitchFamily="34" charset="0"/>
              <a:cs typeface="Segoe UI" panose="020B0502040204020203" pitchFamily="34" charset="0"/>
            </a:endParaRPr>
          </a:p>
          <a:p>
            <a:pPr marL="165100" indent="-165100" defTabSz="914367">
              <a:lnSpc>
                <a:spcPts val="1565"/>
              </a:lnSpc>
            </a:pPr>
            <a:r>
              <a:rPr lang="en-gb" dirty="0">
                <a:solidFill>
                  <a:schemeClr val="tx1"/>
                </a:solidFill>
                <a:latin typeface="Segoe UI" panose="020B0502040204020203" pitchFamily="34" charset="0"/>
                <a:cs typeface="Segoe UI" panose="020B0502040204020203" pitchFamily="34" charset="0"/>
              </a:rPr>
              <a:t>Support geographically distributed development teams.</a:t>
            </a:r>
          </a:p>
        </p:txBody>
      </p:sp>
      <p:sp>
        <p:nvSpPr>
          <p:cNvPr id="2" name="Rectangle 1">
            <a:extLst>
              <a:ext uri="{FF2B5EF4-FFF2-40B4-BE49-F238E27FC236}">
                <a16:creationId xmlns:a16="http://schemas.microsoft.com/office/drawing/2014/main" id="{D4E185FD-2782-9140-91CD-121B32F9AC52}"/>
              </a:ext>
              <a:ext uri="{C183D7F6-B498-43B3-948B-1728B52AA6E4}">
                <adec:decorative xmlns:adec="http://schemas.microsoft.com/office/drawing/2017/decorative" val="1"/>
              </a:ext>
            </a:extLst>
          </p:cNvPr>
          <p:cNvSpPr/>
          <p:nvPr/>
        </p:nvSpPr>
        <p:spPr>
          <a:xfrm>
            <a:off x="3913404" y="2037766"/>
            <a:ext cx="45719" cy="4235132"/>
          </a:xfrm>
          <a:prstGeom prst="rect">
            <a:avLst/>
          </a:pr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9E1B285-534F-E244-8DDB-73352D186FF8}"/>
              </a:ext>
              <a:ext uri="{C183D7F6-B498-43B3-948B-1728B52AA6E4}">
                <adec:decorative xmlns:adec="http://schemas.microsoft.com/office/drawing/2017/decorative" val="1"/>
              </a:ext>
            </a:extLst>
          </p:cNvPr>
          <p:cNvSpPr/>
          <p:nvPr/>
        </p:nvSpPr>
        <p:spPr>
          <a:xfrm>
            <a:off x="7850404" y="2037766"/>
            <a:ext cx="45719" cy="4235132"/>
          </a:xfrm>
          <a:prstGeom prst="rect">
            <a:avLst/>
          </a:pr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1642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9DA9164-28A5-2A4A-80C8-BCE2AC404A6E}"/>
              </a:ext>
            </a:extLst>
          </p:cNvPr>
          <p:cNvSpPr>
            <a:spLocks noGrp="1"/>
          </p:cNvSpPr>
          <p:nvPr>
            <p:ph type="title" idx="4294967295"/>
          </p:nvPr>
        </p:nvSpPr>
        <p:spPr>
          <a:xfrm>
            <a:off x="618706" y="407604"/>
            <a:ext cx="11293208"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Understanding migration and modernisation</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9864DC17-66EB-2E4D-8BBA-EBEFF0912679}"/>
              </a:ext>
            </a:extLst>
          </p:cNvPr>
          <p:cNvSpPr>
            <a:spLocks noGrp="1"/>
          </p:cNvSpPr>
          <p:nvPr/>
        </p:nvSpPr>
        <p:spPr>
          <a:xfrm>
            <a:off x="618707" y="1115918"/>
            <a:ext cx="9081347"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From the process to the benefits, learn how – and why – IT leaders prioritise moving to the cloud.</a:t>
            </a:r>
          </a:p>
        </p:txBody>
      </p:sp>
      <p:sp>
        <p:nvSpPr>
          <p:cNvPr id="17" name="Rectangle 16" descr="On the left, a chart defining migration and modernisation. On the right, a chart of migration and modernisation decision factors. ">
            <a:extLst>
              <a:ext uri="{FF2B5EF4-FFF2-40B4-BE49-F238E27FC236}">
                <a16:creationId xmlns:a16="http://schemas.microsoft.com/office/drawing/2014/main" id="{52F80B13-31FE-654B-B830-46057080837A}"/>
              </a:ext>
            </a:extLst>
          </p:cNvPr>
          <p:cNvSpPr/>
          <p:nvPr/>
        </p:nvSpPr>
        <p:spPr>
          <a:xfrm>
            <a:off x="0" y="1916711"/>
            <a:ext cx="12192000" cy="48446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5">
            <a:extLst>
              <a:ext uri="{FF2B5EF4-FFF2-40B4-BE49-F238E27FC236}">
                <a16:creationId xmlns:a16="http://schemas.microsoft.com/office/drawing/2014/main" id="{65350CFC-C798-2542-9102-41BB74C6D9E6}"/>
              </a:ext>
              <a:ext uri="{C183D7F6-B498-43B3-948B-1728B52AA6E4}">
                <adec:decorative xmlns:adec="http://schemas.microsoft.com/office/drawing/2017/decorative" val="1"/>
              </a:ext>
            </a:extLst>
          </p:cNvPr>
          <p:cNvSpPr txBox="1">
            <a:spLocks/>
          </p:cNvSpPr>
          <p:nvPr/>
        </p:nvSpPr>
        <p:spPr>
          <a:xfrm>
            <a:off x="532207" y="1916711"/>
            <a:ext cx="4554537" cy="4213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b="1" dirty="0">
                <a:latin typeface="Segoe UI Semibold" panose="020B0502040204020203" pitchFamily="34" charset="0"/>
                <a:cs typeface="Segoe UI Semibold" panose="020B0502040204020203" pitchFamily="34" charset="0"/>
              </a:rPr>
              <a:t>Defining migration and modernisation</a:t>
            </a:r>
          </a:p>
        </p:txBody>
      </p:sp>
      <p:sp>
        <p:nvSpPr>
          <p:cNvPr id="5" name="Text Placeholder 11">
            <a:extLst>
              <a:ext uri="{FF2B5EF4-FFF2-40B4-BE49-F238E27FC236}">
                <a16:creationId xmlns:a16="http://schemas.microsoft.com/office/drawing/2014/main" id="{7AD9BB2C-3038-5F45-92DE-A9DDF54E6845}"/>
              </a:ext>
              <a:ext uri="{C183D7F6-B498-43B3-948B-1728B52AA6E4}">
                <adec:decorative xmlns:adec="http://schemas.microsoft.com/office/drawing/2017/decorative" val="1"/>
              </a:ext>
            </a:extLst>
          </p:cNvPr>
          <p:cNvSpPr txBox="1">
            <a:spLocks/>
          </p:cNvSpPr>
          <p:nvPr/>
        </p:nvSpPr>
        <p:spPr>
          <a:xfrm>
            <a:off x="6506552" y="1924330"/>
            <a:ext cx="5247140" cy="5084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b="1" dirty="0">
                <a:latin typeface="Segoe UI Semibold" panose="020B0502040204020203" pitchFamily="34" charset="0"/>
                <a:cs typeface="Segoe UI Semibold" panose="020B0502040204020203" pitchFamily="34" charset="0"/>
              </a:rPr>
              <a:t>Migration and modernisation decision factors</a:t>
            </a:r>
          </a:p>
        </p:txBody>
      </p:sp>
      <p:sp>
        <p:nvSpPr>
          <p:cNvPr id="6" name="Text Placeholder 7">
            <a:extLst>
              <a:ext uri="{FF2B5EF4-FFF2-40B4-BE49-F238E27FC236}">
                <a16:creationId xmlns:a16="http://schemas.microsoft.com/office/drawing/2014/main" id="{7C22EFC6-B106-C542-8614-D7CABFC3BCA4}"/>
              </a:ext>
              <a:ext uri="{C183D7F6-B498-43B3-948B-1728B52AA6E4}">
                <adec:decorative xmlns:adec="http://schemas.microsoft.com/office/drawing/2017/decorative" val="1"/>
              </a:ext>
            </a:extLst>
          </p:cNvPr>
          <p:cNvSpPr txBox="1">
            <a:spLocks/>
          </p:cNvSpPr>
          <p:nvPr/>
        </p:nvSpPr>
        <p:spPr>
          <a:xfrm>
            <a:off x="3451666" y="2670750"/>
            <a:ext cx="1408752" cy="4672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600" b="1" dirty="0">
                <a:solidFill>
                  <a:srgbClr val="0078D4"/>
                </a:solidFill>
                <a:latin typeface="Segoe UI Semibold" panose="020B0502040204020203" pitchFamily="34" charset="0"/>
                <a:cs typeface="Segoe UI Semibold" panose="020B0502040204020203" pitchFamily="34" charset="0"/>
              </a:rPr>
              <a:t>Migration</a:t>
            </a:r>
          </a:p>
        </p:txBody>
      </p:sp>
      <p:sp>
        <p:nvSpPr>
          <p:cNvPr id="7" name="Text Placeholder 8">
            <a:extLst>
              <a:ext uri="{FF2B5EF4-FFF2-40B4-BE49-F238E27FC236}">
                <a16:creationId xmlns:a16="http://schemas.microsoft.com/office/drawing/2014/main" id="{02BD0F6C-3088-4346-9737-F498B4F2BF2C}"/>
              </a:ext>
              <a:ext uri="{C183D7F6-B498-43B3-948B-1728B52AA6E4}">
                <adec:decorative xmlns:adec="http://schemas.microsoft.com/office/drawing/2017/decorative" val="1"/>
              </a:ext>
            </a:extLst>
          </p:cNvPr>
          <p:cNvSpPr txBox="1">
            <a:spLocks/>
          </p:cNvSpPr>
          <p:nvPr/>
        </p:nvSpPr>
        <p:spPr>
          <a:xfrm>
            <a:off x="3431614" y="2968543"/>
            <a:ext cx="1918709" cy="9648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200" dirty="0">
                <a:latin typeface="Segoe UI" panose="020B0502040204020203" pitchFamily="34" charset="0"/>
                <a:cs typeface="Segoe UI" panose="020B0502040204020203" pitchFamily="34" charset="0"/>
              </a:rPr>
              <a:t>Moving applications, infrastructure and data from a company’s data centre to public cloud infrastructure</a:t>
            </a:r>
          </a:p>
        </p:txBody>
      </p:sp>
      <p:sp>
        <p:nvSpPr>
          <p:cNvPr id="8" name="Text Placeholder 9">
            <a:extLst>
              <a:ext uri="{FF2B5EF4-FFF2-40B4-BE49-F238E27FC236}">
                <a16:creationId xmlns:a16="http://schemas.microsoft.com/office/drawing/2014/main" id="{1FE81806-ED23-8141-BFAF-A7C72021F3A2}"/>
              </a:ext>
              <a:ext uri="{C183D7F6-B498-43B3-948B-1728B52AA6E4}">
                <adec:decorative xmlns:adec="http://schemas.microsoft.com/office/drawing/2017/decorative" val="1"/>
              </a:ext>
            </a:extLst>
          </p:cNvPr>
          <p:cNvSpPr txBox="1">
            <a:spLocks/>
          </p:cNvSpPr>
          <p:nvPr/>
        </p:nvSpPr>
        <p:spPr>
          <a:xfrm>
            <a:off x="3431614" y="4750071"/>
            <a:ext cx="1557088" cy="2366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600" b="1" dirty="0">
                <a:solidFill>
                  <a:srgbClr val="0078D4"/>
                </a:solidFill>
                <a:latin typeface="Segoe UI Semibold" panose="020B0502040204020203" pitchFamily="34" charset="0"/>
                <a:cs typeface="Segoe UI Semibold" panose="020B0502040204020203" pitchFamily="34" charset="0"/>
              </a:rPr>
              <a:t>Modernisation</a:t>
            </a:r>
            <a:endParaRPr lang="en-US" sz="2400" b="1" dirty="0">
              <a:solidFill>
                <a:srgbClr val="0078D4"/>
              </a:solidFill>
              <a:latin typeface="Segoe UI Semibold" panose="020B0502040204020203" pitchFamily="34" charset="0"/>
              <a:cs typeface="Segoe UI Semibold" panose="020B0502040204020203" pitchFamily="34" charset="0"/>
            </a:endParaRPr>
          </a:p>
        </p:txBody>
      </p:sp>
      <p:sp>
        <p:nvSpPr>
          <p:cNvPr id="9" name="Text Placeholder 10">
            <a:extLst>
              <a:ext uri="{FF2B5EF4-FFF2-40B4-BE49-F238E27FC236}">
                <a16:creationId xmlns:a16="http://schemas.microsoft.com/office/drawing/2014/main" id="{E191C937-B4DD-E447-B89C-60526014D01A}"/>
              </a:ext>
              <a:ext uri="{C183D7F6-B498-43B3-948B-1728B52AA6E4}">
                <adec:decorative xmlns:adec="http://schemas.microsoft.com/office/drawing/2017/decorative" val="1"/>
              </a:ext>
            </a:extLst>
          </p:cNvPr>
          <p:cNvSpPr txBox="1">
            <a:spLocks/>
          </p:cNvSpPr>
          <p:nvPr/>
        </p:nvSpPr>
        <p:spPr>
          <a:xfrm>
            <a:off x="3451667" y="5033891"/>
            <a:ext cx="1898656" cy="12139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200" dirty="0">
                <a:latin typeface="Segoe UI" panose="020B0502040204020203" pitchFamily="34" charset="0"/>
                <a:cs typeface="Segoe UI" panose="020B0502040204020203" pitchFamily="34" charset="0"/>
              </a:rPr>
              <a:t>Updating existing applications for newer computing approaches, application frameworks and use of cloud-native technologies</a:t>
            </a:r>
          </a:p>
        </p:txBody>
      </p:sp>
      <p:sp>
        <p:nvSpPr>
          <p:cNvPr id="10" name="Text Placeholder 6">
            <a:extLst>
              <a:ext uri="{FF2B5EF4-FFF2-40B4-BE49-F238E27FC236}">
                <a16:creationId xmlns:a16="http://schemas.microsoft.com/office/drawing/2014/main" id="{3193E571-3548-2E44-82FB-F8426F1A20AC}"/>
              </a:ext>
              <a:ext uri="{C183D7F6-B498-43B3-948B-1728B52AA6E4}">
                <adec:decorative xmlns:adec="http://schemas.microsoft.com/office/drawing/2017/decorative" val="1"/>
              </a:ext>
            </a:extLst>
          </p:cNvPr>
          <p:cNvSpPr txBox="1">
            <a:spLocks/>
          </p:cNvSpPr>
          <p:nvPr/>
        </p:nvSpPr>
        <p:spPr>
          <a:xfrm>
            <a:off x="543885" y="4624793"/>
            <a:ext cx="1430812" cy="7239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400" b="1" dirty="0">
                <a:solidFill>
                  <a:srgbClr val="0078D4"/>
                </a:solidFill>
                <a:latin typeface="Segoe UI Semibold" panose="020B0502040204020203" pitchFamily="34" charset="0"/>
                <a:cs typeface="Segoe UI Semibold" panose="020B0502040204020203" pitchFamily="34" charset="0"/>
              </a:rPr>
              <a:t>On-premises</a:t>
            </a:r>
            <a:r>
              <a:rPr lang="en-gb" sz="1400" dirty="0">
                <a:latin typeface="Segoe UI" panose="020B0502040204020203" pitchFamily="34" charset="0"/>
                <a:cs typeface="Segoe UI" panose="020B0502040204020203" pitchFamily="34" charset="0"/>
              </a:rPr>
              <a:t> </a:t>
            </a:r>
            <a:r>
              <a:rPr lang="en-gb" sz="1200" kern="0" dirty="0">
                <a:latin typeface="Segoe UI" panose="020B0502040204020203" pitchFamily="34" charset="0"/>
                <a:cs typeface="Segoe UI" panose="020B0502040204020203" pitchFamily="34" charset="0"/>
              </a:rPr>
              <a:t>Applications, data, infrastructure</a:t>
            </a:r>
            <a:endParaRPr lang="en-US" sz="1400" kern="0" dirty="0">
              <a:latin typeface="Segoe UI" panose="020B0502040204020203" pitchFamily="34" charset="0"/>
              <a:cs typeface="Segoe UI" panose="020B0502040204020203" pitchFamily="34" charset="0"/>
            </a:endParaRPr>
          </a:p>
        </p:txBody>
      </p:sp>
      <p:sp>
        <p:nvSpPr>
          <p:cNvPr id="11" name="Text Placeholder 12">
            <a:extLst>
              <a:ext uri="{FF2B5EF4-FFF2-40B4-BE49-F238E27FC236}">
                <a16:creationId xmlns:a16="http://schemas.microsoft.com/office/drawing/2014/main" id="{B1730566-F7FF-004F-A589-954F0FF13C33}"/>
              </a:ext>
              <a:ext uri="{C183D7F6-B498-43B3-948B-1728B52AA6E4}">
                <adec:decorative xmlns:adec="http://schemas.microsoft.com/office/drawing/2017/decorative" val="1"/>
              </a:ext>
            </a:extLst>
          </p:cNvPr>
          <p:cNvSpPr txBox="1">
            <a:spLocks/>
          </p:cNvSpPr>
          <p:nvPr/>
        </p:nvSpPr>
        <p:spPr>
          <a:xfrm>
            <a:off x="9189643" y="2361416"/>
            <a:ext cx="2343150" cy="5730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defTabSz="914367">
              <a:lnSpc>
                <a:spcPct val="100000"/>
              </a:lnSpc>
              <a:spcBef>
                <a:spcPts val="200"/>
              </a:spcBef>
              <a:spcAft>
                <a:spcPts val="200"/>
              </a:spcAft>
              <a:buFont typeface="Arial" panose="020B0604020202020204" pitchFamily="34" charset="0"/>
              <a:buNone/>
            </a:pPr>
            <a:r>
              <a:rPr lang="en-gb" sz="1600" b="1" dirty="0">
                <a:solidFill>
                  <a:srgbClr val="0078D4"/>
                </a:solidFill>
                <a:latin typeface="Segoe UI Semibold" panose="020B0502040204020203" pitchFamily="34" charset="0"/>
                <a:ea typeface="Calibri" panose="020F0502020204030204" pitchFamily="34" charset="0"/>
                <a:cs typeface="Segoe UI Semibold" panose="020B0502040204020203" pitchFamily="34" charset="0"/>
              </a:rPr>
              <a:t>What is the immediate business need?</a:t>
            </a:r>
          </a:p>
        </p:txBody>
      </p:sp>
      <p:sp>
        <p:nvSpPr>
          <p:cNvPr id="12" name="Text Placeholder 15">
            <a:extLst>
              <a:ext uri="{FF2B5EF4-FFF2-40B4-BE49-F238E27FC236}">
                <a16:creationId xmlns:a16="http://schemas.microsoft.com/office/drawing/2014/main" id="{5B2BF675-1827-0B45-BFB3-35FD69D77ECA}"/>
              </a:ext>
              <a:ext uri="{C183D7F6-B498-43B3-948B-1728B52AA6E4}">
                <adec:decorative xmlns:adec="http://schemas.microsoft.com/office/drawing/2017/decorative" val="1"/>
              </a:ext>
            </a:extLst>
          </p:cNvPr>
          <p:cNvSpPr txBox="1">
            <a:spLocks/>
          </p:cNvSpPr>
          <p:nvPr/>
        </p:nvSpPr>
        <p:spPr>
          <a:xfrm>
            <a:off x="9189643" y="3794482"/>
            <a:ext cx="2235339" cy="5255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defTabSz="914367">
              <a:lnSpc>
                <a:spcPct val="100000"/>
              </a:lnSpc>
              <a:spcBef>
                <a:spcPts val="200"/>
              </a:spcBef>
              <a:spcAft>
                <a:spcPts val="200"/>
              </a:spcAft>
              <a:buFont typeface="Arial" panose="020B0604020202020204" pitchFamily="34" charset="0"/>
              <a:buNone/>
            </a:pPr>
            <a:r>
              <a:rPr lang="en-gb" sz="1600" b="1">
                <a:solidFill>
                  <a:srgbClr val="0078D4"/>
                </a:solidFill>
                <a:latin typeface="Segoe UI Semibold" panose="020B0502040204020203" pitchFamily="34" charset="0"/>
                <a:ea typeface="Calibri" panose="020F0502020204030204" pitchFamily="34" charset="0"/>
                <a:cs typeface="Segoe UI Semibold" panose="020B0502040204020203" pitchFamily="34" charset="0"/>
              </a:rPr>
              <a:t>How hard is it to do?</a:t>
            </a:r>
            <a:endParaRPr lang="en-US" sz="1600" b="1" dirty="0">
              <a:solidFill>
                <a:srgbClr val="0078D4"/>
              </a:solidFill>
              <a:latin typeface="Segoe UI Semibold" panose="020B0502040204020203" pitchFamily="34" charset="0"/>
              <a:ea typeface="Calibri" panose="020F0502020204030204" pitchFamily="34" charset="0"/>
              <a:cs typeface="Segoe UI Semibold" panose="020B0502040204020203" pitchFamily="34" charset="0"/>
            </a:endParaRPr>
          </a:p>
        </p:txBody>
      </p:sp>
      <p:sp>
        <p:nvSpPr>
          <p:cNvPr id="13" name="Text Placeholder 17">
            <a:extLst>
              <a:ext uri="{FF2B5EF4-FFF2-40B4-BE49-F238E27FC236}">
                <a16:creationId xmlns:a16="http://schemas.microsoft.com/office/drawing/2014/main" id="{CE37FFCA-0B78-3F46-A130-F909316144BC}"/>
              </a:ext>
              <a:ext uri="{C183D7F6-B498-43B3-948B-1728B52AA6E4}">
                <adec:decorative xmlns:adec="http://schemas.microsoft.com/office/drawing/2017/decorative" val="1"/>
              </a:ext>
            </a:extLst>
          </p:cNvPr>
          <p:cNvSpPr txBox="1">
            <a:spLocks/>
          </p:cNvSpPr>
          <p:nvPr/>
        </p:nvSpPr>
        <p:spPr>
          <a:xfrm>
            <a:off x="9189643" y="5209630"/>
            <a:ext cx="2869824" cy="5324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defTabSz="914367">
              <a:lnSpc>
                <a:spcPct val="100000"/>
              </a:lnSpc>
              <a:spcBef>
                <a:spcPts val="200"/>
              </a:spcBef>
              <a:spcAft>
                <a:spcPts val="200"/>
              </a:spcAft>
              <a:buFont typeface="Arial" panose="020B0604020202020204" pitchFamily="34" charset="0"/>
              <a:buNone/>
            </a:pPr>
            <a:r>
              <a:rPr lang="en-gb" sz="1600" b="1" dirty="0">
                <a:solidFill>
                  <a:srgbClr val="0078D4"/>
                </a:solidFill>
                <a:latin typeface="Segoe UI Semibold" panose="020B0502040204020203" pitchFamily="34" charset="0"/>
                <a:ea typeface="Calibri" panose="020F0502020204030204" pitchFamily="34" charset="0"/>
                <a:cs typeface="Segoe UI Semibold" panose="020B0502040204020203" pitchFamily="34" charset="0"/>
              </a:rPr>
              <a:t>Longer-term business goals?</a:t>
            </a:r>
          </a:p>
        </p:txBody>
      </p:sp>
      <p:sp>
        <p:nvSpPr>
          <p:cNvPr id="14" name="Text Placeholder 13">
            <a:extLst>
              <a:ext uri="{FF2B5EF4-FFF2-40B4-BE49-F238E27FC236}">
                <a16:creationId xmlns:a16="http://schemas.microsoft.com/office/drawing/2014/main" id="{4182D3B8-17FB-1D45-B55D-FAC32F0D5147}"/>
              </a:ext>
              <a:ext uri="{C183D7F6-B498-43B3-948B-1728B52AA6E4}">
                <adec:decorative xmlns:adec="http://schemas.microsoft.com/office/drawing/2017/decorative" val="1"/>
              </a:ext>
            </a:extLst>
          </p:cNvPr>
          <p:cNvSpPr txBox="1">
            <a:spLocks/>
          </p:cNvSpPr>
          <p:nvPr/>
        </p:nvSpPr>
        <p:spPr>
          <a:xfrm>
            <a:off x="9189643" y="2955441"/>
            <a:ext cx="2454367" cy="7239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285750" defTabSz="914367">
              <a:lnSpc>
                <a:spcPct val="100000"/>
              </a:lnSpc>
              <a:spcBef>
                <a:spcPts val="200"/>
              </a:spcBef>
              <a:spcAft>
                <a:spcPts val="200"/>
              </a:spcAft>
            </a:pPr>
            <a:r>
              <a:rPr lang="en-gb" sz="1200" kern="0" dirty="0">
                <a:latin typeface="Segoe UI" panose="020B0502040204020203" pitchFamily="34" charset="0"/>
                <a:cs typeface="Segoe UI" panose="020B0502040204020203" pitchFamily="34" charset="0"/>
              </a:rPr>
              <a:t>Cost optimisation, flipping CAPEX to OPEX</a:t>
            </a:r>
          </a:p>
          <a:p>
            <a:pPr marL="285750" lvl="1" indent="-285750" defTabSz="914367">
              <a:lnSpc>
                <a:spcPct val="100000"/>
              </a:lnSpc>
              <a:spcBef>
                <a:spcPts val="200"/>
              </a:spcBef>
              <a:spcAft>
                <a:spcPts val="200"/>
              </a:spcAft>
            </a:pPr>
            <a:r>
              <a:rPr lang="en-gb" sz="1200" kern="0" dirty="0">
                <a:latin typeface="Segoe UI" panose="020B0502040204020203" pitchFamily="34" charset="0"/>
                <a:cs typeface="Segoe UI" panose="020B0502040204020203" pitchFamily="34" charset="0"/>
              </a:rPr>
              <a:t>Realise cloud benefits quickly</a:t>
            </a:r>
          </a:p>
        </p:txBody>
      </p:sp>
      <p:sp>
        <p:nvSpPr>
          <p:cNvPr id="15" name="Text Placeholder 16">
            <a:extLst>
              <a:ext uri="{FF2B5EF4-FFF2-40B4-BE49-F238E27FC236}">
                <a16:creationId xmlns:a16="http://schemas.microsoft.com/office/drawing/2014/main" id="{9EF9E692-890B-D243-8472-4775E962FF8E}"/>
              </a:ext>
              <a:ext uri="{C183D7F6-B498-43B3-948B-1728B52AA6E4}">
                <adec:decorative xmlns:adec="http://schemas.microsoft.com/office/drawing/2017/decorative" val="1"/>
              </a:ext>
            </a:extLst>
          </p:cNvPr>
          <p:cNvSpPr txBox="1">
            <a:spLocks/>
          </p:cNvSpPr>
          <p:nvPr/>
        </p:nvSpPr>
        <p:spPr>
          <a:xfrm>
            <a:off x="9189643" y="4199149"/>
            <a:ext cx="2800350" cy="9442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285750" defTabSz="914367">
              <a:lnSpc>
                <a:spcPct val="100000"/>
              </a:lnSpc>
              <a:spcBef>
                <a:spcPts val="200"/>
              </a:spcBef>
              <a:spcAft>
                <a:spcPts val="200"/>
              </a:spcAft>
            </a:pPr>
            <a:r>
              <a:rPr lang="en-gb" sz="1200" kern="0" dirty="0">
                <a:latin typeface="Segoe UI" panose="020B0502040204020203" pitchFamily="34" charset="0"/>
                <a:cs typeface="Segoe UI" panose="020B0502040204020203" pitchFamily="34" charset="0"/>
              </a:rPr>
              <a:t>Complexity, level of skilling </a:t>
            </a:r>
            <a:br>
              <a:rPr lang="en-gb" sz="1200" kern="0" dirty="0">
                <a:latin typeface="Segoe UI" panose="020B0502040204020203" pitchFamily="34" charset="0"/>
                <a:cs typeface="Segoe UI" panose="020B0502040204020203" pitchFamily="34" charset="0"/>
              </a:rPr>
            </a:br>
            <a:r>
              <a:rPr lang="en-gb" sz="1200" kern="0" dirty="0">
                <a:latin typeface="Segoe UI" panose="020B0502040204020203" pitchFamily="34" charset="0"/>
                <a:cs typeface="Segoe UI" panose="020B0502040204020203" pitchFamily="34" charset="0"/>
              </a:rPr>
              <a:t>or retraining of staff needed</a:t>
            </a:r>
          </a:p>
          <a:p>
            <a:pPr marL="285750" lvl="1" indent="-285750" defTabSz="914367">
              <a:lnSpc>
                <a:spcPct val="100000"/>
              </a:lnSpc>
              <a:spcBef>
                <a:spcPts val="200"/>
              </a:spcBef>
              <a:spcAft>
                <a:spcPts val="200"/>
              </a:spcAft>
            </a:pPr>
            <a:r>
              <a:rPr lang="en-gb" sz="1200" kern="0" dirty="0">
                <a:latin typeface="Segoe UI" panose="020B0502040204020203" pitchFamily="34" charset="0"/>
                <a:cs typeface="Segoe UI" panose="020B0502040204020203" pitchFamily="34" charset="0"/>
              </a:rPr>
              <a:t>Cost and resources needed </a:t>
            </a:r>
            <a:br>
              <a:rPr lang="en-gb" sz="1200" kern="0" dirty="0">
                <a:latin typeface="Segoe UI" panose="020B0502040204020203" pitchFamily="34" charset="0"/>
                <a:cs typeface="Segoe UI" panose="020B0502040204020203" pitchFamily="34" charset="0"/>
              </a:rPr>
            </a:br>
            <a:r>
              <a:rPr lang="en-gb" sz="1200" kern="0" dirty="0">
                <a:latin typeface="Segoe UI" panose="020B0502040204020203" pitchFamily="34" charset="0"/>
                <a:cs typeface="Segoe UI" panose="020B0502040204020203" pitchFamily="34" charset="0"/>
              </a:rPr>
              <a:t>to refactor or rebuild</a:t>
            </a:r>
          </a:p>
        </p:txBody>
      </p:sp>
      <p:sp>
        <p:nvSpPr>
          <p:cNvPr id="16" name="Text Placeholder 18">
            <a:extLst>
              <a:ext uri="{FF2B5EF4-FFF2-40B4-BE49-F238E27FC236}">
                <a16:creationId xmlns:a16="http://schemas.microsoft.com/office/drawing/2014/main" id="{AF1CD9BC-CEDB-E14E-AA5E-077AD2F25EB5}"/>
              </a:ext>
              <a:ext uri="{C183D7F6-B498-43B3-948B-1728B52AA6E4}">
                <adec:decorative xmlns:adec="http://schemas.microsoft.com/office/drawing/2017/decorative" val="1"/>
              </a:ext>
            </a:extLst>
          </p:cNvPr>
          <p:cNvSpPr txBox="1">
            <a:spLocks/>
          </p:cNvSpPr>
          <p:nvPr/>
        </p:nvSpPr>
        <p:spPr>
          <a:xfrm>
            <a:off x="9189643" y="5616116"/>
            <a:ext cx="2628900" cy="5960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285750" defTabSz="914367">
              <a:lnSpc>
                <a:spcPct val="100000"/>
              </a:lnSpc>
              <a:spcBef>
                <a:spcPts val="200"/>
              </a:spcBef>
              <a:spcAft>
                <a:spcPts val="200"/>
              </a:spcAft>
            </a:pPr>
            <a:r>
              <a:rPr lang="en-gb" sz="1200" kern="0" dirty="0">
                <a:latin typeface="Segoe UI" panose="020B0502040204020203" pitchFamily="34" charset="0"/>
                <a:cs typeface="Segoe UI" panose="020B0502040204020203" pitchFamily="34" charset="0"/>
              </a:rPr>
              <a:t>Time to market, app innovation, productivity, app dev velocity</a:t>
            </a:r>
          </a:p>
        </p:txBody>
      </p:sp>
    </p:spTree>
    <p:extLst>
      <p:ext uri="{BB962C8B-B14F-4D97-AF65-F5344CB8AC3E}">
        <p14:creationId xmlns:p14="http://schemas.microsoft.com/office/powerpoint/2010/main" val="3690719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0" name="Title 2">
            <a:extLst>
              <a:ext uri="{FF2B5EF4-FFF2-40B4-BE49-F238E27FC236}">
                <a16:creationId xmlns:a16="http://schemas.microsoft.com/office/drawing/2014/main" id="{099A7522-6704-7D4D-BB18-58C030F1F1CC}"/>
              </a:ext>
            </a:extLst>
          </p:cNvPr>
          <p:cNvSpPr>
            <a:spLocks noGrp="1"/>
          </p:cNvSpPr>
          <p:nvPr>
            <p:ph type="title" idx="4294967295"/>
          </p:nvPr>
        </p:nvSpPr>
        <p:spPr>
          <a:xfrm>
            <a:off x="618706" y="308750"/>
            <a:ext cx="7923141"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Common migration and modernisation projects</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23" name="Content Placeholder 4">
            <a:extLst>
              <a:ext uri="{FF2B5EF4-FFF2-40B4-BE49-F238E27FC236}">
                <a16:creationId xmlns:a16="http://schemas.microsoft.com/office/drawing/2014/main" id="{4A5C8752-2763-6546-A774-D618E2A09A86}"/>
              </a:ext>
            </a:extLst>
          </p:cNvPr>
          <p:cNvSpPr>
            <a:spLocks noGrp="1"/>
          </p:cNvSpPr>
          <p:nvPr/>
        </p:nvSpPr>
        <p:spPr>
          <a:xfrm>
            <a:off x="618707" y="1645967"/>
            <a:ext cx="9969082"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Azure supports a variety of migration and modernisation projects including dev/test environments, backup and data recovery, smaller apps and apps with few dependencies. Here are some examples of common projects:</a:t>
            </a:r>
          </a:p>
        </p:txBody>
      </p:sp>
      <p:grpSp>
        <p:nvGrpSpPr>
          <p:cNvPr id="5" name="Group 4" descr="Visual icons depicting common migration and modernisation projects&#10;">
            <a:extLst>
              <a:ext uri="{FF2B5EF4-FFF2-40B4-BE49-F238E27FC236}">
                <a16:creationId xmlns:a16="http://schemas.microsoft.com/office/drawing/2014/main" id="{A284C830-F41F-C44F-962C-AD76DC0FE3E2}"/>
              </a:ext>
            </a:extLst>
          </p:cNvPr>
          <p:cNvGrpSpPr/>
          <p:nvPr/>
        </p:nvGrpSpPr>
        <p:grpSpPr>
          <a:xfrm>
            <a:off x="4797320" y="3423891"/>
            <a:ext cx="2265982" cy="845684"/>
            <a:chOff x="4825838" y="2600605"/>
            <a:chExt cx="2265982" cy="845684"/>
          </a:xfrm>
        </p:grpSpPr>
        <p:pic>
          <p:nvPicPr>
            <p:cNvPr id="6" name="Graphic 5">
              <a:extLst>
                <a:ext uri="{FF2B5EF4-FFF2-40B4-BE49-F238E27FC236}">
                  <a16:creationId xmlns:a16="http://schemas.microsoft.com/office/drawing/2014/main" id="{82712569-2142-4948-9D85-1E1A9BD782A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25838" y="2600605"/>
              <a:ext cx="699247" cy="699247"/>
            </a:xfrm>
            <a:prstGeom prst="rect">
              <a:avLst/>
            </a:prstGeom>
          </p:spPr>
        </p:pic>
        <p:pic>
          <p:nvPicPr>
            <p:cNvPr id="7" name="Graphic 6">
              <a:extLst>
                <a:ext uri="{FF2B5EF4-FFF2-40B4-BE49-F238E27FC236}">
                  <a16:creationId xmlns:a16="http://schemas.microsoft.com/office/drawing/2014/main" id="{89B91333-BA86-1C41-A1B4-5F96B24D190F}"/>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08580" y="2605194"/>
              <a:ext cx="515751" cy="515751"/>
            </a:xfrm>
            <a:prstGeom prst="rect">
              <a:avLst/>
            </a:prstGeom>
          </p:spPr>
        </p:pic>
        <p:pic>
          <p:nvPicPr>
            <p:cNvPr id="8" name="Graphic 7">
              <a:extLst>
                <a:ext uri="{FF2B5EF4-FFF2-40B4-BE49-F238E27FC236}">
                  <a16:creationId xmlns:a16="http://schemas.microsoft.com/office/drawing/2014/main" id="{75056F19-EAFA-DB4E-83E2-0F64DBE85074}"/>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83578" y="2920669"/>
              <a:ext cx="525619" cy="525620"/>
            </a:xfrm>
            <a:prstGeom prst="rect">
              <a:avLst/>
            </a:prstGeom>
          </p:spPr>
        </p:pic>
        <p:pic>
          <p:nvPicPr>
            <p:cNvPr id="9" name="Graphic 8">
              <a:extLst>
                <a:ext uri="{FF2B5EF4-FFF2-40B4-BE49-F238E27FC236}">
                  <a16:creationId xmlns:a16="http://schemas.microsoft.com/office/drawing/2014/main" id="{D562F990-5D2D-574F-A7A3-2647D9193B3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68444" y="2644522"/>
              <a:ext cx="423376" cy="423376"/>
            </a:xfrm>
            <a:prstGeom prst="rect">
              <a:avLst/>
            </a:prstGeom>
          </p:spPr>
        </p:pic>
      </p:grpSp>
      <p:sp>
        <p:nvSpPr>
          <p:cNvPr id="2" name="Content Placeholder 16">
            <a:extLst>
              <a:ext uri="{FF2B5EF4-FFF2-40B4-BE49-F238E27FC236}">
                <a16:creationId xmlns:a16="http://schemas.microsoft.com/office/drawing/2014/main" id="{EF288485-FFDF-7C49-88E9-CF4F16053C6E}"/>
              </a:ext>
              <a:ext uri="{C183D7F6-B498-43B3-948B-1728B52AA6E4}">
                <adec:decorative xmlns:adec="http://schemas.microsoft.com/office/drawing/2017/decorative" val="1"/>
              </a:ext>
            </a:extLst>
          </p:cNvPr>
          <p:cNvSpPr txBox="1">
            <a:spLocks/>
          </p:cNvSpPr>
          <p:nvPr/>
        </p:nvSpPr>
        <p:spPr>
          <a:xfrm>
            <a:off x="2068377" y="2705699"/>
            <a:ext cx="792703" cy="3119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293" fontAlgn="base">
              <a:spcBef>
                <a:spcPct val="0"/>
              </a:spcBef>
              <a:spcAft>
                <a:spcPct val="0"/>
              </a:spcAft>
              <a:buFont typeface="Arial" panose="020B0604020202020204" pitchFamily="34" charset="0"/>
              <a:buNone/>
              <a:defRPr/>
            </a:pPr>
            <a:r>
              <a:rPr lang="en-gb" sz="1600" b="1" dirty="0">
                <a:solidFill>
                  <a:srgbClr val="50E6FF"/>
                </a:solidFill>
                <a:latin typeface="Segoe UI Semibold" panose="020B0502040204020203" pitchFamily="34" charset="0"/>
                <a:cs typeface="Segoe UI Semibold" panose="020B0502040204020203" pitchFamily="34" charset="0"/>
              </a:rPr>
              <a:t>Apps</a:t>
            </a:r>
            <a:endParaRPr lang="en-US" sz="2400" b="1" dirty="0">
              <a:latin typeface="Segoe UI Semibold" panose="020B0502040204020203" pitchFamily="34" charset="0"/>
              <a:cs typeface="Segoe UI Semibold" panose="020B0502040204020203" pitchFamily="34" charset="0"/>
            </a:endParaRPr>
          </a:p>
        </p:txBody>
      </p:sp>
      <p:pic>
        <p:nvPicPr>
          <p:cNvPr id="3" name="Picture 2">
            <a:extLst>
              <a:ext uri="{FF2B5EF4-FFF2-40B4-BE49-F238E27FC236}">
                <a16:creationId xmlns:a16="http://schemas.microsoft.com/office/drawing/2014/main" id="{4CD9383B-CEC8-544F-9981-255AFC5EB6CD}"/>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2082156" y="3352740"/>
            <a:ext cx="784803" cy="782429"/>
          </a:xfrm>
          <a:prstGeom prst="rect">
            <a:avLst/>
          </a:prstGeom>
        </p:spPr>
      </p:pic>
      <p:sp>
        <p:nvSpPr>
          <p:cNvPr id="4" name="Content Placeholder 18">
            <a:extLst>
              <a:ext uri="{FF2B5EF4-FFF2-40B4-BE49-F238E27FC236}">
                <a16:creationId xmlns:a16="http://schemas.microsoft.com/office/drawing/2014/main" id="{F40E8F78-10D9-5641-A4C0-BEEF86EDA613}"/>
              </a:ext>
              <a:ext uri="{C183D7F6-B498-43B3-948B-1728B52AA6E4}">
                <adec:decorative xmlns:adec="http://schemas.microsoft.com/office/drawing/2017/decorative" val="1"/>
              </a:ext>
            </a:extLst>
          </p:cNvPr>
          <p:cNvSpPr txBox="1">
            <a:spLocks/>
          </p:cNvSpPr>
          <p:nvPr/>
        </p:nvSpPr>
        <p:spPr>
          <a:xfrm>
            <a:off x="5336559" y="2709617"/>
            <a:ext cx="1178390" cy="3304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293" fontAlgn="base">
              <a:spcBef>
                <a:spcPct val="0"/>
              </a:spcBef>
              <a:spcAft>
                <a:spcPct val="0"/>
              </a:spcAft>
              <a:buFont typeface="Arial" panose="020B0604020202020204" pitchFamily="34" charset="0"/>
              <a:buNone/>
              <a:defRPr/>
            </a:pPr>
            <a:r>
              <a:rPr lang="en-gb" sz="1600" b="1" dirty="0">
                <a:solidFill>
                  <a:srgbClr val="50E6FF"/>
                </a:solidFill>
                <a:latin typeface="Segoe UI Semibold" panose="020B0502040204020203" pitchFamily="34" charset="0"/>
                <a:cs typeface="Segoe UI Semibold" panose="020B0502040204020203" pitchFamily="34" charset="0"/>
              </a:rPr>
              <a:t>Databases</a:t>
            </a:r>
            <a:endParaRPr lang="en-US" sz="2400" b="1" dirty="0">
              <a:latin typeface="Segoe UI Semibold" panose="020B0502040204020203" pitchFamily="34" charset="0"/>
              <a:cs typeface="Segoe UI Semibold" panose="020B0502040204020203" pitchFamily="34" charset="0"/>
            </a:endParaRPr>
          </a:p>
        </p:txBody>
      </p:sp>
      <p:sp>
        <p:nvSpPr>
          <p:cNvPr id="10" name="Content Placeholder 19">
            <a:extLst>
              <a:ext uri="{FF2B5EF4-FFF2-40B4-BE49-F238E27FC236}">
                <a16:creationId xmlns:a16="http://schemas.microsoft.com/office/drawing/2014/main" id="{C20A2FB8-994E-3344-9471-F21716A0B914}"/>
              </a:ext>
              <a:ext uri="{C183D7F6-B498-43B3-948B-1728B52AA6E4}">
                <adec:decorative xmlns:adec="http://schemas.microsoft.com/office/drawing/2017/decorative" val="1"/>
              </a:ext>
            </a:extLst>
          </p:cNvPr>
          <p:cNvSpPr txBox="1">
            <a:spLocks/>
          </p:cNvSpPr>
          <p:nvPr/>
        </p:nvSpPr>
        <p:spPr>
          <a:xfrm>
            <a:off x="8632231" y="2703078"/>
            <a:ext cx="932908" cy="2741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293" fontAlgn="base">
              <a:spcBef>
                <a:spcPct val="0"/>
              </a:spcBef>
              <a:spcAft>
                <a:spcPct val="0"/>
              </a:spcAft>
              <a:buFont typeface="Arial" panose="020B0604020202020204" pitchFamily="34" charset="0"/>
              <a:buNone/>
              <a:defRPr/>
            </a:pPr>
            <a:r>
              <a:rPr lang="en-gb" sz="1600" b="1" dirty="0">
                <a:solidFill>
                  <a:srgbClr val="50E6FF"/>
                </a:solidFill>
                <a:latin typeface="Segoe UI Semibold" panose="020B0502040204020203" pitchFamily="34" charset="0"/>
                <a:cs typeface="Segoe UI Semibold" panose="020B0502040204020203" pitchFamily="34" charset="0"/>
              </a:rPr>
              <a:t>Servers</a:t>
            </a:r>
            <a:endParaRPr lang="en-US" sz="2400" b="1" dirty="0">
              <a:latin typeface="Segoe UI Semibold" panose="020B0502040204020203" pitchFamily="34" charset="0"/>
              <a:cs typeface="Segoe UI Semibold" panose="020B0502040204020203" pitchFamily="34" charset="0"/>
            </a:endParaRPr>
          </a:p>
        </p:txBody>
      </p:sp>
      <p:grpSp>
        <p:nvGrpSpPr>
          <p:cNvPr id="11" name="Group 10">
            <a:extLst>
              <a:ext uri="{FF2B5EF4-FFF2-40B4-BE49-F238E27FC236}">
                <a16:creationId xmlns:a16="http://schemas.microsoft.com/office/drawing/2014/main" id="{AFC69792-2C19-2B42-B042-FB49FCB7EF09}"/>
              </a:ext>
              <a:ext uri="{C183D7F6-B498-43B3-948B-1728B52AA6E4}">
                <adec:decorative xmlns:adec="http://schemas.microsoft.com/office/drawing/2017/decorative" val="1"/>
              </a:ext>
            </a:extLst>
          </p:cNvPr>
          <p:cNvGrpSpPr/>
          <p:nvPr/>
        </p:nvGrpSpPr>
        <p:grpSpPr>
          <a:xfrm>
            <a:off x="8241952" y="3311235"/>
            <a:ext cx="1713465" cy="750239"/>
            <a:chOff x="8767390" y="2587644"/>
            <a:chExt cx="1713465" cy="750239"/>
          </a:xfrm>
        </p:grpSpPr>
        <p:pic>
          <p:nvPicPr>
            <p:cNvPr id="12" name="Graphic 11">
              <a:extLst>
                <a:ext uri="{FF2B5EF4-FFF2-40B4-BE49-F238E27FC236}">
                  <a16:creationId xmlns:a16="http://schemas.microsoft.com/office/drawing/2014/main" id="{AC48746B-E281-1843-8E16-8A32E8B16570}"/>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767390" y="2600604"/>
              <a:ext cx="863802" cy="737279"/>
            </a:xfrm>
            <a:prstGeom prst="rect">
              <a:avLst/>
            </a:prstGeom>
          </p:spPr>
        </p:pic>
        <p:pic>
          <p:nvPicPr>
            <p:cNvPr id="13" name="Picture 4">
              <a:extLst>
                <a:ext uri="{FF2B5EF4-FFF2-40B4-BE49-F238E27FC236}">
                  <a16:creationId xmlns:a16="http://schemas.microsoft.com/office/drawing/2014/main" id="{FB9C9F7A-CC82-634C-A282-DA53B12ECCA2}"/>
                </a:ext>
                <a:ext uri="{C183D7F6-B498-43B3-948B-1728B52AA6E4}">
                  <adec:decorative xmlns:adec="http://schemas.microsoft.com/office/drawing/2017/decorative" val="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818060" y="2587644"/>
              <a:ext cx="662795" cy="732108"/>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Content Placeholder 20">
            <a:extLst>
              <a:ext uri="{FF2B5EF4-FFF2-40B4-BE49-F238E27FC236}">
                <a16:creationId xmlns:a16="http://schemas.microsoft.com/office/drawing/2014/main" id="{9C3B7300-9657-3D4C-A9B5-65A9478B2DD1}"/>
              </a:ext>
              <a:ext uri="{C183D7F6-B498-43B3-948B-1728B52AA6E4}">
                <adec:decorative xmlns:adec="http://schemas.microsoft.com/office/drawing/2017/decorative" val="1"/>
              </a:ext>
            </a:extLst>
          </p:cNvPr>
          <p:cNvSpPr txBox="1">
            <a:spLocks/>
          </p:cNvSpPr>
          <p:nvPr/>
        </p:nvSpPr>
        <p:spPr>
          <a:xfrm>
            <a:off x="1958865" y="4581396"/>
            <a:ext cx="1052970" cy="3109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293" fontAlgn="base">
              <a:spcBef>
                <a:spcPct val="0"/>
              </a:spcBef>
              <a:spcAft>
                <a:spcPct val="0"/>
              </a:spcAft>
              <a:buFont typeface="Arial" panose="020B0604020202020204" pitchFamily="34" charset="0"/>
              <a:buNone/>
              <a:defRPr/>
            </a:pPr>
            <a:r>
              <a:rPr lang="en-gb" sz="1600" b="1" dirty="0">
                <a:solidFill>
                  <a:srgbClr val="50E6FF"/>
                </a:solidFill>
                <a:latin typeface="Segoe UI Semibold" panose="020B0502040204020203" pitchFamily="34" charset="0"/>
                <a:cs typeface="Segoe UI Semibold" panose="020B0502040204020203" pitchFamily="34" charset="0"/>
              </a:rPr>
              <a:t>VMware</a:t>
            </a:r>
            <a:endParaRPr lang="en-US" sz="2400" b="1" dirty="0">
              <a:latin typeface="Segoe UI Semibold" panose="020B0502040204020203" pitchFamily="34" charset="0"/>
              <a:cs typeface="Segoe UI Semibold" panose="020B0502040204020203" pitchFamily="34" charset="0"/>
            </a:endParaRPr>
          </a:p>
        </p:txBody>
      </p:sp>
      <p:pic>
        <p:nvPicPr>
          <p:cNvPr id="15" name="Picture 4">
            <a:extLst>
              <a:ext uri="{FF2B5EF4-FFF2-40B4-BE49-F238E27FC236}">
                <a16:creationId xmlns:a16="http://schemas.microsoft.com/office/drawing/2014/main" id="{15E0251E-70CB-0948-9BC4-B7CA692ECDFA}"/>
              </a:ext>
              <a:ext uri="{C183D7F6-B498-43B3-948B-1728B52AA6E4}">
                <adec:decorative xmlns:adec="http://schemas.microsoft.com/office/drawing/2017/decorative" val="1"/>
              </a:ext>
            </a:extLst>
          </p:cNvPr>
          <p:cNvPicPr>
            <a:picLocks noChangeAspect="1" noChangeArrowheads="1"/>
          </p:cNvPicPr>
          <p:nvPr/>
        </p:nvPicPr>
        <p:blipFill>
          <a:blip r:embed="rId16" cstate="print">
            <a:biLevel thresh="25000"/>
            <a:extLst>
              <a:ext uri="{28A0092B-C50C-407E-A947-70E740481C1C}">
                <a14:useLocalDpi xmlns:a14="http://schemas.microsoft.com/office/drawing/2010/main" val="0"/>
              </a:ext>
            </a:extLst>
          </a:blip>
          <a:srcRect/>
          <a:stretch>
            <a:fillRect/>
          </a:stretch>
        </p:blipFill>
        <p:spPr bwMode="auto">
          <a:xfrm>
            <a:off x="1759706" y="5449103"/>
            <a:ext cx="1511529" cy="222236"/>
          </a:xfrm>
          <a:prstGeom prst="rect">
            <a:avLst/>
          </a:prstGeom>
          <a:extLst>
            <a:ext uri="{909E8E84-426E-40DD-AFC4-6F175D3DCCD1}">
              <a14:hiddenFill xmlns:a14="http://schemas.microsoft.com/office/drawing/2010/main">
                <a:solidFill>
                  <a:srgbClr val="FFFFFF"/>
                </a:solidFill>
              </a14:hiddenFill>
            </a:ext>
          </a:extLst>
        </p:spPr>
      </p:pic>
      <p:sp>
        <p:nvSpPr>
          <p:cNvPr id="16" name="Content Placeholder 21">
            <a:extLst>
              <a:ext uri="{FF2B5EF4-FFF2-40B4-BE49-F238E27FC236}">
                <a16:creationId xmlns:a16="http://schemas.microsoft.com/office/drawing/2014/main" id="{3B858D3A-0377-E249-B992-B408F73F5A66}"/>
              </a:ext>
              <a:ext uri="{C183D7F6-B498-43B3-948B-1728B52AA6E4}">
                <adec:decorative xmlns:adec="http://schemas.microsoft.com/office/drawing/2017/decorative" val="1"/>
              </a:ext>
            </a:extLst>
          </p:cNvPr>
          <p:cNvSpPr txBox="1">
            <a:spLocks/>
          </p:cNvSpPr>
          <p:nvPr/>
        </p:nvSpPr>
        <p:spPr>
          <a:xfrm>
            <a:off x="5569631" y="4580979"/>
            <a:ext cx="721360" cy="2277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293" fontAlgn="base">
              <a:spcBef>
                <a:spcPct val="0"/>
              </a:spcBef>
              <a:spcAft>
                <a:spcPct val="0"/>
              </a:spcAft>
              <a:buFont typeface="Arial" panose="020B0604020202020204" pitchFamily="34" charset="0"/>
              <a:buNone/>
              <a:defRPr/>
            </a:pPr>
            <a:r>
              <a:rPr lang="en-gb" sz="1600" b="1" dirty="0">
                <a:solidFill>
                  <a:srgbClr val="50E6FF"/>
                </a:solidFill>
                <a:latin typeface="Segoe UI Semibold" panose="020B0502040204020203" pitchFamily="34" charset="0"/>
                <a:cs typeface="Segoe UI Semibold" panose="020B0502040204020203" pitchFamily="34" charset="0"/>
              </a:rPr>
              <a:t>SAP</a:t>
            </a:r>
            <a:endParaRPr lang="en-US" sz="2400" b="1" dirty="0">
              <a:latin typeface="Segoe UI Semibold" panose="020B0502040204020203" pitchFamily="34" charset="0"/>
              <a:cs typeface="Segoe UI Semibold" panose="020B0502040204020203" pitchFamily="34" charset="0"/>
            </a:endParaRPr>
          </a:p>
        </p:txBody>
      </p:sp>
      <p:pic>
        <p:nvPicPr>
          <p:cNvPr id="17" name="Picture 2">
            <a:extLst>
              <a:ext uri="{FF2B5EF4-FFF2-40B4-BE49-F238E27FC236}">
                <a16:creationId xmlns:a16="http://schemas.microsoft.com/office/drawing/2014/main" id="{0E09B6BE-3E27-1F4C-B65D-1B7659398522}"/>
              </a:ext>
              <a:ext uri="{C183D7F6-B498-43B3-948B-1728B52AA6E4}">
                <adec:decorative xmlns:adec="http://schemas.microsoft.com/office/drawing/2017/decorative" val="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36559" y="5271589"/>
            <a:ext cx="1187504" cy="57726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Content Placeholder 22">
            <a:extLst>
              <a:ext uri="{FF2B5EF4-FFF2-40B4-BE49-F238E27FC236}">
                <a16:creationId xmlns:a16="http://schemas.microsoft.com/office/drawing/2014/main" id="{F9DF8685-CC44-4E4E-A317-078161957450}"/>
              </a:ext>
              <a:ext uri="{C183D7F6-B498-43B3-948B-1728B52AA6E4}">
                <adec:decorative xmlns:adec="http://schemas.microsoft.com/office/drawing/2017/decorative" val="1"/>
              </a:ext>
            </a:extLst>
          </p:cNvPr>
          <p:cNvSpPr txBox="1">
            <a:spLocks/>
          </p:cNvSpPr>
          <p:nvPr/>
        </p:nvSpPr>
        <p:spPr>
          <a:xfrm>
            <a:off x="8766552" y="4580357"/>
            <a:ext cx="721359" cy="3109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293" fontAlgn="base">
              <a:spcBef>
                <a:spcPct val="0"/>
              </a:spcBef>
              <a:spcAft>
                <a:spcPct val="0"/>
              </a:spcAft>
              <a:buFont typeface="Arial" panose="020B0604020202020204" pitchFamily="34" charset="0"/>
              <a:buNone/>
              <a:defRPr/>
            </a:pPr>
            <a:r>
              <a:rPr lang="en-gb" sz="1600" b="1" dirty="0">
                <a:solidFill>
                  <a:srgbClr val="50E6FF"/>
                </a:solidFill>
                <a:latin typeface="Segoe UI Semibold" panose="020B0502040204020203" pitchFamily="34" charset="0"/>
                <a:cs typeface="Segoe UI Semibold" panose="020B0502040204020203" pitchFamily="34" charset="0"/>
              </a:rPr>
              <a:t>VDI</a:t>
            </a:r>
            <a:endParaRPr lang="en-US" sz="2400" b="1" dirty="0">
              <a:latin typeface="Segoe UI Semibold" panose="020B0502040204020203" pitchFamily="34" charset="0"/>
              <a:cs typeface="Segoe UI Semibold" panose="020B0502040204020203" pitchFamily="34" charset="0"/>
            </a:endParaRPr>
          </a:p>
        </p:txBody>
      </p:sp>
      <p:pic>
        <p:nvPicPr>
          <p:cNvPr id="19" name="Picture 18">
            <a:extLst>
              <a:ext uri="{FF2B5EF4-FFF2-40B4-BE49-F238E27FC236}">
                <a16:creationId xmlns:a16="http://schemas.microsoft.com/office/drawing/2014/main" id="{A47A28E9-23B5-814A-981A-78994B3BE03C}"/>
              </a:ext>
              <a:ext uri="{C183D7F6-B498-43B3-948B-1728B52AA6E4}">
                <adec:decorative xmlns:adec="http://schemas.microsoft.com/office/drawing/2017/decorative" val="1"/>
              </a:ext>
            </a:extLst>
          </p:cNvPr>
          <p:cNvPicPr>
            <a:picLocks noChangeAspect="1"/>
          </p:cNvPicPr>
          <p:nvPr/>
        </p:nvPicPr>
        <p:blipFill>
          <a:blip r:embed="rId18"/>
          <a:stretch>
            <a:fillRect/>
          </a:stretch>
        </p:blipFill>
        <p:spPr>
          <a:xfrm>
            <a:off x="8589387" y="5167226"/>
            <a:ext cx="1075691" cy="785990"/>
          </a:xfrm>
          <a:prstGeom prst="rect">
            <a:avLst/>
          </a:prstGeom>
        </p:spPr>
      </p:pic>
    </p:spTree>
    <p:extLst>
      <p:ext uri="{BB962C8B-B14F-4D97-AF65-F5344CB8AC3E}">
        <p14:creationId xmlns:p14="http://schemas.microsoft.com/office/powerpoint/2010/main" val="740211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7E3C3F2-A5FD-344A-8AFC-E63173A27895}"/>
              </a:ext>
            </a:extLst>
          </p:cNvPr>
          <p:cNvSpPr>
            <a:spLocks noGrp="1"/>
          </p:cNvSpPr>
          <p:nvPr>
            <p:ph type="title" idx="4294967295"/>
          </p:nvPr>
        </p:nvSpPr>
        <p:spPr>
          <a:xfrm>
            <a:off x="618706" y="407604"/>
            <a:ext cx="7437899"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Prioritising cloud migration and modernisation</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57D2709D-53A7-8B48-8EF8-3B66DAA9B59A}"/>
              </a:ext>
            </a:extLst>
          </p:cNvPr>
          <p:cNvSpPr>
            <a:spLocks noGrp="1"/>
          </p:cNvSpPr>
          <p:nvPr/>
        </p:nvSpPr>
        <p:spPr>
          <a:xfrm>
            <a:off x="618707" y="1730346"/>
            <a:ext cx="11102238"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Where does your cloud adoption journey begin?</a:t>
            </a:r>
            <a:br/>
            <a:r>
              <a:rPr lang="en-gb" sz="1600" dirty="0">
                <a:latin typeface="Segoe UI" panose="020B0502040204020203" pitchFamily="34" charset="0"/>
              </a:rPr>
              <a:t>Depending if your apps are new, existing or not custom-built, there’s different options for how you proceed forward.</a:t>
            </a:r>
          </a:p>
        </p:txBody>
      </p:sp>
      <p:sp>
        <p:nvSpPr>
          <p:cNvPr id="21" name="Rectangle 20" descr="A chart that depicts the benefits of migrating first and modernising later or modernising during the move. ">
            <a:extLst>
              <a:ext uri="{FF2B5EF4-FFF2-40B4-BE49-F238E27FC236}">
                <a16:creationId xmlns:a16="http://schemas.microsoft.com/office/drawing/2014/main" id="{350DB9D3-2DD3-4E4F-9742-0702DF895E18}"/>
              </a:ext>
            </a:extLst>
          </p:cNvPr>
          <p:cNvSpPr/>
          <p:nvPr/>
        </p:nvSpPr>
        <p:spPr>
          <a:xfrm>
            <a:off x="0" y="2508926"/>
            <a:ext cx="12192000" cy="44110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78E048F-E224-B546-A057-0A924ECB7A36}"/>
              </a:ext>
              <a:ext uri="{C183D7F6-B498-43B3-948B-1728B52AA6E4}">
                <adec:decorative xmlns:adec="http://schemas.microsoft.com/office/drawing/2017/decorative" val="1"/>
              </a:ext>
            </a:extLst>
          </p:cNvPr>
          <p:cNvSpPr txBox="1">
            <a:spLocks/>
          </p:cNvSpPr>
          <p:nvPr/>
        </p:nvSpPr>
        <p:spPr>
          <a:xfrm>
            <a:off x="1398665" y="2670380"/>
            <a:ext cx="1683717" cy="339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600" kern="0" dirty="0">
                <a:latin typeface="Segoe UI Semibold"/>
              </a:rPr>
              <a:t>New apps</a:t>
            </a:r>
          </a:p>
        </p:txBody>
      </p:sp>
      <p:sp>
        <p:nvSpPr>
          <p:cNvPr id="5" name="Text Placeholder 13">
            <a:extLst>
              <a:ext uri="{FF2B5EF4-FFF2-40B4-BE49-F238E27FC236}">
                <a16:creationId xmlns:a16="http://schemas.microsoft.com/office/drawing/2014/main" id="{56C55ACA-DF66-C845-A493-E39CA240A589}"/>
              </a:ext>
              <a:ext uri="{C183D7F6-B498-43B3-948B-1728B52AA6E4}">
                <adec:decorative xmlns:adec="http://schemas.microsoft.com/office/drawing/2017/decorative" val="1"/>
              </a:ext>
            </a:extLst>
          </p:cNvPr>
          <p:cNvSpPr txBox="1">
            <a:spLocks/>
          </p:cNvSpPr>
          <p:nvPr/>
        </p:nvSpPr>
        <p:spPr>
          <a:xfrm>
            <a:off x="6053205" y="2684276"/>
            <a:ext cx="2129538" cy="339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600" kern="0" dirty="0">
                <a:latin typeface="Segoe UI Semibold"/>
              </a:rPr>
              <a:t>Existing apps</a:t>
            </a:r>
          </a:p>
        </p:txBody>
      </p:sp>
      <p:sp>
        <p:nvSpPr>
          <p:cNvPr id="6" name="Text Placeholder 24">
            <a:extLst>
              <a:ext uri="{FF2B5EF4-FFF2-40B4-BE49-F238E27FC236}">
                <a16:creationId xmlns:a16="http://schemas.microsoft.com/office/drawing/2014/main" id="{39C4FE5E-D943-254B-8EF1-A7E0B048057D}"/>
              </a:ext>
              <a:ext uri="{C183D7F6-B498-43B3-948B-1728B52AA6E4}">
                <adec:decorative xmlns:adec="http://schemas.microsoft.com/office/drawing/2017/decorative" val="1"/>
              </a:ext>
            </a:extLst>
          </p:cNvPr>
          <p:cNvSpPr txBox="1">
            <a:spLocks/>
          </p:cNvSpPr>
          <p:nvPr/>
        </p:nvSpPr>
        <p:spPr>
          <a:xfrm>
            <a:off x="1885062" y="4714433"/>
            <a:ext cx="3615127" cy="339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600" kern="0" dirty="0">
                <a:solidFill>
                  <a:schemeClr val="bg1"/>
                </a:solidFill>
                <a:latin typeface="Segoe UI Semibold"/>
              </a:rPr>
              <a:t> Migrate first, modernise later</a:t>
            </a:r>
            <a:endParaRPr lang="en-US" sz="1600" dirty="0">
              <a:solidFill>
                <a:schemeClr val="bg1"/>
              </a:solidFill>
            </a:endParaRPr>
          </a:p>
        </p:txBody>
      </p:sp>
      <p:sp>
        <p:nvSpPr>
          <p:cNvPr id="7" name="Text Placeholder 28">
            <a:extLst>
              <a:ext uri="{FF2B5EF4-FFF2-40B4-BE49-F238E27FC236}">
                <a16:creationId xmlns:a16="http://schemas.microsoft.com/office/drawing/2014/main" id="{3554712F-D4A4-8149-9DA0-1933E9DC49F3}"/>
              </a:ext>
              <a:ext uri="{C183D7F6-B498-43B3-948B-1728B52AA6E4}">
                <adec:decorative xmlns:adec="http://schemas.microsoft.com/office/drawing/2017/decorative" val="1"/>
              </a:ext>
            </a:extLst>
          </p:cNvPr>
          <p:cNvSpPr txBox="1">
            <a:spLocks/>
          </p:cNvSpPr>
          <p:nvPr/>
        </p:nvSpPr>
        <p:spPr>
          <a:xfrm>
            <a:off x="6877938" y="4690003"/>
            <a:ext cx="3429000" cy="339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457200">
              <a:lnSpc>
                <a:spcPct val="100000"/>
              </a:lnSpc>
              <a:spcBef>
                <a:spcPts val="0"/>
              </a:spcBef>
              <a:buFont typeface="Arial" panose="020B0604020202020204" pitchFamily="34" charset="0"/>
              <a:buNone/>
              <a:defRPr/>
            </a:pPr>
            <a:r>
              <a:rPr lang="en-gb" sz="1600" kern="0" dirty="0">
                <a:solidFill>
                  <a:schemeClr val="bg1"/>
                </a:solidFill>
                <a:latin typeface="Segoe UI Semibold"/>
              </a:rPr>
              <a:t>Modernise during the move</a:t>
            </a:r>
          </a:p>
        </p:txBody>
      </p:sp>
      <p:sp>
        <p:nvSpPr>
          <p:cNvPr id="8" name="Text Placeholder 5">
            <a:extLst>
              <a:ext uri="{FF2B5EF4-FFF2-40B4-BE49-F238E27FC236}">
                <a16:creationId xmlns:a16="http://schemas.microsoft.com/office/drawing/2014/main" id="{77500383-5021-204A-935D-D49FA5EB6C27}"/>
              </a:ext>
              <a:ext uri="{C183D7F6-B498-43B3-948B-1728B52AA6E4}">
                <adec:decorative xmlns:adec="http://schemas.microsoft.com/office/drawing/2017/decorative" val="1"/>
              </a:ext>
            </a:extLst>
          </p:cNvPr>
          <p:cNvSpPr txBox="1">
            <a:spLocks/>
          </p:cNvSpPr>
          <p:nvPr/>
        </p:nvSpPr>
        <p:spPr>
          <a:xfrm>
            <a:off x="1390823" y="3163521"/>
            <a:ext cx="1638956" cy="348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400" b="1" kern="0">
                <a:latin typeface="Segoe UI Semibold" panose="020B0502040204020203" pitchFamily="34" charset="0"/>
                <a:cs typeface="Segoe UI Semibold" panose="020B0502040204020203" pitchFamily="34" charset="0"/>
              </a:rPr>
              <a:t>Cloud native</a:t>
            </a:r>
            <a:endParaRPr lang="en-US" sz="1400" b="1" kern="0" dirty="0">
              <a:latin typeface="Segoe UI Semibold" panose="020B0502040204020203" pitchFamily="34" charset="0"/>
              <a:cs typeface="Segoe UI Semibold" panose="020B0502040204020203" pitchFamily="34" charset="0"/>
            </a:endParaRPr>
          </a:p>
        </p:txBody>
      </p:sp>
      <p:sp>
        <p:nvSpPr>
          <p:cNvPr id="9" name="Text Placeholder 14">
            <a:extLst>
              <a:ext uri="{FF2B5EF4-FFF2-40B4-BE49-F238E27FC236}">
                <a16:creationId xmlns:a16="http://schemas.microsoft.com/office/drawing/2014/main" id="{7EF5D485-7897-D843-93B5-F412697C7B7C}"/>
              </a:ext>
              <a:ext uri="{C183D7F6-B498-43B3-948B-1728B52AA6E4}">
                <adec:decorative xmlns:adec="http://schemas.microsoft.com/office/drawing/2017/decorative" val="1"/>
              </a:ext>
            </a:extLst>
          </p:cNvPr>
          <p:cNvSpPr txBox="1">
            <a:spLocks/>
          </p:cNvSpPr>
          <p:nvPr/>
        </p:nvSpPr>
        <p:spPr>
          <a:xfrm>
            <a:off x="3958554" y="3163521"/>
            <a:ext cx="1052755" cy="3481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400" b="1" kern="0">
                <a:latin typeface="Segoe UI Semibold" panose="020B0502040204020203" pitchFamily="34" charset="0"/>
                <a:cs typeface="Segoe UI Semibold" panose="020B0502040204020203" pitchFamily="34" charset="0"/>
              </a:rPr>
              <a:t>Migrate</a:t>
            </a:r>
            <a:endParaRPr lang="en-US" sz="2400" b="1" dirty="0">
              <a:latin typeface="Segoe UI Semibold" panose="020B0502040204020203" pitchFamily="34" charset="0"/>
              <a:cs typeface="Segoe UI Semibold" panose="020B0502040204020203" pitchFamily="34" charset="0"/>
            </a:endParaRPr>
          </a:p>
        </p:txBody>
      </p:sp>
      <p:sp>
        <p:nvSpPr>
          <p:cNvPr id="10" name="Text Placeholder 17">
            <a:extLst>
              <a:ext uri="{FF2B5EF4-FFF2-40B4-BE49-F238E27FC236}">
                <a16:creationId xmlns:a16="http://schemas.microsoft.com/office/drawing/2014/main" id="{05CF3CFF-A43D-3142-800E-2E0C5307EA1A}"/>
              </a:ext>
              <a:ext uri="{C183D7F6-B498-43B3-948B-1728B52AA6E4}">
                <adec:decorative xmlns:adec="http://schemas.microsoft.com/office/drawing/2017/decorative" val="1"/>
              </a:ext>
            </a:extLst>
          </p:cNvPr>
          <p:cNvSpPr txBox="1">
            <a:spLocks/>
          </p:cNvSpPr>
          <p:nvPr/>
        </p:nvSpPr>
        <p:spPr>
          <a:xfrm>
            <a:off x="5332970" y="3167900"/>
            <a:ext cx="1526059" cy="5081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400" b="1" kern="0">
                <a:latin typeface="Segoe UI Semibold" panose="020B0502040204020203" pitchFamily="34" charset="0"/>
                <a:cs typeface="Segoe UI Semibold" panose="020B0502040204020203" pitchFamily="34" charset="0"/>
              </a:rPr>
              <a:t>Modernise</a:t>
            </a:r>
            <a:endParaRPr lang="en-US" sz="2400" b="1" dirty="0">
              <a:latin typeface="Segoe UI Semibold" panose="020B0502040204020203" pitchFamily="34" charset="0"/>
              <a:cs typeface="Segoe UI Semibold" panose="020B0502040204020203" pitchFamily="34" charset="0"/>
            </a:endParaRPr>
          </a:p>
        </p:txBody>
      </p:sp>
      <p:sp>
        <p:nvSpPr>
          <p:cNvPr id="11" name="Text Placeholder 20">
            <a:extLst>
              <a:ext uri="{FF2B5EF4-FFF2-40B4-BE49-F238E27FC236}">
                <a16:creationId xmlns:a16="http://schemas.microsoft.com/office/drawing/2014/main" id="{92892382-FA53-174E-8C64-A67542ADB38E}"/>
              </a:ext>
              <a:ext uri="{C183D7F6-B498-43B3-948B-1728B52AA6E4}">
                <adec:decorative xmlns:adec="http://schemas.microsoft.com/office/drawing/2017/decorative" val="1"/>
              </a:ext>
            </a:extLst>
          </p:cNvPr>
          <p:cNvSpPr txBox="1">
            <a:spLocks/>
          </p:cNvSpPr>
          <p:nvPr/>
        </p:nvSpPr>
        <p:spPr>
          <a:xfrm>
            <a:off x="7429375" y="3161338"/>
            <a:ext cx="1013562" cy="3655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400" b="1" kern="0">
                <a:latin typeface="Segoe UI Semibold" panose="020B0502040204020203" pitchFamily="34" charset="0"/>
                <a:cs typeface="Segoe UI Semibold" panose="020B0502040204020203" pitchFamily="34" charset="0"/>
              </a:rPr>
              <a:t>Replace</a:t>
            </a:r>
            <a:endParaRPr lang="en-US" sz="2400" b="1" dirty="0">
              <a:latin typeface="Segoe UI Semibold" panose="020B0502040204020203" pitchFamily="34" charset="0"/>
              <a:cs typeface="Segoe UI Semibold" panose="020B0502040204020203" pitchFamily="34" charset="0"/>
            </a:endParaRPr>
          </a:p>
        </p:txBody>
      </p:sp>
      <p:sp>
        <p:nvSpPr>
          <p:cNvPr id="12" name="Text Placeholder 22">
            <a:extLst>
              <a:ext uri="{FF2B5EF4-FFF2-40B4-BE49-F238E27FC236}">
                <a16:creationId xmlns:a16="http://schemas.microsoft.com/office/drawing/2014/main" id="{7F1F4BF5-EB14-024F-AF52-FA30ADB7F353}"/>
              </a:ext>
              <a:ext uri="{C183D7F6-B498-43B3-948B-1728B52AA6E4}">
                <adec:decorative xmlns:adec="http://schemas.microsoft.com/office/drawing/2017/decorative" val="1"/>
              </a:ext>
            </a:extLst>
          </p:cNvPr>
          <p:cNvSpPr txBox="1">
            <a:spLocks/>
          </p:cNvSpPr>
          <p:nvPr/>
        </p:nvSpPr>
        <p:spPr>
          <a:xfrm>
            <a:off x="8881197" y="3168643"/>
            <a:ext cx="1695348" cy="3655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400" b="1" kern="0" dirty="0">
                <a:latin typeface="Segoe UI Semibold" panose="020B0502040204020203" pitchFamily="34" charset="0"/>
                <a:cs typeface="Segoe UI Semibold" panose="020B0502040204020203" pitchFamily="34" charset="0"/>
              </a:rPr>
              <a:t>Stay on-prem</a:t>
            </a:r>
          </a:p>
        </p:txBody>
      </p:sp>
      <p:sp>
        <p:nvSpPr>
          <p:cNvPr id="13" name="Text Placeholder 12">
            <a:extLst>
              <a:ext uri="{FF2B5EF4-FFF2-40B4-BE49-F238E27FC236}">
                <a16:creationId xmlns:a16="http://schemas.microsoft.com/office/drawing/2014/main" id="{A50AA3C3-D1CD-A047-AEC5-97120EE75586}"/>
              </a:ext>
              <a:ext uri="{C183D7F6-B498-43B3-948B-1728B52AA6E4}">
                <adec:decorative xmlns:adec="http://schemas.microsoft.com/office/drawing/2017/decorative" val="1"/>
              </a:ext>
            </a:extLst>
          </p:cNvPr>
          <p:cNvSpPr txBox="1">
            <a:spLocks/>
          </p:cNvSpPr>
          <p:nvPr/>
        </p:nvSpPr>
        <p:spPr>
          <a:xfrm>
            <a:off x="1675694" y="3463657"/>
            <a:ext cx="1052755" cy="3649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200" kern="0">
                <a:latin typeface="Segoe UI" panose="020B0502040204020203" pitchFamily="34" charset="0"/>
                <a:cs typeface="Segoe UI" panose="020B0502040204020203" pitchFamily="34" charset="0"/>
              </a:rPr>
              <a:t>Serverless</a:t>
            </a:r>
            <a:endParaRPr lang="en-US" dirty="0">
              <a:latin typeface="Segoe UI" panose="020B0502040204020203" pitchFamily="34" charset="0"/>
              <a:cs typeface="Segoe UI" panose="020B0502040204020203" pitchFamily="34" charset="0"/>
            </a:endParaRPr>
          </a:p>
        </p:txBody>
      </p:sp>
      <p:sp>
        <p:nvSpPr>
          <p:cNvPr id="14" name="Text Placeholder 45">
            <a:extLst>
              <a:ext uri="{FF2B5EF4-FFF2-40B4-BE49-F238E27FC236}">
                <a16:creationId xmlns:a16="http://schemas.microsoft.com/office/drawing/2014/main" id="{8A72BA0F-B8BF-C243-BD64-9BEB246FFDE7}"/>
              </a:ext>
              <a:ext uri="{C183D7F6-B498-43B3-948B-1728B52AA6E4}">
                <adec:decorative xmlns:adec="http://schemas.microsoft.com/office/drawing/2017/decorative" val="1"/>
              </a:ext>
            </a:extLst>
          </p:cNvPr>
          <p:cNvSpPr txBox="1">
            <a:spLocks/>
          </p:cNvSpPr>
          <p:nvPr/>
        </p:nvSpPr>
        <p:spPr bwMode="auto">
          <a:xfrm>
            <a:off x="3865265" y="3534736"/>
            <a:ext cx="1086015" cy="166199"/>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Tx/>
              <a:buNone/>
              <a:defRPr/>
            </a:pPr>
            <a:r>
              <a:rPr lang="en-gb" sz="1200" kern="0">
                <a:latin typeface="Segoe UI" panose="020B0502040204020203" pitchFamily="34" charset="0"/>
                <a:cs typeface="Segoe UI" panose="020B0502040204020203" pitchFamily="34" charset="0"/>
              </a:rPr>
              <a:t>IaaS</a:t>
            </a:r>
            <a:endParaRPr lang="en-US" sz="1200" kern="0" dirty="0">
              <a:latin typeface="Segoe UI" panose="020B0502040204020203" pitchFamily="34" charset="0"/>
              <a:cs typeface="Segoe UI" panose="020B0502040204020203" pitchFamily="34" charset="0"/>
            </a:endParaRPr>
          </a:p>
        </p:txBody>
      </p:sp>
      <p:sp>
        <p:nvSpPr>
          <p:cNvPr id="15" name="Text Placeholder 19">
            <a:extLst>
              <a:ext uri="{FF2B5EF4-FFF2-40B4-BE49-F238E27FC236}">
                <a16:creationId xmlns:a16="http://schemas.microsoft.com/office/drawing/2014/main" id="{C83FAF82-AB23-D040-A1FC-1512B95BB9FC}"/>
              </a:ext>
              <a:ext uri="{C183D7F6-B498-43B3-948B-1728B52AA6E4}">
                <adec:decorative xmlns:adec="http://schemas.microsoft.com/office/drawing/2017/decorative" val="1"/>
              </a:ext>
            </a:extLst>
          </p:cNvPr>
          <p:cNvSpPr txBox="1">
            <a:spLocks/>
          </p:cNvSpPr>
          <p:nvPr/>
        </p:nvSpPr>
        <p:spPr>
          <a:xfrm>
            <a:off x="4990571" y="3486087"/>
            <a:ext cx="2228850" cy="292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200" kern="0" dirty="0">
                <a:latin typeface="Segoe UI" panose="020B0502040204020203" pitchFamily="34" charset="0"/>
                <a:cs typeface="Segoe UI" panose="020B0502040204020203" pitchFamily="34" charset="0"/>
              </a:rPr>
              <a:t>Containers  |  PaaS</a:t>
            </a:r>
            <a:endParaRPr lang="en-US" sz="1200" kern="0" dirty="0">
              <a:latin typeface="Segoe UI" panose="020B0502040204020203" pitchFamily="34" charset="0"/>
              <a:cs typeface="Segoe UI" panose="020B0502040204020203" pitchFamily="34" charset="0"/>
            </a:endParaRPr>
          </a:p>
        </p:txBody>
      </p:sp>
      <p:sp>
        <p:nvSpPr>
          <p:cNvPr id="16" name="Text Placeholder 21">
            <a:extLst>
              <a:ext uri="{FF2B5EF4-FFF2-40B4-BE49-F238E27FC236}">
                <a16:creationId xmlns:a16="http://schemas.microsoft.com/office/drawing/2014/main" id="{64FB5C65-FE4B-8640-9C79-D4907962AE8E}"/>
              </a:ext>
              <a:ext uri="{C183D7F6-B498-43B3-948B-1728B52AA6E4}">
                <adec:decorative xmlns:adec="http://schemas.microsoft.com/office/drawing/2017/decorative" val="1"/>
              </a:ext>
            </a:extLst>
          </p:cNvPr>
          <p:cNvSpPr txBox="1">
            <a:spLocks/>
          </p:cNvSpPr>
          <p:nvPr/>
        </p:nvSpPr>
        <p:spPr>
          <a:xfrm>
            <a:off x="7090324" y="3469128"/>
            <a:ext cx="1729763" cy="449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200" kern="0" dirty="0">
                <a:latin typeface="Segoe UI" panose="020B0502040204020203" pitchFamily="34" charset="0"/>
                <a:cs typeface="Segoe UI" panose="020B0502040204020203" pitchFamily="34" charset="0"/>
              </a:rPr>
              <a:t>SaaS  |  Low code</a:t>
            </a:r>
            <a:endParaRPr lang="en-US" sz="1200" kern="0" dirty="0">
              <a:latin typeface="Segoe UI" panose="020B0502040204020203" pitchFamily="34" charset="0"/>
              <a:cs typeface="Segoe UI" panose="020B0502040204020203" pitchFamily="34" charset="0"/>
            </a:endParaRPr>
          </a:p>
        </p:txBody>
      </p:sp>
      <p:sp>
        <p:nvSpPr>
          <p:cNvPr id="17" name="Text Placeholder 23">
            <a:extLst>
              <a:ext uri="{FF2B5EF4-FFF2-40B4-BE49-F238E27FC236}">
                <a16:creationId xmlns:a16="http://schemas.microsoft.com/office/drawing/2014/main" id="{88F4C5A4-5259-6E4A-B81B-C9ABA4A54237}"/>
              </a:ext>
              <a:ext uri="{C183D7F6-B498-43B3-948B-1728B52AA6E4}">
                <adec:decorative xmlns:adec="http://schemas.microsoft.com/office/drawing/2017/decorative" val="1"/>
              </a:ext>
            </a:extLst>
          </p:cNvPr>
          <p:cNvSpPr txBox="1">
            <a:spLocks/>
          </p:cNvSpPr>
          <p:nvPr/>
        </p:nvSpPr>
        <p:spPr>
          <a:xfrm>
            <a:off x="8895502" y="3481954"/>
            <a:ext cx="1676400" cy="3154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114" fontAlgn="base">
              <a:spcBef>
                <a:spcPct val="0"/>
              </a:spcBef>
              <a:spcAft>
                <a:spcPct val="0"/>
              </a:spcAft>
              <a:buFont typeface="Arial" panose="020B0604020202020204" pitchFamily="34" charset="0"/>
              <a:buNone/>
              <a:defRPr/>
            </a:pPr>
            <a:r>
              <a:rPr lang="en-gb" sz="1200" kern="0" dirty="0">
                <a:latin typeface="Segoe UI" panose="020B0502040204020203" pitchFamily="34" charset="0"/>
                <a:cs typeface="Segoe UI" panose="020B0502040204020203" pitchFamily="34" charset="0"/>
              </a:rPr>
              <a:t>Cloud connected</a:t>
            </a:r>
          </a:p>
        </p:txBody>
      </p:sp>
      <p:sp>
        <p:nvSpPr>
          <p:cNvPr id="18" name="Text Placeholder 25">
            <a:extLst>
              <a:ext uri="{FF2B5EF4-FFF2-40B4-BE49-F238E27FC236}">
                <a16:creationId xmlns:a16="http://schemas.microsoft.com/office/drawing/2014/main" id="{00E67AC4-68CD-9242-B9F9-BF8297354259}"/>
              </a:ext>
              <a:ext uri="{C183D7F6-B498-43B3-948B-1728B52AA6E4}">
                <adec:decorative xmlns:adec="http://schemas.microsoft.com/office/drawing/2017/decorative" val="1"/>
              </a:ext>
            </a:extLst>
          </p:cNvPr>
          <p:cNvSpPr txBox="1">
            <a:spLocks/>
          </p:cNvSpPr>
          <p:nvPr/>
        </p:nvSpPr>
        <p:spPr>
          <a:xfrm>
            <a:off x="1513390" y="5260340"/>
            <a:ext cx="3872622" cy="11304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indent="-231775">
              <a:lnSpc>
                <a:spcPts val="1660"/>
              </a:lnSpc>
              <a:spcBef>
                <a:spcPts val="300"/>
              </a:spcBef>
            </a:pPr>
            <a:r>
              <a:rPr lang="en-gb" sz="1400" dirty="0">
                <a:latin typeface="Segoe UI" panose="020B0502040204020203" pitchFamily="34" charset="0"/>
                <a:cs typeface="Segoe UI" panose="020B0502040204020203" pitchFamily="34" charset="0"/>
              </a:rPr>
              <a:t>Reduce data centre footprint quickly</a:t>
            </a:r>
            <a:endParaRPr lang="en-IN" sz="1400" dirty="0">
              <a:latin typeface="Segoe UI" panose="020B0502040204020203" pitchFamily="34" charset="0"/>
              <a:ea typeface="Calibri" panose="020F0502020204030204" pitchFamily="34" charset="0"/>
              <a:cs typeface="Segoe UI" panose="020B0502040204020203" pitchFamily="34" charset="0"/>
            </a:endParaRPr>
          </a:p>
          <a:p>
            <a:pPr marL="231775" lvl="1" indent="-231775">
              <a:lnSpc>
                <a:spcPts val="1660"/>
              </a:lnSpc>
              <a:spcBef>
                <a:spcPts val="300"/>
              </a:spcBef>
            </a:pPr>
            <a:r>
              <a:rPr lang="en-gb" sz="1400" dirty="0">
                <a:latin typeface="Segoe UI" panose="020B0502040204020203" pitchFamily="34" charset="0"/>
                <a:ea typeface="Calibri" panose="020F0502020204030204" pitchFamily="34" charset="0"/>
                <a:cs typeface="Segoe UI" panose="020B0502040204020203" pitchFamily="34" charset="0"/>
              </a:rPr>
              <a:t>Lower capital expenses</a:t>
            </a:r>
          </a:p>
          <a:p>
            <a:pPr marL="231775" lvl="1" indent="-231775">
              <a:lnSpc>
                <a:spcPts val="1660"/>
              </a:lnSpc>
              <a:spcBef>
                <a:spcPts val="300"/>
              </a:spcBef>
            </a:pPr>
            <a:r>
              <a:rPr lang="en-gb" sz="1400" dirty="0">
                <a:latin typeface="Segoe UI" panose="020B0502040204020203" pitchFamily="34" charset="0"/>
                <a:ea typeface="Calibri" panose="020F0502020204030204" pitchFamily="34" charset="0"/>
                <a:cs typeface="Segoe UI" panose="020B0502040204020203" pitchFamily="34" charset="0"/>
              </a:rPr>
              <a:t>Immediate compatibility – IaaS VMs</a:t>
            </a:r>
          </a:p>
          <a:p>
            <a:pPr marL="231775" lvl="1" indent="-231775">
              <a:lnSpc>
                <a:spcPts val="1660"/>
              </a:lnSpc>
              <a:spcBef>
                <a:spcPts val="300"/>
              </a:spcBef>
            </a:pPr>
            <a:r>
              <a:rPr lang="en-gb" sz="1400" dirty="0">
                <a:latin typeface="Segoe UI" panose="020B0502040204020203" pitchFamily="34" charset="0"/>
                <a:cs typeface="Segoe UI" panose="020B0502040204020203" pitchFamily="34" charset="0"/>
              </a:rPr>
              <a:t>Test, optimise to ensure cloud-readiness</a:t>
            </a:r>
          </a:p>
        </p:txBody>
      </p:sp>
      <p:sp>
        <p:nvSpPr>
          <p:cNvPr id="19" name="Text Placeholder 27">
            <a:extLst>
              <a:ext uri="{FF2B5EF4-FFF2-40B4-BE49-F238E27FC236}">
                <a16:creationId xmlns:a16="http://schemas.microsoft.com/office/drawing/2014/main" id="{B5628857-B268-8B41-A31D-031E38B6F5F0}"/>
              </a:ext>
              <a:ext uri="{C183D7F6-B498-43B3-948B-1728B52AA6E4}">
                <adec:decorative xmlns:adec="http://schemas.microsoft.com/office/drawing/2017/decorative" val="1"/>
              </a:ext>
            </a:extLst>
          </p:cNvPr>
          <p:cNvSpPr txBox="1">
            <a:spLocks/>
          </p:cNvSpPr>
          <p:nvPr/>
        </p:nvSpPr>
        <p:spPr>
          <a:xfrm>
            <a:off x="7021109" y="5230752"/>
            <a:ext cx="2743200" cy="892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ts val="1660"/>
              </a:lnSpc>
              <a:spcBef>
                <a:spcPts val="300"/>
              </a:spcBef>
            </a:pPr>
            <a:r>
              <a:rPr lang="en-gb" sz="1400" dirty="0">
                <a:latin typeface="Segoe UI" panose="020B0502040204020203" pitchFamily="34" charset="0"/>
                <a:cs typeface="Segoe UI" panose="020B0502040204020203" pitchFamily="34" charset="0"/>
              </a:rPr>
              <a:t>Faster time to market</a:t>
            </a:r>
          </a:p>
          <a:p>
            <a:pPr marL="285750" indent="-285750">
              <a:lnSpc>
                <a:spcPts val="1660"/>
              </a:lnSpc>
              <a:spcBef>
                <a:spcPts val="300"/>
              </a:spcBef>
            </a:pPr>
            <a:r>
              <a:rPr lang="en-gb" sz="1400" dirty="0">
                <a:latin typeface="Segoe UI" panose="020B0502040204020203" pitchFamily="34" charset="0"/>
                <a:cs typeface="Segoe UI" panose="020B0502040204020203" pitchFamily="34" charset="0"/>
              </a:rPr>
              <a:t>Increased app innovation</a:t>
            </a:r>
          </a:p>
          <a:p>
            <a:pPr marL="285750" indent="-285750">
              <a:lnSpc>
                <a:spcPts val="1660"/>
              </a:lnSpc>
              <a:spcBef>
                <a:spcPts val="300"/>
              </a:spcBef>
            </a:pPr>
            <a:r>
              <a:rPr lang="en-gb" sz="1400" dirty="0">
                <a:latin typeface="Segoe UI" panose="020B0502040204020203" pitchFamily="34" charset="0"/>
                <a:cs typeface="Segoe UI" panose="020B0502040204020203" pitchFamily="34" charset="0"/>
              </a:rPr>
              <a:t>Enhanced productivity </a:t>
            </a:r>
          </a:p>
          <a:p>
            <a:pPr marL="285750" indent="-285750">
              <a:lnSpc>
                <a:spcPts val="1660"/>
              </a:lnSpc>
              <a:spcBef>
                <a:spcPts val="300"/>
              </a:spcBef>
            </a:pPr>
            <a:r>
              <a:rPr lang="en-gb" sz="1400" dirty="0">
                <a:latin typeface="Segoe UI" panose="020B0502040204020203" pitchFamily="34" charset="0"/>
                <a:cs typeface="Segoe UI" panose="020B0502040204020203" pitchFamily="34" charset="0"/>
              </a:rPr>
              <a:t>Greater app dev velocity</a:t>
            </a:r>
            <a:endParaRPr lang="en-US" sz="1800" dirty="0">
              <a:latin typeface="Segoe UI" panose="020B0502040204020203" pitchFamily="34" charset="0"/>
              <a:cs typeface="Segoe UI" panose="020B0502040204020203" pitchFamily="34" charset="0"/>
            </a:endParaRPr>
          </a:p>
        </p:txBody>
      </p:sp>
      <p:sp>
        <p:nvSpPr>
          <p:cNvPr id="20" name="Text Placeholder 28">
            <a:extLst>
              <a:ext uri="{FF2B5EF4-FFF2-40B4-BE49-F238E27FC236}">
                <a16:creationId xmlns:a16="http://schemas.microsoft.com/office/drawing/2014/main" id="{FC79F7C0-4C91-3944-8127-F596B83D9657}"/>
              </a:ext>
              <a:ext uri="{C183D7F6-B498-43B3-948B-1728B52AA6E4}">
                <adec:decorative xmlns:adec="http://schemas.microsoft.com/office/drawing/2017/decorative" val="1"/>
              </a:ext>
            </a:extLst>
          </p:cNvPr>
          <p:cNvSpPr txBox="1">
            <a:spLocks/>
          </p:cNvSpPr>
          <p:nvPr/>
        </p:nvSpPr>
        <p:spPr>
          <a:xfrm>
            <a:off x="4378806" y="4264317"/>
            <a:ext cx="3429000" cy="3399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457200">
              <a:lnSpc>
                <a:spcPct val="100000"/>
              </a:lnSpc>
              <a:spcBef>
                <a:spcPts val="0"/>
              </a:spcBef>
              <a:buFont typeface="Arial" panose="020B0604020202020204" pitchFamily="34" charset="0"/>
              <a:buNone/>
              <a:defRPr/>
            </a:pPr>
            <a:r>
              <a:rPr lang="en-gb" sz="1600" kern="0" dirty="0">
                <a:latin typeface="Segoe UI Semibold"/>
              </a:rPr>
              <a:t>Benefits</a:t>
            </a:r>
          </a:p>
        </p:txBody>
      </p:sp>
    </p:spTree>
    <p:extLst>
      <p:ext uri="{BB962C8B-B14F-4D97-AF65-F5344CB8AC3E}">
        <p14:creationId xmlns:p14="http://schemas.microsoft.com/office/powerpoint/2010/main" val="1283028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E3AD69A6-6B26-6F45-A69C-23672C7E0743}"/>
              </a:ext>
            </a:extLst>
          </p:cNvPr>
          <p:cNvSpPr>
            <a:spLocks noGrp="1"/>
          </p:cNvSpPr>
          <p:nvPr>
            <p:ph type="title" idx="4294967295"/>
          </p:nvPr>
        </p:nvSpPr>
        <p:spPr>
          <a:xfrm>
            <a:off x="618706" y="407604"/>
            <a:ext cx="10429045"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Migration and modernisation approaches</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5" name="Content Placeholder 4">
            <a:extLst>
              <a:ext uri="{FF2B5EF4-FFF2-40B4-BE49-F238E27FC236}">
                <a16:creationId xmlns:a16="http://schemas.microsoft.com/office/drawing/2014/main" id="{B73F35CE-51E1-4547-B0E7-367CE5C51722}"/>
              </a:ext>
            </a:extLst>
          </p:cNvPr>
          <p:cNvSpPr>
            <a:spLocks noGrp="1"/>
          </p:cNvSpPr>
          <p:nvPr/>
        </p:nvSpPr>
        <p:spPr>
          <a:xfrm>
            <a:off x="618707" y="1115918"/>
            <a:ext cx="7030125"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Different criteria will inform which approach is best for your business.</a:t>
            </a:r>
          </a:p>
        </p:txBody>
      </p:sp>
      <p:graphicFrame>
        <p:nvGraphicFramePr>
          <p:cNvPr id="3" name="Table 2">
            <a:extLst>
              <a:ext uri="{FF2B5EF4-FFF2-40B4-BE49-F238E27FC236}">
                <a16:creationId xmlns:a16="http://schemas.microsoft.com/office/drawing/2014/main" id="{1944CCDF-3E36-3F46-A91D-ABDD17742609}"/>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675083989"/>
              </p:ext>
            </p:extLst>
          </p:nvPr>
        </p:nvGraphicFramePr>
        <p:xfrm>
          <a:off x="618706" y="1687989"/>
          <a:ext cx="11296755" cy="4805830"/>
        </p:xfrm>
        <a:graphic>
          <a:graphicData uri="http://schemas.openxmlformats.org/drawingml/2006/table">
            <a:tbl>
              <a:tblPr firstRow="1" bandRow="1" bandCol="1"/>
              <a:tblGrid>
                <a:gridCol w="827809">
                  <a:extLst>
                    <a:ext uri="{9D8B030D-6E8A-4147-A177-3AD203B41FA5}">
                      <a16:colId xmlns:a16="http://schemas.microsoft.com/office/drawing/2014/main" val="630767071"/>
                    </a:ext>
                  </a:extLst>
                </a:gridCol>
                <a:gridCol w="1614877">
                  <a:extLst>
                    <a:ext uri="{9D8B030D-6E8A-4147-A177-3AD203B41FA5}">
                      <a16:colId xmlns:a16="http://schemas.microsoft.com/office/drawing/2014/main" val="2218443067"/>
                    </a:ext>
                  </a:extLst>
                </a:gridCol>
                <a:gridCol w="2977376">
                  <a:extLst>
                    <a:ext uri="{9D8B030D-6E8A-4147-A177-3AD203B41FA5}">
                      <a16:colId xmlns:a16="http://schemas.microsoft.com/office/drawing/2014/main" val="2702901218"/>
                    </a:ext>
                  </a:extLst>
                </a:gridCol>
                <a:gridCol w="3401122">
                  <a:extLst>
                    <a:ext uri="{9D8B030D-6E8A-4147-A177-3AD203B41FA5}">
                      <a16:colId xmlns:a16="http://schemas.microsoft.com/office/drawing/2014/main" val="22798328"/>
                    </a:ext>
                  </a:extLst>
                </a:gridCol>
                <a:gridCol w="2475571">
                  <a:extLst>
                    <a:ext uri="{9D8B030D-6E8A-4147-A177-3AD203B41FA5}">
                      <a16:colId xmlns:a16="http://schemas.microsoft.com/office/drawing/2014/main" val="293669242"/>
                    </a:ext>
                  </a:extLst>
                </a:gridCol>
              </a:tblGrid>
              <a:tr h="495088">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lvl="0" algn="ctr">
                        <a:lnSpc>
                          <a:spcPts val="1100"/>
                        </a:lnSpc>
                      </a:pPr>
                      <a:r>
                        <a:rPr lang="en-gb" sz="1200" b="1" i="0" dirty="0">
                          <a:solidFill>
                            <a:schemeClr val="bg1"/>
                          </a:solidFill>
                          <a:latin typeface="Segoe UI" panose="020B0502040204020203" pitchFamily="34" charset="0"/>
                          <a:cs typeface="Segoe UI" panose="020B0502040204020203" pitchFamily="34" charset="0"/>
                        </a:rPr>
                        <a:t>Approach</a:t>
                      </a:r>
                    </a:p>
                  </a:txBody>
                  <a:tcPr marL="63380" marR="63380" marT="34307" marB="34307"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marL="0" marR="0" lvl="0" indent="0" algn="ctr" defTabSz="1371600" rtl="0" eaLnBrk="1" fontAlgn="auto" latinLnBrk="0" hangingPunct="1">
                        <a:lnSpc>
                          <a:spcPts val="1100"/>
                        </a:lnSpc>
                        <a:spcBef>
                          <a:spcPts val="0"/>
                        </a:spcBef>
                        <a:spcAft>
                          <a:spcPts val="0"/>
                        </a:spcAft>
                        <a:buClrTx/>
                        <a:buSzTx/>
                        <a:buFontTx/>
                        <a:buNone/>
                        <a:tabLst/>
                        <a:defRPr/>
                      </a:pPr>
                      <a:endParaRPr lang="en-US" sz="1200" b="1" i="0" spc="0" dirty="0">
                        <a:solidFill>
                          <a:schemeClr val="bg1"/>
                        </a:solidFill>
                        <a:latin typeface="Segoe UI" panose="020B0502040204020203" pitchFamily="34" charset="0"/>
                        <a:cs typeface="Segoe UI" panose="020B0502040204020203" pitchFamily="34" charset="0"/>
                      </a:endParaRPr>
                    </a:p>
                    <a:p>
                      <a:pPr lvl="0" algn="ctr">
                        <a:lnSpc>
                          <a:spcPts val="1100"/>
                        </a:lnSpc>
                      </a:pPr>
                      <a:r>
                        <a:rPr lang="en-gb" sz="1200" b="1" i="0" dirty="0">
                          <a:solidFill>
                            <a:schemeClr val="bg1"/>
                          </a:solidFill>
                          <a:latin typeface="Segoe UI" panose="020B0502040204020203" pitchFamily="34" charset="0"/>
                          <a:cs typeface="Segoe UI" panose="020B0502040204020203" pitchFamily="34" charset="0"/>
                        </a:rPr>
                        <a:t>Description</a:t>
                      </a:r>
                    </a:p>
                    <a:p>
                      <a:pPr marL="0" marR="0" indent="0" algn="ctr" defTabSz="1371600" rtl="0" eaLnBrk="1" fontAlgn="auto" latinLnBrk="0" hangingPunct="1">
                        <a:lnSpc>
                          <a:spcPts val="1100"/>
                        </a:lnSpc>
                        <a:spcBef>
                          <a:spcPts val="0"/>
                        </a:spcBef>
                        <a:spcAft>
                          <a:spcPts val="0"/>
                        </a:spcAft>
                        <a:buClrTx/>
                        <a:buSzTx/>
                        <a:buFontTx/>
                        <a:buNone/>
                        <a:tabLst/>
                        <a:defRPr/>
                      </a:pPr>
                      <a:endParaRPr lang="ru-RU" sz="12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marL="0" marR="0" lvl="0" indent="0" algn="ctr" defTabSz="1371600" rtl="0" eaLnBrk="1" fontAlgn="auto" latinLnBrk="0" hangingPunct="1">
                        <a:lnSpc>
                          <a:spcPts val="1100"/>
                        </a:lnSpc>
                        <a:spcBef>
                          <a:spcPts val="0"/>
                        </a:spcBef>
                        <a:spcAft>
                          <a:spcPts val="0"/>
                        </a:spcAft>
                        <a:buClrTx/>
                        <a:buSzTx/>
                        <a:buFontTx/>
                        <a:buNone/>
                        <a:tabLst/>
                        <a:defRPr/>
                      </a:pPr>
                      <a:endParaRPr lang="en-US" sz="1200" b="1" i="0" spc="0" dirty="0">
                        <a:solidFill>
                          <a:schemeClr val="bg1"/>
                        </a:solidFill>
                        <a:latin typeface="Segoe UI" panose="020B0502040204020203" pitchFamily="34" charset="0"/>
                        <a:cs typeface="Segoe UI" panose="020B0502040204020203" pitchFamily="34" charset="0"/>
                      </a:endParaRPr>
                    </a:p>
                    <a:p>
                      <a:pPr lvl="0" algn="ctr">
                        <a:lnSpc>
                          <a:spcPts val="1100"/>
                        </a:lnSpc>
                      </a:pPr>
                      <a:r>
                        <a:rPr lang="en-gb" sz="1200" b="1" i="0" dirty="0">
                          <a:solidFill>
                            <a:schemeClr val="bg1"/>
                          </a:solidFill>
                          <a:latin typeface="Segoe UI" panose="020B0502040204020203" pitchFamily="34" charset="0"/>
                          <a:cs typeface="Segoe UI" panose="020B0502040204020203" pitchFamily="34" charset="0"/>
                        </a:rPr>
                        <a:t>Common Business Drivers</a:t>
                      </a:r>
                    </a:p>
                    <a:p>
                      <a:pPr marL="0" marR="0" indent="0" algn="ctr" defTabSz="1371600" rtl="0" eaLnBrk="1" fontAlgn="auto" latinLnBrk="0" hangingPunct="1">
                        <a:lnSpc>
                          <a:spcPts val="1100"/>
                        </a:lnSpc>
                        <a:spcBef>
                          <a:spcPts val="0"/>
                        </a:spcBef>
                        <a:spcAft>
                          <a:spcPts val="0"/>
                        </a:spcAft>
                        <a:buClrTx/>
                        <a:buSzTx/>
                        <a:buFontTx/>
                        <a:buNone/>
                        <a:tabLst/>
                        <a:defRPr/>
                      </a:pPr>
                      <a:endParaRPr lang="ru-RU" sz="12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marL="0" marR="0" lvl="0" indent="0" algn="ctr" defTabSz="1371600" rtl="0" eaLnBrk="1" fontAlgn="auto" latinLnBrk="0" hangingPunct="1">
                        <a:lnSpc>
                          <a:spcPts val="1100"/>
                        </a:lnSpc>
                        <a:spcBef>
                          <a:spcPts val="0"/>
                        </a:spcBef>
                        <a:spcAft>
                          <a:spcPts val="0"/>
                        </a:spcAft>
                        <a:buClrTx/>
                        <a:buSzTx/>
                        <a:buFontTx/>
                        <a:buNone/>
                        <a:tabLst/>
                        <a:defRPr/>
                      </a:pPr>
                      <a:endParaRPr lang="en-US" sz="1200" b="1" i="0" spc="0" dirty="0">
                        <a:solidFill>
                          <a:schemeClr val="bg1"/>
                        </a:solidFill>
                        <a:latin typeface="Segoe UI" panose="020B0502040204020203" pitchFamily="34" charset="0"/>
                        <a:cs typeface="Segoe UI" panose="020B0502040204020203" pitchFamily="34" charset="0"/>
                      </a:endParaRPr>
                    </a:p>
                    <a:p>
                      <a:pPr lvl="0" algn="ctr">
                        <a:lnSpc>
                          <a:spcPts val="1100"/>
                        </a:lnSpc>
                      </a:pPr>
                      <a:r>
                        <a:rPr lang="en-gb" sz="1200" b="1" i="0" dirty="0">
                          <a:solidFill>
                            <a:schemeClr val="bg1"/>
                          </a:solidFill>
                          <a:latin typeface="Segoe UI" panose="020B0502040204020203" pitchFamily="34" charset="0"/>
                          <a:cs typeface="Segoe UI" panose="020B0502040204020203" pitchFamily="34" charset="0"/>
                        </a:rPr>
                        <a:t>Quantitative Considerations</a:t>
                      </a:r>
                    </a:p>
                    <a:p>
                      <a:pPr marL="0" marR="0" indent="0" algn="ctr" defTabSz="1371600" rtl="0" eaLnBrk="1" fontAlgn="auto" latinLnBrk="0" hangingPunct="1">
                        <a:lnSpc>
                          <a:spcPts val="1100"/>
                        </a:lnSpc>
                        <a:spcBef>
                          <a:spcPts val="0"/>
                        </a:spcBef>
                        <a:spcAft>
                          <a:spcPts val="0"/>
                        </a:spcAft>
                        <a:buClrTx/>
                        <a:buSzTx/>
                        <a:buFontTx/>
                        <a:buNone/>
                        <a:tabLst/>
                        <a:defRPr/>
                      </a:pPr>
                      <a:endParaRPr lang="ru-RU" sz="12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marL="0" marR="0" lvl="0" indent="0" algn="ctr" defTabSz="1371600" rtl="0" eaLnBrk="1" fontAlgn="auto" latinLnBrk="0" hangingPunct="1">
                        <a:lnSpc>
                          <a:spcPts val="1100"/>
                        </a:lnSpc>
                        <a:spcBef>
                          <a:spcPts val="0"/>
                        </a:spcBef>
                        <a:spcAft>
                          <a:spcPts val="0"/>
                        </a:spcAft>
                        <a:buClrTx/>
                        <a:buSzTx/>
                        <a:buFontTx/>
                        <a:buNone/>
                        <a:tabLst/>
                        <a:defRPr/>
                      </a:pPr>
                      <a:r>
                        <a:rPr lang="en-gb" sz="1200" b="1" i="0" dirty="0">
                          <a:solidFill>
                            <a:schemeClr val="bg1"/>
                          </a:solidFill>
                          <a:latin typeface="Segoe UI" panose="020B0502040204020203" pitchFamily="34" charset="0"/>
                          <a:cs typeface="Segoe UI" panose="020B0502040204020203" pitchFamily="34" charset="0"/>
                        </a:rPr>
                        <a:t>Qualitative Considerations</a:t>
                      </a:r>
                    </a:p>
                  </a:txBody>
                  <a:tcPr marL="63380" marR="63380" marT="34307" marB="34307" anchor="ctr">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3194430769"/>
                  </a:ext>
                </a:extLst>
              </a:tr>
              <a:tr h="658500">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ctr" defTabSz="1371600" rtl="0" eaLnBrk="1" fontAlgn="auto" latinLnBrk="0" hangingPunct="1">
                        <a:lnSpc>
                          <a:spcPts val="1100"/>
                        </a:lnSpc>
                        <a:spcBef>
                          <a:spcPts val="0"/>
                        </a:spcBef>
                        <a:spcAft>
                          <a:spcPts val="0"/>
                        </a:spcAft>
                        <a:buClrTx/>
                        <a:buSzTx/>
                        <a:buFontTx/>
                        <a:buNone/>
                        <a:tabLst/>
                        <a:defRPr/>
                      </a:pPr>
                      <a:r>
                        <a:rPr lang="en-gb" sz="1000" b="1" i="0" spc="0" dirty="0">
                          <a:solidFill>
                            <a:schemeClr val="bg1"/>
                          </a:solidFill>
                          <a:latin typeface="Segoe UI" panose="020B0502040204020203" pitchFamily="34" charset="0"/>
                          <a:cs typeface="Segoe UI" panose="020B0502040204020203" pitchFamily="34" charset="0"/>
                        </a:rPr>
                        <a:t>Rehost</a:t>
                      </a:r>
                      <a:endParaRPr lang="ru-RU" sz="10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Tx/>
                        <a:buNone/>
                        <a:tabLst/>
                        <a:defRPr/>
                      </a:pPr>
                      <a:r>
                        <a:rPr lang="en-gb" sz="800" dirty="0"/>
                        <a:t>Move workloads to virtual machines in the cloud with minimal change to overall architecture</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Reduce capital expense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Free up data centre space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Achieve rapid ROI in the cloud</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7938" marR="0" indent="-7938"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VM size (CPU, memory, storage)</a:t>
                      </a:r>
                    </a:p>
                    <a:p>
                      <a:pPr marL="7938" marR="0" indent="-7938"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Dependencies (network traffic)</a:t>
                      </a:r>
                    </a:p>
                    <a:p>
                      <a:pPr marL="7938" marR="0" indent="-7938"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Asset compatibility</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Tolerance for change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Business priorities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Critical business events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Process dependencies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949627444"/>
                  </a:ext>
                </a:extLst>
              </a:tr>
              <a:tr h="911667">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ctr" defTabSz="1371600" rtl="0" eaLnBrk="1" fontAlgn="auto" latinLnBrk="0" hangingPunct="1">
                        <a:lnSpc>
                          <a:spcPts val="1100"/>
                        </a:lnSpc>
                        <a:spcBef>
                          <a:spcPts val="0"/>
                        </a:spcBef>
                        <a:spcAft>
                          <a:spcPts val="0"/>
                        </a:spcAft>
                        <a:buClrTx/>
                        <a:buSzTx/>
                        <a:buFontTx/>
                        <a:buNone/>
                        <a:tabLst/>
                        <a:defRPr/>
                      </a:pPr>
                      <a:r>
                        <a:rPr lang="en-gb" sz="1000" b="1" i="0" spc="0" dirty="0">
                          <a:solidFill>
                            <a:schemeClr val="bg1"/>
                          </a:solidFill>
                          <a:latin typeface="Segoe UI" panose="020B0502040204020203" pitchFamily="34" charset="0"/>
                          <a:cs typeface="Segoe UI" panose="020B0502040204020203" pitchFamily="34" charset="0"/>
                        </a:rPr>
                        <a:t>Refactor</a:t>
                      </a:r>
                      <a:endParaRPr lang="ru-RU" sz="10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Tx/>
                        <a:buNone/>
                        <a:tabLst/>
                        <a:defRPr/>
                      </a:pPr>
                      <a:r>
                        <a:rPr lang="en-gb" sz="800" dirty="0"/>
                        <a:t>Make minimal changes to optimise for the cloud </a:t>
                      </a:r>
                      <a:br/>
                      <a:r>
                        <a:rPr lang="en-gb" sz="800" dirty="0"/>
                        <a:t>for IaaS and PaaS environments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Faster and shorter updates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Code portability</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Greater cloud efficiency (resources, speed cost)</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Application asset size (CPU, memory, storage)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Dependencies (network traffic) </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User traffic (page views, time on page, load time)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Development platform (languages, data platform, middle-tier services)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Continued business investments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Bursting options/timelines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Business process dependencies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679669211"/>
                  </a:ext>
                </a:extLst>
              </a:tr>
              <a:tr h="869894">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ctr" defTabSz="1371600" rtl="0" eaLnBrk="1" fontAlgn="auto" latinLnBrk="0" hangingPunct="1">
                        <a:lnSpc>
                          <a:spcPts val="1100"/>
                        </a:lnSpc>
                        <a:spcBef>
                          <a:spcPts val="0"/>
                        </a:spcBef>
                        <a:spcAft>
                          <a:spcPts val="0"/>
                        </a:spcAft>
                        <a:buClrTx/>
                        <a:buSzTx/>
                        <a:buFontTx/>
                        <a:buNone/>
                        <a:tabLst/>
                        <a:defRPr/>
                      </a:pPr>
                      <a:r>
                        <a:rPr lang="en-gb" sz="1000" b="1" i="0" spc="0" dirty="0">
                          <a:solidFill>
                            <a:schemeClr val="bg1"/>
                          </a:solidFill>
                          <a:latin typeface="Segoe UI" panose="020B0502040204020203" pitchFamily="34" charset="0"/>
                          <a:cs typeface="Segoe UI" panose="020B0502040204020203" pitchFamily="34" charset="0"/>
                        </a:rPr>
                        <a:t>Rearchitect</a:t>
                      </a:r>
                      <a:endParaRPr lang="ru-RU" sz="10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Tx/>
                        <a:buNone/>
                        <a:tabLst/>
                        <a:defRPr/>
                      </a:pPr>
                      <a:r>
                        <a:rPr lang="en-gb" sz="800" dirty="0"/>
                        <a:t>Modify existing app architecture/code to optimise </a:t>
                      </a:r>
                      <a:br/>
                      <a:r>
                        <a:rPr lang="en-gb" sz="800" dirty="0"/>
                        <a:t>for the cloud</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Application scale and agility</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Easier adoption of new cloud capabilities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Mix of technology stacks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Application asset size (CPU, memory, storage)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Dependencies (network traffic) </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User traffic (page views, time on page, load time)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Development platform (languages, data platform, middle-tier services)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Growing business investments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Operating costs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Potential feedback loops and DevOps investments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3692700527"/>
                  </a:ext>
                </a:extLst>
              </a:tr>
              <a:tr h="760370">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ctr" defTabSz="1371600" rtl="0" eaLnBrk="1" fontAlgn="auto" latinLnBrk="0" hangingPunct="1">
                        <a:lnSpc>
                          <a:spcPts val="1100"/>
                        </a:lnSpc>
                        <a:spcBef>
                          <a:spcPts val="0"/>
                        </a:spcBef>
                        <a:spcAft>
                          <a:spcPts val="0"/>
                        </a:spcAft>
                        <a:buClrTx/>
                        <a:buSzTx/>
                        <a:buFontTx/>
                        <a:buNone/>
                        <a:tabLst/>
                        <a:defRPr/>
                      </a:pPr>
                      <a:r>
                        <a:rPr lang="en-gb" sz="1000" b="1" i="0" spc="0" dirty="0">
                          <a:solidFill>
                            <a:schemeClr val="bg1"/>
                          </a:solidFill>
                          <a:latin typeface="Segoe UI" panose="020B0502040204020203" pitchFamily="34" charset="0"/>
                          <a:cs typeface="Segoe UI" panose="020B0502040204020203" pitchFamily="34" charset="0"/>
                        </a:rPr>
                        <a:t>Rebuild</a:t>
                      </a:r>
                      <a:endParaRPr lang="ru-RU" sz="10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Tx/>
                        <a:buNone/>
                        <a:tabLst/>
                        <a:defRPr/>
                      </a:pPr>
                      <a:r>
                        <a:rPr lang="en-gb" sz="800" dirty="0"/>
                        <a:t>Rebuild applications from scratch using cloud-native technologies</a:t>
                      </a:r>
                      <a:endParaRPr lang="ru-RU" sz="800" b="0" i="0" dirty="0">
                        <a:solidFill>
                          <a:schemeClr val="tx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Accelerate innovation</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Build apps faster</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Reduce operational cost</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Application asset size (CPU, memory, storage)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Dependencies (network traffic) </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User traffic (page views, time on page, load time)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Development platform (languages, data platform, middle-tier services)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Declining end-user satisfaction</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Business processes limited by functionality</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Potential cost, experience or revenue gains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540943136"/>
                  </a:ext>
                </a:extLst>
              </a:tr>
              <a:tr h="936219">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ctr" defTabSz="1371600" rtl="0" eaLnBrk="1" fontAlgn="auto" latinLnBrk="0" hangingPunct="1">
                        <a:lnSpc>
                          <a:spcPts val="1100"/>
                        </a:lnSpc>
                        <a:spcBef>
                          <a:spcPts val="0"/>
                        </a:spcBef>
                        <a:spcAft>
                          <a:spcPts val="0"/>
                        </a:spcAft>
                        <a:buClrTx/>
                        <a:buSzTx/>
                        <a:buFontTx/>
                        <a:buNone/>
                        <a:tabLst/>
                        <a:defRPr/>
                      </a:pPr>
                      <a:r>
                        <a:rPr lang="en-gb" sz="1000" b="1" i="0" spc="0" dirty="0">
                          <a:solidFill>
                            <a:schemeClr val="bg1"/>
                          </a:solidFill>
                          <a:latin typeface="Segoe UI" panose="020B0502040204020203" pitchFamily="34" charset="0"/>
                          <a:cs typeface="Segoe UI" panose="020B0502040204020203" pitchFamily="34" charset="0"/>
                        </a:rPr>
                        <a:t>Replace</a:t>
                      </a:r>
                      <a:endParaRPr lang="ru-RU" sz="1000" b="1" i="0" spc="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L="63380" marR="63380" marT="34307" marB="34307"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Tx/>
                        <a:buNone/>
                        <a:tabLst/>
                        <a:defRPr/>
                      </a:pPr>
                      <a:r>
                        <a:rPr lang="en-gb" sz="800" dirty="0"/>
                        <a:t>Leverage an existing SaaS application that provides the necessary functionality for the hosted app</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Standardise around industry-best practices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Accelerate adoption of business process–driven approaches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Reallocate development investments into applications </a:t>
                      </a:r>
                      <a:br/>
                      <a:r>
                        <a:rPr lang="en-gb" sz="800" dirty="0"/>
                        <a:t>that create competitive differentiation or advantages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General operating cost reductions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VM size (CPU, memory, storage)</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Dependencies (network traffic)</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Assets to be retired</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Cost-benefit analysis of the current architecture versus a SaaS solution</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Business process maps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Data schemas</a:t>
                      </a:r>
                    </a:p>
                    <a:p>
                      <a:pPr marL="0" marR="0" indent="0" algn="l" defTabSz="1371600" rtl="0" eaLnBrk="1" fontAlgn="auto" latinLnBrk="0" hangingPunct="1">
                        <a:lnSpc>
                          <a:spcPts val="1000"/>
                        </a:lnSpc>
                        <a:spcBef>
                          <a:spcPts val="0"/>
                        </a:spcBef>
                        <a:spcAft>
                          <a:spcPts val="300"/>
                        </a:spcAft>
                        <a:buClrTx/>
                        <a:buSzTx/>
                        <a:buFont typeface="Arial" panose="020B0604020202020204" pitchFamily="34" charset="0"/>
                        <a:buNone/>
                        <a:tabLst/>
                        <a:defRPr/>
                      </a:pPr>
                      <a:r>
                        <a:rPr lang="en-gb" sz="800" dirty="0"/>
                        <a:t>Custom or automated processes</a:t>
                      </a:r>
                      <a:endParaRPr lang="ru-RU" sz="800" b="0" i="0" dirty="0">
                        <a:solidFill>
                          <a:schemeClr val="bg1"/>
                        </a:solidFill>
                        <a:latin typeface="Segoe UI" panose="020B0502040204020203" pitchFamily="34" charset="0"/>
                        <a:ea typeface="Roboto Light" panose="02000000000000000000" pitchFamily="2" charset="0"/>
                        <a:cs typeface="Segoe UI" panose="020B0502040204020203" pitchFamily="34" charset="0"/>
                      </a:endParaRPr>
                    </a:p>
                  </a:txBody>
                  <a:tcPr marT="91440" marB="91440">
                    <a:lnL w="1270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3487252068"/>
                  </a:ext>
                </a:extLst>
              </a:tr>
            </a:tbl>
          </a:graphicData>
        </a:graphic>
      </p:graphicFrame>
    </p:spTree>
    <p:extLst>
      <p:ext uri="{BB962C8B-B14F-4D97-AF65-F5344CB8AC3E}">
        <p14:creationId xmlns:p14="http://schemas.microsoft.com/office/powerpoint/2010/main" val="1601072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D63E4D-E48A-FD45-BE6E-F94E26B39FDA}"/>
              </a:ext>
            </a:extLst>
          </p:cNvPr>
          <p:cNvSpPr>
            <a:spLocks noGrp="1"/>
          </p:cNvSpPr>
          <p:nvPr>
            <p:ph type="title" idx="4294967295"/>
          </p:nvPr>
        </p:nvSpPr>
        <p:spPr>
          <a:xfrm>
            <a:off x="618706" y="407604"/>
            <a:ext cx="8974999"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Steps for migrating and modernising to the cloud</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7" name="Content Placeholder 4">
            <a:extLst>
              <a:ext uri="{FF2B5EF4-FFF2-40B4-BE49-F238E27FC236}">
                <a16:creationId xmlns:a16="http://schemas.microsoft.com/office/drawing/2014/main" id="{6FED5186-0C56-AC45-BF20-DD5F7524380E}"/>
              </a:ext>
            </a:extLst>
          </p:cNvPr>
          <p:cNvSpPr>
            <a:spLocks noGrp="1"/>
          </p:cNvSpPr>
          <p:nvPr/>
        </p:nvSpPr>
        <p:spPr>
          <a:xfrm>
            <a:off x="618708" y="1730346"/>
            <a:ext cx="6325790" cy="73866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While the cloud adoption journey can vary for different organisations, it can help to break your cloud migration project into phases:</a:t>
            </a:r>
          </a:p>
          <a:p>
            <a:pPr marL="0" lvl="0" indent="0" defTabSz="914192">
              <a:spcBef>
                <a:spcPts val="0"/>
              </a:spcBef>
              <a:buSzTx/>
              <a:buNone/>
              <a:defRPr/>
            </a:pPr>
            <a:endParaRPr lang="en-GB" sz="1600" dirty="0">
              <a:latin typeface="Segoe UI" panose="020B0502040204020203" pitchFamily="34" charset="0"/>
            </a:endParaRPr>
          </a:p>
        </p:txBody>
      </p:sp>
      <p:sp>
        <p:nvSpPr>
          <p:cNvPr id="12" name="Text Placeholder 9">
            <a:extLst>
              <a:ext uri="{FF2B5EF4-FFF2-40B4-BE49-F238E27FC236}">
                <a16:creationId xmlns:a16="http://schemas.microsoft.com/office/drawing/2014/main" id="{68D629F7-0C1C-D646-BC13-D72E34723DCD}"/>
              </a:ext>
            </a:extLst>
          </p:cNvPr>
          <p:cNvSpPr txBox="1">
            <a:spLocks/>
          </p:cNvSpPr>
          <p:nvPr/>
        </p:nvSpPr>
        <p:spPr>
          <a:xfrm>
            <a:off x="1162523" y="2674135"/>
            <a:ext cx="1770898" cy="2366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600" b="1" dirty="0">
                <a:solidFill>
                  <a:schemeClr val="bg1"/>
                </a:solidFill>
                <a:latin typeface="Segoe UI Semibold" panose="020B0502040204020203" pitchFamily="34" charset="0"/>
                <a:cs typeface="Segoe UI Semibold" panose="020B0502040204020203" pitchFamily="34" charset="0"/>
              </a:rPr>
              <a:t>Planning</a:t>
            </a:r>
            <a:endParaRPr lang="en-US" sz="2400" b="1" dirty="0">
              <a:solidFill>
                <a:schemeClr val="bg1"/>
              </a:solidFill>
              <a:latin typeface="Segoe UI Semibold" panose="020B0502040204020203" pitchFamily="34" charset="0"/>
              <a:cs typeface="Segoe UI Semibold" panose="020B0502040204020203" pitchFamily="34" charset="0"/>
            </a:endParaRPr>
          </a:p>
        </p:txBody>
      </p:sp>
      <p:sp>
        <p:nvSpPr>
          <p:cNvPr id="15" name="TextBox 14">
            <a:extLst>
              <a:ext uri="{FF2B5EF4-FFF2-40B4-BE49-F238E27FC236}">
                <a16:creationId xmlns:a16="http://schemas.microsoft.com/office/drawing/2014/main" id="{F69B373B-076E-4343-855E-E9EA8E1C3C79}"/>
              </a:ext>
            </a:extLst>
          </p:cNvPr>
          <p:cNvSpPr txBox="1"/>
          <p:nvPr/>
        </p:nvSpPr>
        <p:spPr>
          <a:xfrm>
            <a:off x="1491261" y="3462065"/>
            <a:ext cx="1580005"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Define strategy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5" normalizeH="0" baseline="0" noProof="0" dirty="0">
                <a:ln>
                  <a:noFill/>
                </a:ln>
                <a:effectLst/>
                <a:uLnTx/>
                <a:uFillTx/>
                <a:latin typeface="Segoe UI"/>
                <a:ea typeface="+mn-ea"/>
                <a:cs typeface="Segoe UI Semibold"/>
              </a:rPr>
              <a:t>Align stakeholders, define strategy and engage a partner</a:t>
            </a:r>
            <a:endParaRPr kumimoji="0" lang="en-US" sz="1200" b="0" i="0" u="none" strike="noStrike" kern="1200" cap="none" spc="-15" normalizeH="0" baseline="0" noProof="0" dirty="0">
              <a:ln>
                <a:noFill/>
              </a:ln>
              <a:effectLst/>
              <a:uLnTx/>
              <a:uFillTx/>
              <a:latin typeface="Segoe UI"/>
              <a:ea typeface="+mn-ea"/>
              <a:cs typeface="Segoe UI Semibold"/>
            </a:endParaRPr>
          </a:p>
        </p:txBody>
      </p:sp>
      <p:sp>
        <p:nvSpPr>
          <p:cNvPr id="18" name="TextBox 17">
            <a:extLst>
              <a:ext uri="{FF2B5EF4-FFF2-40B4-BE49-F238E27FC236}">
                <a16:creationId xmlns:a16="http://schemas.microsoft.com/office/drawing/2014/main" id="{AFC88A8E-92D5-C645-A9C5-F11002B00E87}"/>
              </a:ext>
            </a:extLst>
          </p:cNvPr>
          <p:cNvSpPr txBox="1"/>
          <p:nvPr/>
        </p:nvSpPr>
        <p:spPr>
          <a:xfrm>
            <a:off x="1491261" y="4729407"/>
            <a:ext cx="1580005"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Plan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5" normalizeH="0" baseline="0" noProof="0" dirty="0">
                <a:ln>
                  <a:noFill/>
                </a:ln>
                <a:effectLst/>
                <a:uLnTx/>
                <a:uFillTx/>
                <a:latin typeface="Segoe UI"/>
                <a:ea typeface="+mn-ea"/>
                <a:cs typeface="Segoe UI Semibold"/>
              </a:rPr>
              <a:t>Discover and assess your environment, build a business case and a holistic plan </a:t>
            </a:r>
            <a:endParaRPr kumimoji="0" lang="en-US" sz="1200" b="0" i="0" u="none" strike="noStrike" kern="1200" cap="none" spc="-15" normalizeH="0" baseline="0" noProof="0" dirty="0">
              <a:ln>
                <a:noFill/>
              </a:ln>
              <a:effectLst/>
              <a:uLnTx/>
              <a:uFillTx/>
              <a:latin typeface="Segoe UI"/>
              <a:ea typeface="+mn-ea"/>
              <a:cs typeface="Segoe UI Semibold"/>
            </a:endParaRPr>
          </a:p>
        </p:txBody>
      </p:sp>
      <p:sp>
        <p:nvSpPr>
          <p:cNvPr id="13" name="Text Placeholder 9">
            <a:extLst>
              <a:ext uri="{FF2B5EF4-FFF2-40B4-BE49-F238E27FC236}">
                <a16:creationId xmlns:a16="http://schemas.microsoft.com/office/drawing/2014/main" id="{F5765E3E-D03A-F64D-A736-B3141B25195D}"/>
              </a:ext>
            </a:extLst>
          </p:cNvPr>
          <p:cNvSpPr txBox="1">
            <a:spLocks/>
          </p:cNvSpPr>
          <p:nvPr/>
        </p:nvSpPr>
        <p:spPr>
          <a:xfrm>
            <a:off x="5252609" y="2674135"/>
            <a:ext cx="1770898" cy="2366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600" b="1" dirty="0">
                <a:solidFill>
                  <a:schemeClr val="bg1"/>
                </a:solidFill>
                <a:latin typeface="Segoe UI Semibold" panose="020B0502040204020203" pitchFamily="34" charset="0"/>
                <a:cs typeface="Segoe UI Semibold" panose="020B0502040204020203" pitchFamily="34" charset="0"/>
              </a:rPr>
              <a:t>Implementation</a:t>
            </a:r>
            <a:endParaRPr lang="en-US" sz="2400" b="1" dirty="0">
              <a:solidFill>
                <a:schemeClr val="bg1"/>
              </a:solidFill>
              <a:latin typeface="Segoe UI Semibold" panose="020B0502040204020203" pitchFamily="34" charset="0"/>
              <a:cs typeface="Segoe UI Semibold" panose="020B0502040204020203" pitchFamily="34" charset="0"/>
            </a:endParaRPr>
          </a:p>
        </p:txBody>
      </p:sp>
      <p:sp>
        <p:nvSpPr>
          <p:cNvPr id="23" name="TextBox 22">
            <a:extLst>
              <a:ext uri="{FF2B5EF4-FFF2-40B4-BE49-F238E27FC236}">
                <a16:creationId xmlns:a16="http://schemas.microsoft.com/office/drawing/2014/main" id="{40216A30-158A-EC45-804A-61A8F0022270}"/>
              </a:ext>
            </a:extLst>
          </p:cNvPr>
          <p:cNvSpPr txBox="1"/>
          <p:nvPr/>
        </p:nvSpPr>
        <p:spPr>
          <a:xfrm>
            <a:off x="3648520" y="3132726"/>
            <a:ext cx="4894959" cy="677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Migration and modernisation waves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spc="-5" dirty="0">
                <a:latin typeface="Segoe UI"/>
                <a:cs typeface="Segoe UI Semibold"/>
              </a:rPr>
              <a:t>Take an iterative approach with each wave comprising a defined set of workloads</a:t>
            </a:r>
          </a:p>
        </p:txBody>
      </p:sp>
      <p:sp>
        <p:nvSpPr>
          <p:cNvPr id="26" name="TextBox 25">
            <a:extLst>
              <a:ext uri="{FF2B5EF4-FFF2-40B4-BE49-F238E27FC236}">
                <a16:creationId xmlns:a16="http://schemas.microsoft.com/office/drawing/2014/main" id="{DDD9BF78-9D4D-BF41-9BB7-22EF7655B288}"/>
              </a:ext>
            </a:extLst>
          </p:cNvPr>
          <p:cNvSpPr txBox="1"/>
          <p:nvPr/>
        </p:nvSpPr>
        <p:spPr>
          <a:xfrm>
            <a:off x="4232370" y="4951963"/>
            <a:ext cx="144256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Ready</a:t>
            </a:r>
            <a:endParaRPr kumimoji="0" lang="en-US" sz="1400" b="0" i="0" u="none" strike="noStrike" kern="1200" cap="none" spc="0" normalizeH="0" baseline="0" noProof="0" dirty="0">
              <a:ln>
                <a:noFill/>
              </a:ln>
              <a:solidFill>
                <a:srgbClr val="0078D4"/>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C69C6880-60A5-C54F-A23D-DE72EA1525B8}"/>
              </a:ext>
            </a:extLst>
          </p:cNvPr>
          <p:cNvSpPr txBox="1"/>
          <p:nvPr/>
        </p:nvSpPr>
        <p:spPr>
          <a:xfrm>
            <a:off x="4124399" y="5227081"/>
            <a:ext cx="1802072" cy="646331"/>
          </a:xfrm>
          <a:prstGeom prst="rect">
            <a:avLst/>
          </a:prstGeom>
          <a:noFill/>
        </p:spPr>
        <p:txBody>
          <a:bodyPr wrap="square" rtlCol="0" anchor="t">
            <a:spAutoFit/>
          </a:bodyPr>
          <a:lstStyle/>
          <a:p>
            <a:pPr marL="12700" marR="5080" lvl="0" indent="0" algn="l" defTabSz="914400" rtl="0" eaLnBrk="1" fontAlgn="auto" latinLnBrk="0" hangingPunct="1">
              <a:lnSpc>
                <a:spcPct val="100000"/>
              </a:lnSpc>
              <a:spcBef>
                <a:spcPts val="220"/>
              </a:spcBef>
              <a:spcAft>
                <a:spcPts val="0"/>
              </a:spcAft>
              <a:buClrTx/>
              <a:buSzTx/>
              <a:buFontTx/>
              <a:buNone/>
              <a:tabLst/>
              <a:defRPr/>
            </a:pPr>
            <a:r>
              <a:rPr kumimoji="0" lang="en-gb" sz="1200" b="0" i="0" u="none" strike="noStrike" kern="1000" cap="none" spc="-20" normalizeH="0" baseline="0" noProof="0" dirty="0">
                <a:ln>
                  <a:noFill/>
                </a:ln>
                <a:effectLst/>
                <a:uLnTx/>
                <a:uFillTx/>
                <a:latin typeface="Segoe UI"/>
                <a:ea typeface="+mn-ea"/>
                <a:cs typeface="Segoe UI"/>
              </a:rPr>
              <a:t>Build out landing zone, upskill your staff, </a:t>
            </a:r>
            <a:r>
              <a:rPr lang="en-gb" sz="1200" spc="-20" dirty="0">
                <a:latin typeface="Segoe UI"/>
                <a:cs typeface="Segoe UI"/>
              </a:rPr>
              <a:t>and</a:t>
            </a:r>
            <a:r>
              <a:rPr lang="en-gb" sz="1200" spc="-40" dirty="0">
                <a:latin typeface="Segoe UI"/>
                <a:cs typeface="Segoe UI"/>
              </a:rPr>
              <a:t> </a:t>
            </a:r>
            <a:r>
              <a:rPr lang="en-gb" sz="1200" spc="-20" dirty="0">
                <a:latin typeface="Segoe UI"/>
                <a:cs typeface="Segoe UI"/>
              </a:rPr>
              <a:t>review </a:t>
            </a:r>
            <a:r>
              <a:rPr lang="en-gb" sz="1200" spc="-15" dirty="0">
                <a:latin typeface="Segoe UI"/>
                <a:cs typeface="Segoe UI"/>
              </a:rPr>
              <a:t>best</a:t>
            </a:r>
            <a:r>
              <a:rPr lang="en-gb" sz="1200" spc="-45" dirty="0">
                <a:latin typeface="Segoe UI"/>
                <a:cs typeface="Segoe UI"/>
              </a:rPr>
              <a:t> </a:t>
            </a:r>
            <a:r>
              <a:rPr lang="en-gb" sz="1200" spc="-20" dirty="0">
                <a:latin typeface="Segoe UI"/>
                <a:cs typeface="Segoe UI"/>
              </a:rPr>
              <a:t>practices</a:t>
            </a:r>
            <a:endParaRPr kumimoji="0" lang="en-US" sz="1200" b="0" i="0" u="none" strike="noStrike" kern="1000" cap="none" spc="0" normalizeH="0" baseline="0" noProof="0" dirty="0">
              <a:ln>
                <a:noFill/>
              </a:ln>
              <a:effectLst/>
              <a:uLnTx/>
              <a:uFillTx/>
              <a:latin typeface="Segoe UI"/>
              <a:ea typeface="+mn-ea"/>
              <a:cs typeface="Segoe UI"/>
            </a:endParaRPr>
          </a:p>
        </p:txBody>
      </p:sp>
      <p:sp>
        <p:nvSpPr>
          <p:cNvPr id="27" name="TextBox 26">
            <a:extLst>
              <a:ext uri="{FF2B5EF4-FFF2-40B4-BE49-F238E27FC236}">
                <a16:creationId xmlns:a16="http://schemas.microsoft.com/office/drawing/2014/main" id="{F0127EE3-6FBB-044A-B59D-AED84CDB2383}"/>
              </a:ext>
            </a:extLst>
          </p:cNvPr>
          <p:cNvSpPr txBox="1"/>
          <p:nvPr/>
        </p:nvSpPr>
        <p:spPr>
          <a:xfrm>
            <a:off x="6547454" y="4964597"/>
            <a:ext cx="151236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Adopt</a:t>
            </a:r>
            <a:endParaRPr kumimoji="0" lang="en-US" sz="1400" b="0" i="0" u="none" strike="noStrike" kern="1200" cap="none" spc="0" normalizeH="0" baseline="0" noProof="0" dirty="0">
              <a:ln>
                <a:noFill/>
              </a:ln>
              <a:solidFill>
                <a:srgbClr val="0078D4"/>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A853D958-7F99-4F44-9A05-0F05677C5C65}"/>
              </a:ext>
            </a:extLst>
          </p:cNvPr>
          <p:cNvSpPr txBox="1"/>
          <p:nvPr/>
        </p:nvSpPr>
        <p:spPr>
          <a:xfrm>
            <a:off x="6452732" y="5227081"/>
            <a:ext cx="1727800" cy="64633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20" normalizeH="0" baseline="0" noProof="0" dirty="0">
                <a:ln>
                  <a:noFill/>
                </a:ln>
                <a:effectLst/>
                <a:uLnTx/>
                <a:uFillTx/>
                <a:latin typeface="Segoe UI"/>
                <a:ea typeface="+mn-ea"/>
                <a:cs typeface="Segoe UI"/>
              </a:rPr>
              <a:t>Migrate and modernise iteratively using built-in tools and automation</a:t>
            </a:r>
            <a:endParaRPr kumimoji="0" lang="en-US" sz="1200" b="0" i="0" u="none" strike="noStrike" kern="1200" cap="none" spc="0" normalizeH="0" baseline="0" noProof="0" dirty="0">
              <a:ln>
                <a:noFill/>
              </a:ln>
              <a:effectLst/>
              <a:uLnTx/>
              <a:uFillTx/>
              <a:latin typeface="Segoe UI"/>
              <a:ea typeface="+mn-ea"/>
              <a:cs typeface="Segoe UI"/>
            </a:endParaRPr>
          </a:p>
        </p:txBody>
      </p:sp>
      <p:sp>
        <p:nvSpPr>
          <p:cNvPr id="14" name="Text Placeholder 9">
            <a:extLst>
              <a:ext uri="{FF2B5EF4-FFF2-40B4-BE49-F238E27FC236}">
                <a16:creationId xmlns:a16="http://schemas.microsoft.com/office/drawing/2014/main" id="{75F9EDE8-3507-7B4F-8773-0C06B910D9F3}"/>
              </a:ext>
            </a:extLst>
          </p:cNvPr>
          <p:cNvSpPr txBox="1">
            <a:spLocks/>
          </p:cNvSpPr>
          <p:nvPr/>
        </p:nvSpPr>
        <p:spPr>
          <a:xfrm>
            <a:off x="9258579" y="2674135"/>
            <a:ext cx="1770898" cy="2366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600" b="1" dirty="0">
                <a:solidFill>
                  <a:schemeClr val="bg1"/>
                </a:solidFill>
                <a:latin typeface="Segoe UI Semibold" panose="020B0502040204020203" pitchFamily="34" charset="0"/>
                <a:cs typeface="Segoe UI Semibold" panose="020B0502040204020203" pitchFamily="34" charset="0"/>
              </a:rPr>
              <a:t>Operations</a:t>
            </a:r>
            <a:endParaRPr lang="en-US" sz="2400" b="1" dirty="0">
              <a:solidFill>
                <a:schemeClr val="bg1"/>
              </a:solidFill>
              <a:latin typeface="Segoe UI Semibold" panose="020B0502040204020203" pitchFamily="34" charset="0"/>
              <a:cs typeface="Segoe UI Semibold" panose="020B0502040204020203" pitchFamily="34" charset="0"/>
            </a:endParaRPr>
          </a:p>
        </p:txBody>
      </p:sp>
      <p:sp>
        <p:nvSpPr>
          <p:cNvPr id="22" name="TextBox 21">
            <a:extLst>
              <a:ext uri="{FF2B5EF4-FFF2-40B4-BE49-F238E27FC236}">
                <a16:creationId xmlns:a16="http://schemas.microsoft.com/office/drawing/2014/main" id="{82457203-3F2A-8845-9B5C-7FDF98DB64B4}"/>
              </a:ext>
            </a:extLst>
          </p:cNvPr>
          <p:cNvSpPr txBox="1"/>
          <p:nvPr/>
        </p:nvSpPr>
        <p:spPr>
          <a:xfrm>
            <a:off x="9765862" y="3390892"/>
            <a:ext cx="1770898"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Govern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5" normalizeH="0" baseline="0" noProof="0" dirty="0">
                <a:ln>
                  <a:noFill/>
                </a:ln>
                <a:effectLst/>
                <a:uLnTx/>
                <a:uFillTx/>
                <a:latin typeface="Segoe UI"/>
                <a:ea typeface="+mn-ea"/>
                <a:cs typeface="Segoe UI Semibold"/>
              </a:rPr>
              <a:t>Establish cloud usage standards and guard-rails and enable cloud budget tracking</a:t>
            </a:r>
          </a:p>
        </p:txBody>
      </p:sp>
      <p:sp>
        <p:nvSpPr>
          <p:cNvPr id="19" name="TextBox 18">
            <a:extLst>
              <a:ext uri="{FF2B5EF4-FFF2-40B4-BE49-F238E27FC236}">
                <a16:creationId xmlns:a16="http://schemas.microsoft.com/office/drawing/2014/main" id="{F0D75816-E993-B94B-B968-B8401FB210EC}"/>
              </a:ext>
            </a:extLst>
          </p:cNvPr>
          <p:cNvSpPr txBox="1"/>
          <p:nvPr/>
        </p:nvSpPr>
        <p:spPr>
          <a:xfrm>
            <a:off x="9765862" y="4929202"/>
            <a:ext cx="1512367"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5" normalizeH="0" baseline="0" noProof="0" dirty="0">
                <a:ln>
                  <a:noFill/>
                </a:ln>
                <a:solidFill>
                  <a:srgbClr val="0078D4"/>
                </a:solidFill>
                <a:effectLst/>
                <a:uLnTx/>
                <a:uFillTx/>
                <a:latin typeface="Segoe UI Semibold"/>
                <a:ea typeface="+mn-ea"/>
                <a:cs typeface="Segoe UI Semibold"/>
              </a:rPr>
              <a:t>Manage</a:t>
            </a:r>
          </a:p>
          <a:p>
            <a:pPr algn="l" rtl="0" fontAlgn="base"/>
            <a:r>
              <a:rPr lang="en-gb" sz="1200" b="0" i="0" u="none" strike="noStrike" dirty="0">
                <a:effectLst/>
                <a:latin typeface="Segoe UI" panose="020B0502040204020203" pitchFamily="34" charset="0"/>
              </a:rPr>
              <a:t>Get full visibility and control your security posture</a:t>
            </a:r>
            <a:endParaRPr lang="en-US" sz="1200" b="0" i="0" dirty="0">
              <a:effectLst/>
            </a:endParaRPr>
          </a:p>
        </p:txBody>
      </p:sp>
      <p:sp>
        <p:nvSpPr>
          <p:cNvPr id="28" name="object 10">
            <a:extLst>
              <a:ext uri="{FF2B5EF4-FFF2-40B4-BE49-F238E27FC236}">
                <a16:creationId xmlns:a16="http://schemas.microsoft.com/office/drawing/2014/main" id="{C867041C-2AEE-374E-8826-9A7B29EE7D83}"/>
              </a:ext>
              <a:ext uri="{C183D7F6-B498-43B3-948B-1728B52AA6E4}">
                <adec:decorative xmlns:adec="http://schemas.microsoft.com/office/drawing/2017/decorative" val="1"/>
              </a:ext>
            </a:extLst>
          </p:cNvPr>
          <p:cNvSpPr txBox="1"/>
          <p:nvPr/>
        </p:nvSpPr>
        <p:spPr>
          <a:xfrm>
            <a:off x="5656901" y="3860745"/>
            <a:ext cx="914400" cy="307777"/>
          </a:xfrm>
          <a:prstGeom prst="rect">
            <a:avLst/>
          </a:prstGeom>
          <a:noFill/>
        </p:spPr>
        <p:txBody>
          <a:bodyPr vert="horz" wrap="square" lIns="91440" tIns="45720" rIns="91440" bIns="45720" rtlCol="0" anchor="ctr">
            <a:spAutoFit/>
          </a:bodyPr>
          <a:lstStyle/>
          <a:p>
            <a:pPr marL="0" marR="0" lvl="0" indent="0" algn="ctr" defTabSz="914400" rtl="0" eaLnBrk="1" fontAlgn="auto" latinLnBrk="0" hangingPunct="1">
              <a:lnSpc>
                <a:spcPct val="100000"/>
              </a:lnSpc>
              <a:spcBef>
                <a:spcPts val="305"/>
              </a:spcBef>
              <a:spcAft>
                <a:spcPts val="0"/>
              </a:spcAft>
              <a:buClrTx/>
              <a:buSzTx/>
              <a:buFontTx/>
              <a:buNone/>
              <a:tabLst/>
              <a:defRPr/>
            </a:pPr>
            <a:r>
              <a:rPr kumimoji="0" lang="en-gb" sz="1400" b="1" u="none" strike="noStrike" kern="1200" cap="none" spc="-15" normalizeH="0" baseline="0" noProof="0" dirty="0">
                <a:ln>
                  <a:noFill/>
                </a:ln>
                <a:solidFill>
                  <a:srgbClr val="0078D4"/>
                </a:solidFill>
                <a:effectLst/>
                <a:uLnTx/>
                <a:uFillTx/>
                <a:latin typeface="Segoe UI Semibold" panose="020B0502040204020203" pitchFamily="34" charset="0"/>
                <a:cs typeface="Segoe UI Semibold" panose="020B0502040204020203" pitchFamily="34" charset="0"/>
              </a:rPr>
              <a:t>Migrate</a:t>
            </a:r>
            <a:endParaRPr kumimoji="0" lang="en-US" sz="1100" b="1" u="none" strike="noStrike" kern="1200" cap="none" spc="0" normalizeH="0" baseline="0" noProof="0" dirty="0">
              <a:ln>
                <a:noFill/>
              </a:ln>
              <a:solidFill>
                <a:srgbClr val="0078D4"/>
              </a:solidFill>
              <a:effectLst/>
              <a:uLnTx/>
              <a:uFillTx/>
              <a:latin typeface="Segoe UI Semibold" panose="020B0502040204020203" pitchFamily="34" charset="0"/>
              <a:cs typeface="Segoe UI Semibold" panose="020B0502040204020203" pitchFamily="34" charset="0"/>
            </a:endParaRPr>
          </a:p>
        </p:txBody>
      </p:sp>
      <p:sp>
        <p:nvSpPr>
          <p:cNvPr id="29" name="object 10">
            <a:extLst>
              <a:ext uri="{FF2B5EF4-FFF2-40B4-BE49-F238E27FC236}">
                <a16:creationId xmlns:a16="http://schemas.microsoft.com/office/drawing/2014/main" id="{95CD6B21-A2B2-D241-90C2-B51E062BC7F3}"/>
              </a:ext>
              <a:ext uri="{C183D7F6-B498-43B3-948B-1728B52AA6E4}">
                <adec:decorative xmlns:adec="http://schemas.microsoft.com/office/drawing/2017/decorative" val="1"/>
              </a:ext>
            </a:extLst>
          </p:cNvPr>
          <p:cNvSpPr txBox="1"/>
          <p:nvPr/>
        </p:nvSpPr>
        <p:spPr>
          <a:xfrm>
            <a:off x="5521372" y="5910689"/>
            <a:ext cx="1166407" cy="307777"/>
          </a:xfrm>
          <a:prstGeom prst="rect">
            <a:avLst/>
          </a:prstGeom>
          <a:noFill/>
        </p:spPr>
        <p:txBody>
          <a:bodyPr vert="horz" wrap="square" lIns="91440" tIns="45720" rIns="91440" bIns="45720" rtlCol="0" anchor="ctr">
            <a:spAutoFit/>
          </a:bodyPr>
          <a:lstStyle>
            <a:defPPr>
              <a:defRPr lang="en-US"/>
            </a:defPPr>
            <a:lvl1pPr algn="ctr">
              <a:lnSpc>
                <a:spcPct val="100000"/>
              </a:lnSpc>
              <a:spcBef>
                <a:spcPts val="305"/>
              </a:spcBef>
              <a:defRPr sz="1600" b="1" spc="-15">
                <a:solidFill>
                  <a:srgbClr val="49C7EB"/>
                </a:solidFill>
                <a:latin typeface="Segoe UI Semibold"/>
                <a:cs typeface="Segoe UI Semibold"/>
              </a:defRPr>
            </a:lvl1pPr>
          </a:lstStyle>
          <a:p>
            <a:pPr marL="0" marR="0" lvl="0" indent="0" algn="ctr" defTabSz="914400" rtl="0" eaLnBrk="1" fontAlgn="auto" latinLnBrk="0" hangingPunct="1">
              <a:lnSpc>
                <a:spcPct val="100000"/>
              </a:lnSpc>
              <a:spcBef>
                <a:spcPts val="305"/>
              </a:spcBef>
              <a:spcAft>
                <a:spcPts val="0"/>
              </a:spcAft>
              <a:buClrTx/>
              <a:buSzTx/>
              <a:buFontTx/>
              <a:buNone/>
              <a:tabLst/>
              <a:defRPr/>
            </a:pPr>
            <a:r>
              <a:rPr kumimoji="0" lang="en-gb" sz="1400" u="none" strike="noStrike" kern="1200" cap="none" spc="-15" normalizeH="0" baseline="0" noProof="0" dirty="0">
                <a:ln>
                  <a:noFill/>
                </a:ln>
                <a:solidFill>
                  <a:srgbClr val="0078D4"/>
                </a:solidFill>
                <a:effectLst/>
                <a:uLnTx/>
                <a:uFillTx/>
                <a:latin typeface="Segoe UI Semibold" panose="020B0502040204020203" pitchFamily="34" charset="0"/>
                <a:cs typeface="Segoe UI Semibold" panose="020B0502040204020203" pitchFamily="34" charset="0"/>
              </a:rPr>
              <a:t>Modernise</a:t>
            </a:r>
          </a:p>
        </p:txBody>
      </p:sp>
      <p:sp>
        <p:nvSpPr>
          <p:cNvPr id="8" name="Content Placeholder 7">
            <a:extLst>
              <a:ext uri="{FF2B5EF4-FFF2-40B4-BE49-F238E27FC236}">
                <a16:creationId xmlns:a16="http://schemas.microsoft.com/office/drawing/2014/main" id="{2D849E6E-E54F-EC4C-87DC-65FD7CDD3BDA}"/>
              </a:ext>
            </a:extLst>
          </p:cNvPr>
          <p:cNvSpPr>
            <a:spLocks noGrp="1"/>
          </p:cNvSpPr>
          <p:nvPr/>
        </p:nvSpPr>
        <p:spPr>
          <a:xfrm>
            <a:off x="618706" y="6574201"/>
            <a:ext cx="8480324"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367">
              <a:spcBef>
                <a:spcPts val="0"/>
              </a:spcBef>
              <a:buSzTx/>
              <a:buNone/>
            </a:pPr>
            <a:r>
              <a:rPr lang="en-gb" sz="800" dirty="0">
                <a:latin typeface="Segoe UI" panose="020B0502040204020203" pitchFamily="34" charset="0"/>
                <a:cs typeface="+mn-cs"/>
                <a:hlinkClick r:id="rId4"/>
              </a:rPr>
              <a:t>The Microsoft Cloud Adoption Framework</a:t>
            </a:r>
            <a:r>
              <a:rPr lang="en-gb" sz="800" dirty="0">
                <a:latin typeface="Segoe UI" panose="020B0502040204020203" pitchFamily="34" charset="0"/>
                <a:cs typeface="+mn-cs"/>
              </a:rPr>
              <a:t> is a free resource the features best practices, documentation and tools to successfully achieve your short and long-term objectives. </a:t>
            </a:r>
          </a:p>
          <a:p>
            <a:pPr marL="0" lvl="0" indent="0" defTabSz="914367">
              <a:spcBef>
                <a:spcPts val="0"/>
              </a:spcBef>
              <a:buSzTx/>
              <a:buNone/>
            </a:pPr>
            <a:endParaRPr lang="en-US" sz="800" dirty="0">
              <a:latin typeface="Segoe UI" panose="020B0502040204020203" pitchFamily="34" charset="0"/>
              <a:cs typeface="+mn-cs"/>
            </a:endParaRPr>
          </a:p>
        </p:txBody>
      </p:sp>
    </p:spTree>
    <p:extLst>
      <p:ext uri="{BB962C8B-B14F-4D97-AF65-F5344CB8AC3E}">
        <p14:creationId xmlns:p14="http://schemas.microsoft.com/office/powerpoint/2010/main" val="2893312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14C6-DFB8-224A-B3CC-23B253840EDD}"/>
              </a:ext>
            </a:extLst>
          </p:cNvPr>
          <p:cNvSpPr txBox="1">
            <a:spLocks noGrp="1"/>
          </p:cNvSpPr>
          <p:nvPr>
            <p:ph type="title" idx="4294967295"/>
          </p:nvPr>
        </p:nvSpPr>
        <p:spPr>
          <a:xfrm>
            <a:off x="618706" y="1981539"/>
            <a:ext cx="7326689" cy="22433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rPr>
              <a:t>Why migrate and modernise to Azure?</a:t>
            </a:r>
            <a:endParaRPr kumimoji="0" lang="en-US" sz="20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endParaRPr>
          </a:p>
        </p:txBody>
      </p:sp>
    </p:spTree>
    <p:extLst>
      <p:ext uri="{BB962C8B-B14F-4D97-AF65-F5344CB8AC3E}">
        <p14:creationId xmlns:p14="http://schemas.microsoft.com/office/powerpoint/2010/main" val="3955051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DFCDAA-5362-8A47-BCBE-7017ECC5EE5C}"/>
              </a:ext>
            </a:extLst>
          </p:cNvPr>
          <p:cNvSpPr>
            <a:spLocks noGrp="1"/>
          </p:cNvSpPr>
          <p:nvPr>
            <p:ph type="title" idx="4294967295"/>
          </p:nvPr>
        </p:nvSpPr>
        <p:spPr>
          <a:xfrm>
            <a:off x="618706" y="407604"/>
            <a:ext cx="10429045"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Future-proof your business with Azure</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766A3223-3E82-2C44-9E34-92CC45B13450}"/>
              </a:ext>
            </a:extLst>
          </p:cNvPr>
          <p:cNvSpPr>
            <a:spLocks noGrp="1"/>
          </p:cNvSpPr>
          <p:nvPr/>
        </p:nvSpPr>
        <p:spPr>
          <a:xfrm>
            <a:off x="618707" y="1115918"/>
            <a:ext cx="7030125"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Move on your terms with hybrid flexibility.</a:t>
            </a:r>
          </a:p>
        </p:txBody>
      </p:sp>
      <p:sp>
        <p:nvSpPr>
          <p:cNvPr id="4" name="Content Placeholder 4">
            <a:extLst>
              <a:ext uri="{FF2B5EF4-FFF2-40B4-BE49-F238E27FC236}">
                <a16:creationId xmlns:a16="http://schemas.microsoft.com/office/drawing/2014/main" id="{2E0C1BC2-45B6-844A-9811-CFD313B5B60D}"/>
              </a:ext>
            </a:extLst>
          </p:cNvPr>
          <p:cNvSpPr>
            <a:spLocks noGrp="1"/>
          </p:cNvSpPr>
          <p:nvPr/>
        </p:nvSpPr>
        <p:spPr>
          <a:xfrm>
            <a:off x="3199069" y="2351755"/>
            <a:ext cx="2169344" cy="43088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solidFill>
                  <a:schemeClr val="bg1"/>
                </a:solidFill>
                <a:latin typeface="Segoe UI" panose="020B0502040204020203" pitchFamily="34" charset="0"/>
              </a:rPr>
              <a:t>Innovate faster with a fully managed platform</a:t>
            </a:r>
          </a:p>
        </p:txBody>
      </p:sp>
      <p:sp>
        <p:nvSpPr>
          <p:cNvPr id="5" name="Content Placeholder 4">
            <a:extLst>
              <a:ext uri="{FF2B5EF4-FFF2-40B4-BE49-F238E27FC236}">
                <a16:creationId xmlns:a16="http://schemas.microsoft.com/office/drawing/2014/main" id="{D40DEC27-ED77-364B-B454-CFCDCAD87DC4}"/>
              </a:ext>
            </a:extLst>
          </p:cNvPr>
          <p:cNvSpPr>
            <a:spLocks noGrp="1"/>
          </p:cNvSpPr>
          <p:nvPr/>
        </p:nvSpPr>
        <p:spPr>
          <a:xfrm>
            <a:off x="7345184" y="2351755"/>
            <a:ext cx="2362487" cy="43088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solidFill>
                  <a:schemeClr val="bg1"/>
                </a:solidFill>
                <a:latin typeface="Segoe UI" panose="020B0502040204020203" pitchFamily="34" charset="0"/>
              </a:rPr>
              <a:t>Enterprise-grade infrastructure for less</a:t>
            </a:r>
          </a:p>
        </p:txBody>
      </p:sp>
      <p:sp>
        <p:nvSpPr>
          <p:cNvPr id="6" name="Content Placeholder 4">
            <a:extLst>
              <a:ext uri="{FF2B5EF4-FFF2-40B4-BE49-F238E27FC236}">
                <a16:creationId xmlns:a16="http://schemas.microsoft.com/office/drawing/2014/main" id="{2B65882A-4C37-E249-9523-B85EE4513301}"/>
              </a:ext>
            </a:extLst>
          </p:cNvPr>
          <p:cNvSpPr>
            <a:spLocks noGrp="1"/>
          </p:cNvSpPr>
          <p:nvPr/>
        </p:nvSpPr>
        <p:spPr>
          <a:xfrm>
            <a:off x="3199069" y="3478980"/>
            <a:ext cx="4316547" cy="21544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solidFill>
                  <a:schemeClr val="bg1"/>
                </a:solidFill>
                <a:latin typeface="Segoe UI" panose="020B0502040204020203" pitchFamily="34" charset="0"/>
              </a:rPr>
              <a:t>Move on your terms with hybrid flexibility</a:t>
            </a:r>
          </a:p>
        </p:txBody>
      </p:sp>
      <p:sp>
        <p:nvSpPr>
          <p:cNvPr id="7" name="Content Placeholder 4">
            <a:extLst>
              <a:ext uri="{FF2B5EF4-FFF2-40B4-BE49-F238E27FC236}">
                <a16:creationId xmlns:a16="http://schemas.microsoft.com/office/drawing/2014/main" id="{B4A44097-A703-F042-BDE5-C2F6E6C10CBA}"/>
              </a:ext>
            </a:extLst>
          </p:cNvPr>
          <p:cNvSpPr>
            <a:spLocks noGrp="1"/>
          </p:cNvSpPr>
          <p:nvPr/>
        </p:nvSpPr>
        <p:spPr>
          <a:xfrm>
            <a:off x="3199069" y="4506770"/>
            <a:ext cx="5343682" cy="21544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solidFill>
                  <a:schemeClr val="bg1"/>
                </a:solidFill>
                <a:latin typeface="Segoe UI" panose="020B0502040204020203" pitchFamily="34" charset="0"/>
              </a:rPr>
              <a:t>Protect your most valuable assets with trusted cloud security  </a:t>
            </a:r>
          </a:p>
        </p:txBody>
      </p:sp>
      <p:sp>
        <p:nvSpPr>
          <p:cNvPr id="8" name="Content Placeholder 4">
            <a:extLst>
              <a:ext uri="{FF2B5EF4-FFF2-40B4-BE49-F238E27FC236}">
                <a16:creationId xmlns:a16="http://schemas.microsoft.com/office/drawing/2014/main" id="{620E4C8A-7BD2-1647-BA96-421D6861C860}"/>
              </a:ext>
            </a:extLst>
          </p:cNvPr>
          <p:cNvSpPr>
            <a:spLocks noGrp="1"/>
          </p:cNvSpPr>
          <p:nvPr/>
        </p:nvSpPr>
        <p:spPr>
          <a:xfrm>
            <a:off x="3286372" y="5451917"/>
            <a:ext cx="5519047" cy="43088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914192">
              <a:spcBef>
                <a:spcPts val="0"/>
              </a:spcBef>
              <a:buSzTx/>
              <a:buNone/>
              <a:defRPr/>
            </a:pPr>
            <a:r>
              <a:rPr lang="en-gb" sz="1400" dirty="0">
                <a:solidFill>
                  <a:schemeClr val="bg1"/>
                </a:solidFill>
                <a:latin typeface="Segoe UI" panose="020B0502040204020203" pitchFamily="34" charset="0"/>
              </a:rPr>
              <a:t>Comprehensive programmes to help customers </a:t>
            </a:r>
            <a:br>
              <a:rPr lang="en-gb" sz="1400" dirty="0">
                <a:solidFill>
                  <a:schemeClr val="bg1"/>
                </a:solidFill>
                <a:latin typeface="Segoe UI" panose="020B0502040204020203" pitchFamily="34" charset="0"/>
              </a:rPr>
            </a:br>
            <a:r>
              <a:rPr lang="en-gb" sz="1400" dirty="0">
                <a:solidFill>
                  <a:schemeClr val="bg1"/>
                </a:solidFill>
                <a:latin typeface="Segoe UI" panose="020B0502040204020203" pitchFamily="34" charset="0"/>
              </a:rPr>
              <a:t>move with confidence</a:t>
            </a:r>
          </a:p>
        </p:txBody>
      </p:sp>
    </p:spTree>
    <p:extLst>
      <p:ext uri="{BB962C8B-B14F-4D97-AF65-F5344CB8AC3E}">
        <p14:creationId xmlns:p14="http://schemas.microsoft.com/office/powerpoint/2010/main" val="1001765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DFCDAA-5362-8A47-BCBE-7017ECC5EE5C}"/>
              </a:ext>
            </a:extLst>
          </p:cNvPr>
          <p:cNvSpPr>
            <a:spLocks noGrp="1"/>
          </p:cNvSpPr>
          <p:nvPr>
            <p:ph type="title" idx="4294967295"/>
          </p:nvPr>
        </p:nvSpPr>
        <p:spPr>
          <a:xfrm>
            <a:off x="618706" y="407604"/>
            <a:ext cx="10429045"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Navigate complex IT environments</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766A3223-3E82-2C44-9E34-92CC45B13450}"/>
              </a:ext>
            </a:extLst>
          </p:cNvPr>
          <p:cNvSpPr>
            <a:spLocks noGrp="1"/>
          </p:cNvSpPr>
          <p:nvPr/>
        </p:nvSpPr>
        <p:spPr>
          <a:xfrm>
            <a:off x="618707" y="1115918"/>
            <a:ext cx="8149512"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Microsoft Azure is designed with a hybrid strategy to help you solve common challenges.</a:t>
            </a:r>
          </a:p>
        </p:txBody>
      </p:sp>
      <p:sp>
        <p:nvSpPr>
          <p:cNvPr id="4" name="Text Placeholder 2">
            <a:extLst>
              <a:ext uri="{FF2B5EF4-FFF2-40B4-BE49-F238E27FC236}">
                <a16:creationId xmlns:a16="http://schemas.microsoft.com/office/drawing/2014/main" id="{BBDA4031-987C-A04F-A374-CBB67322DE0C}"/>
              </a:ext>
            </a:extLst>
          </p:cNvPr>
          <p:cNvSpPr txBox="1">
            <a:spLocks/>
          </p:cNvSpPr>
          <p:nvPr/>
        </p:nvSpPr>
        <p:spPr>
          <a:xfrm>
            <a:off x="2114420" y="2235398"/>
            <a:ext cx="2579043" cy="3277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472" fontAlgn="base">
              <a:spcBef>
                <a:spcPct val="0"/>
              </a:spcBef>
              <a:spcAft>
                <a:spcPct val="0"/>
              </a:spcAft>
              <a:buFont typeface="Arial" panose="020B0604020202020204" pitchFamily="34" charset="0"/>
              <a:buNone/>
              <a:defRPr/>
            </a:pPr>
            <a:r>
              <a:rPr lang="en-gb" sz="1600" b="1" dirty="0">
                <a:gradFill>
                  <a:gsLst>
                    <a:gs pos="0">
                      <a:srgbClr val="FFFFFF"/>
                    </a:gs>
                    <a:gs pos="100000">
                      <a:srgbClr val="FFFFFF"/>
                    </a:gs>
                  </a:gsLst>
                  <a:lin ang="5400000" scaled="0"/>
                </a:gradFill>
                <a:latin typeface="Segoe UI Semibold" panose="020B0502040204020203" pitchFamily="34" charset="0"/>
                <a:cs typeface="Segoe UI Semibold" panose="020B0502040204020203" pitchFamily="34" charset="0"/>
              </a:rPr>
              <a:t>100s</a:t>
            </a:r>
            <a:r>
              <a:rPr lang="en-gb" sz="1600" b="1" dirty="0">
                <a:solidFill>
                  <a:srgbClr val="FFFFFF"/>
                </a:solidFill>
                <a:latin typeface="Segoe UI Semibold" panose="020B0502040204020203" pitchFamily="34" charset="0"/>
                <a:cs typeface="Segoe UI Semibold" panose="020B0502040204020203" pitchFamily="34" charset="0"/>
              </a:rPr>
              <a:t>–</a:t>
            </a:r>
            <a:r>
              <a:rPr lang="en-gb" sz="1600" b="1" dirty="0">
                <a:gradFill>
                  <a:gsLst>
                    <a:gs pos="0">
                      <a:srgbClr val="FFFFFF"/>
                    </a:gs>
                    <a:gs pos="100000">
                      <a:srgbClr val="FFFFFF"/>
                    </a:gs>
                  </a:gsLst>
                  <a:lin ang="5400000" scaled="0"/>
                </a:gradFill>
                <a:latin typeface="Segoe UI Semibold" panose="020B0502040204020203" pitchFamily="34" charset="0"/>
                <a:cs typeface="Segoe UI Semibold" panose="020B0502040204020203" pitchFamily="34" charset="0"/>
              </a:rPr>
              <a:t>1,000s of apps</a:t>
            </a:r>
          </a:p>
        </p:txBody>
      </p:sp>
      <p:sp>
        <p:nvSpPr>
          <p:cNvPr id="5" name="Text Placeholder 6">
            <a:extLst>
              <a:ext uri="{FF2B5EF4-FFF2-40B4-BE49-F238E27FC236}">
                <a16:creationId xmlns:a16="http://schemas.microsoft.com/office/drawing/2014/main" id="{3C90F838-86C4-904B-ACB4-D46CC8E4876E}"/>
              </a:ext>
            </a:extLst>
          </p:cNvPr>
          <p:cNvSpPr txBox="1">
            <a:spLocks/>
          </p:cNvSpPr>
          <p:nvPr/>
        </p:nvSpPr>
        <p:spPr>
          <a:xfrm>
            <a:off x="2617458" y="2795021"/>
            <a:ext cx="710987" cy="2111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dirty="0">
                <a:gradFill>
                  <a:gsLst>
                    <a:gs pos="1250">
                      <a:srgbClr val="FFFFFF"/>
                    </a:gs>
                    <a:gs pos="100000">
                      <a:srgbClr val="FFFFFF"/>
                    </a:gs>
                  </a:gsLst>
                  <a:lin ang="5400000" scaled="0"/>
                </a:gradFill>
                <a:latin typeface="Segoe UI Semibold"/>
                <a:ea typeface="Segoe UI" pitchFamily="34" charset="0"/>
              </a:rPr>
              <a:t>VMs</a:t>
            </a:r>
            <a:endParaRPr lang="en-US" dirty="0"/>
          </a:p>
        </p:txBody>
      </p:sp>
      <p:sp>
        <p:nvSpPr>
          <p:cNvPr id="6" name="Text Placeholder 7">
            <a:extLst>
              <a:ext uri="{FF2B5EF4-FFF2-40B4-BE49-F238E27FC236}">
                <a16:creationId xmlns:a16="http://schemas.microsoft.com/office/drawing/2014/main" id="{52879321-FD2C-2B40-80E9-0FC3A0975274}"/>
              </a:ext>
            </a:extLst>
          </p:cNvPr>
          <p:cNvSpPr txBox="1">
            <a:spLocks/>
          </p:cNvSpPr>
          <p:nvPr/>
        </p:nvSpPr>
        <p:spPr>
          <a:xfrm>
            <a:off x="3752623" y="2788408"/>
            <a:ext cx="1220453" cy="2457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dirty="0">
                <a:gradFill>
                  <a:gsLst>
                    <a:gs pos="1250">
                      <a:srgbClr val="FFFFFF"/>
                    </a:gs>
                    <a:gs pos="100000">
                      <a:srgbClr val="FFFFFF"/>
                    </a:gs>
                  </a:gsLst>
                  <a:lin ang="5400000" scaled="0"/>
                </a:gradFill>
                <a:latin typeface="Segoe UI Semibold"/>
                <a:ea typeface="Segoe UI" pitchFamily="34" charset="0"/>
              </a:rPr>
              <a:t>Databases</a:t>
            </a:r>
            <a:endParaRPr lang="en-US" dirty="0"/>
          </a:p>
        </p:txBody>
      </p:sp>
      <p:sp>
        <p:nvSpPr>
          <p:cNvPr id="7" name="Text Placeholder 9">
            <a:extLst>
              <a:ext uri="{FF2B5EF4-FFF2-40B4-BE49-F238E27FC236}">
                <a16:creationId xmlns:a16="http://schemas.microsoft.com/office/drawing/2014/main" id="{1104553C-F16E-2B47-8706-31F59C53DAB3}"/>
              </a:ext>
            </a:extLst>
          </p:cNvPr>
          <p:cNvSpPr txBox="1">
            <a:spLocks/>
          </p:cNvSpPr>
          <p:nvPr/>
        </p:nvSpPr>
        <p:spPr>
          <a:xfrm>
            <a:off x="2550703" y="3449021"/>
            <a:ext cx="1059543" cy="2079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a:gradFill>
                  <a:gsLst>
                    <a:gs pos="1250">
                      <a:srgbClr val="FFFFFF"/>
                    </a:gs>
                    <a:gs pos="100000">
                      <a:srgbClr val="FFFFFF"/>
                    </a:gs>
                  </a:gsLst>
                  <a:lin ang="5400000" scaled="0"/>
                </a:gradFill>
                <a:latin typeface="Segoe UI Semibold"/>
                <a:ea typeface="Segoe UI" pitchFamily="34" charset="0"/>
              </a:rPr>
              <a:t>Containers</a:t>
            </a:r>
            <a:endParaRPr lang="en-US" dirty="0"/>
          </a:p>
        </p:txBody>
      </p:sp>
      <p:sp>
        <p:nvSpPr>
          <p:cNvPr id="8" name="Text Placeholder 10">
            <a:extLst>
              <a:ext uri="{FF2B5EF4-FFF2-40B4-BE49-F238E27FC236}">
                <a16:creationId xmlns:a16="http://schemas.microsoft.com/office/drawing/2014/main" id="{4912BFC3-46E5-B047-9D26-B860D76DC5D3}"/>
              </a:ext>
            </a:extLst>
          </p:cNvPr>
          <p:cNvSpPr txBox="1">
            <a:spLocks/>
          </p:cNvSpPr>
          <p:nvPr/>
        </p:nvSpPr>
        <p:spPr>
          <a:xfrm>
            <a:off x="3762572" y="3442292"/>
            <a:ext cx="880615" cy="2716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a:gradFill>
                  <a:gsLst>
                    <a:gs pos="1250">
                      <a:srgbClr val="FFFFFF"/>
                    </a:gs>
                    <a:gs pos="100000">
                      <a:srgbClr val="FFFFFF"/>
                    </a:gs>
                  </a:gsLst>
                  <a:lin ang="5400000" scaled="0"/>
                </a:gradFill>
                <a:latin typeface="Segoe UI Semibold"/>
                <a:ea typeface="Segoe UI" pitchFamily="34" charset="0"/>
              </a:rPr>
              <a:t>Serverless</a:t>
            </a:r>
            <a:endParaRPr lang="en-US" dirty="0"/>
          </a:p>
        </p:txBody>
      </p:sp>
      <p:sp>
        <p:nvSpPr>
          <p:cNvPr id="30" name="Rectangle 29" descr="Graphic featuring app logos&#10;">
            <a:extLst>
              <a:ext uri="{FF2B5EF4-FFF2-40B4-BE49-F238E27FC236}">
                <a16:creationId xmlns:a16="http://schemas.microsoft.com/office/drawing/2014/main" id="{FF58335F-49E3-304C-A6FF-326AC432CD71}"/>
              </a:ext>
            </a:extLst>
          </p:cNvPr>
          <p:cNvSpPr/>
          <p:nvPr/>
        </p:nvSpPr>
        <p:spPr>
          <a:xfrm>
            <a:off x="2114420" y="3837826"/>
            <a:ext cx="2528767" cy="545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1">
            <a:extLst>
              <a:ext uri="{FF2B5EF4-FFF2-40B4-BE49-F238E27FC236}">
                <a16:creationId xmlns:a16="http://schemas.microsoft.com/office/drawing/2014/main" id="{8A60A485-B04B-1547-9338-3CE071EF947C}"/>
              </a:ext>
            </a:extLst>
          </p:cNvPr>
          <p:cNvSpPr txBox="1">
            <a:spLocks/>
          </p:cNvSpPr>
          <p:nvPr/>
        </p:nvSpPr>
        <p:spPr>
          <a:xfrm>
            <a:off x="4738691" y="2235398"/>
            <a:ext cx="2492830" cy="2948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indent="0" algn="ctr" defTabSz="932472" fontAlgn="base">
              <a:spcBef>
                <a:spcPct val="0"/>
              </a:spcBef>
              <a:spcAft>
                <a:spcPct val="0"/>
              </a:spcAft>
              <a:buFont typeface="Arial" panose="020B0604020202020204" pitchFamily="34" charset="0"/>
              <a:buNone/>
              <a:defRPr/>
            </a:pPr>
            <a:r>
              <a:rPr lang="en-gb" sz="1600" b="1" dirty="0">
                <a:gradFill>
                  <a:gsLst>
                    <a:gs pos="0">
                      <a:srgbClr val="FFFFFF"/>
                    </a:gs>
                    <a:gs pos="100000">
                      <a:srgbClr val="FFFFFF"/>
                    </a:gs>
                  </a:gsLst>
                  <a:lin ang="5400000" scaled="0"/>
                </a:gradFill>
                <a:latin typeface="Segoe UI Semibold" panose="020B0502040204020203" pitchFamily="34" charset="0"/>
                <a:cs typeface="Segoe UI Semibold" panose="020B0502040204020203" pitchFamily="34" charset="0"/>
              </a:rPr>
              <a:t>Diverse infrastructure</a:t>
            </a:r>
          </a:p>
        </p:txBody>
      </p:sp>
      <p:sp>
        <p:nvSpPr>
          <p:cNvPr id="10" name="Text Placeholder 12">
            <a:extLst>
              <a:ext uri="{FF2B5EF4-FFF2-40B4-BE49-F238E27FC236}">
                <a16:creationId xmlns:a16="http://schemas.microsoft.com/office/drawing/2014/main" id="{67D0D116-49BD-4B43-9E8A-08B71244DA63}"/>
              </a:ext>
            </a:extLst>
          </p:cNvPr>
          <p:cNvSpPr txBox="1">
            <a:spLocks/>
          </p:cNvSpPr>
          <p:nvPr/>
        </p:nvSpPr>
        <p:spPr>
          <a:xfrm>
            <a:off x="5181427" y="2821329"/>
            <a:ext cx="1175704" cy="247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dirty="0">
                <a:gradFill>
                  <a:gsLst>
                    <a:gs pos="1250">
                      <a:srgbClr val="FFFFFF"/>
                    </a:gs>
                    <a:gs pos="100000">
                      <a:srgbClr val="FFFFFF"/>
                    </a:gs>
                  </a:gsLst>
                  <a:lin ang="5400000" scaled="0"/>
                </a:gradFill>
                <a:latin typeface="Segoe UI Semibold"/>
                <a:ea typeface="Segoe UI" pitchFamily="34" charset="0"/>
              </a:rPr>
              <a:t>Data centres</a:t>
            </a:r>
            <a:endParaRPr lang="en-US" dirty="0"/>
          </a:p>
        </p:txBody>
      </p:sp>
      <p:sp>
        <p:nvSpPr>
          <p:cNvPr id="11" name="Text Placeholder 15">
            <a:extLst>
              <a:ext uri="{FF2B5EF4-FFF2-40B4-BE49-F238E27FC236}">
                <a16:creationId xmlns:a16="http://schemas.microsoft.com/office/drawing/2014/main" id="{F05F762B-8260-AE44-B413-9B61DA45E85E}"/>
              </a:ext>
            </a:extLst>
          </p:cNvPr>
          <p:cNvSpPr txBox="1">
            <a:spLocks/>
          </p:cNvSpPr>
          <p:nvPr/>
        </p:nvSpPr>
        <p:spPr>
          <a:xfrm>
            <a:off x="6565483" y="2810220"/>
            <a:ext cx="742994" cy="3342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dirty="0" err="1">
                <a:gradFill>
                  <a:gsLst>
                    <a:gs pos="1250">
                      <a:srgbClr val="FFFFFF"/>
                    </a:gs>
                    <a:gs pos="100000">
                      <a:srgbClr val="FFFFFF"/>
                    </a:gs>
                  </a:gsLst>
                  <a:lin ang="5400000" scaled="0"/>
                </a:gradFill>
                <a:latin typeface="Segoe UI Semibold"/>
                <a:ea typeface="Segoe UI" pitchFamily="34" charset="0"/>
              </a:rPr>
              <a:t>Hosters</a:t>
            </a:r>
            <a:endParaRPr lang="en-US" dirty="0"/>
          </a:p>
        </p:txBody>
      </p:sp>
      <p:sp>
        <p:nvSpPr>
          <p:cNvPr id="12" name="Text Placeholder 13">
            <a:extLst>
              <a:ext uri="{FF2B5EF4-FFF2-40B4-BE49-F238E27FC236}">
                <a16:creationId xmlns:a16="http://schemas.microsoft.com/office/drawing/2014/main" id="{A319D3B3-4763-9043-8A41-A43887D0DA98}"/>
              </a:ext>
            </a:extLst>
          </p:cNvPr>
          <p:cNvSpPr txBox="1">
            <a:spLocks/>
          </p:cNvSpPr>
          <p:nvPr/>
        </p:nvSpPr>
        <p:spPr>
          <a:xfrm>
            <a:off x="5181427" y="3354674"/>
            <a:ext cx="1175704" cy="3452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472" fontAlgn="base">
              <a:spcBef>
                <a:spcPct val="0"/>
              </a:spcBef>
              <a:spcAft>
                <a:spcPct val="0"/>
              </a:spcAft>
              <a:buFont typeface="Arial" panose="020B0604020202020204" pitchFamily="34" charset="0"/>
              <a:buNone/>
              <a:defRPr/>
            </a:pPr>
            <a:r>
              <a:rPr lang="en-gb" sz="1200" dirty="0">
                <a:gradFill>
                  <a:gsLst>
                    <a:gs pos="1250">
                      <a:srgbClr val="FFFFFF"/>
                    </a:gs>
                    <a:gs pos="100000">
                      <a:srgbClr val="FFFFFF"/>
                    </a:gs>
                  </a:gsLst>
                  <a:lin ang="5400000" scaled="0"/>
                </a:gradFill>
                <a:latin typeface="Segoe UI Semibold"/>
                <a:ea typeface="Segoe UI" pitchFamily="34" charset="0"/>
              </a:rPr>
              <a:t>Branch</a:t>
            </a:r>
          </a:p>
          <a:p>
            <a:pPr marL="0" indent="0" defTabSz="932472" fontAlgn="base">
              <a:spcBef>
                <a:spcPct val="0"/>
              </a:spcBef>
              <a:spcAft>
                <a:spcPct val="0"/>
              </a:spcAft>
              <a:buFont typeface="Arial" panose="020B0604020202020204" pitchFamily="34" charset="0"/>
              <a:buNone/>
              <a:defRPr/>
            </a:pPr>
            <a:r>
              <a:rPr lang="en-gb" sz="1200" dirty="0">
                <a:gradFill>
                  <a:gsLst>
                    <a:gs pos="1250">
                      <a:srgbClr val="FFFFFF"/>
                    </a:gs>
                    <a:gs pos="100000">
                      <a:srgbClr val="FFFFFF"/>
                    </a:gs>
                  </a:gsLst>
                  <a:lin ang="5400000" scaled="0"/>
                </a:gradFill>
                <a:latin typeface="Segoe UI Semibold"/>
                <a:ea typeface="Segoe UI" pitchFamily="34" charset="0"/>
              </a:rPr>
              <a:t>offices</a:t>
            </a:r>
          </a:p>
        </p:txBody>
      </p:sp>
      <p:sp>
        <p:nvSpPr>
          <p:cNvPr id="13" name="Text Placeholder 16">
            <a:extLst>
              <a:ext uri="{FF2B5EF4-FFF2-40B4-BE49-F238E27FC236}">
                <a16:creationId xmlns:a16="http://schemas.microsoft.com/office/drawing/2014/main" id="{706BB3C8-8B07-3845-B9BF-95FDF4616898}"/>
              </a:ext>
            </a:extLst>
          </p:cNvPr>
          <p:cNvSpPr txBox="1">
            <a:spLocks/>
          </p:cNvSpPr>
          <p:nvPr/>
        </p:nvSpPr>
        <p:spPr>
          <a:xfrm>
            <a:off x="6539340" y="3321641"/>
            <a:ext cx="843095" cy="3519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472" fontAlgn="base">
              <a:spcBef>
                <a:spcPct val="0"/>
              </a:spcBef>
              <a:spcAft>
                <a:spcPct val="0"/>
              </a:spcAft>
              <a:buFont typeface="Arial" panose="020B0604020202020204" pitchFamily="34" charset="0"/>
              <a:buNone/>
              <a:defRPr/>
            </a:pPr>
            <a:r>
              <a:rPr lang="en-gb" sz="1200" dirty="0">
                <a:gradFill>
                  <a:gsLst>
                    <a:gs pos="1250">
                      <a:srgbClr val="FFFFFF"/>
                    </a:gs>
                    <a:gs pos="100000">
                      <a:srgbClr val="FFFFFF"/>
                    </a:gs>
                  </a:gsLst>
                  <a:lin ang="5400000" scaled="0"/>
                </a:gradFill>
                <a:latin typeface="Segoe UI Semibold"/>
                <a:ea typeface="Segoe UI" pitchFamily="34" charset="0"/>
              </a:rPr>
              <a:t>OEM hardware</a:t>
            </a:r>
          </a:p>
        </p:txBody>
      </p:sp>
      <p:sp>
        <p:nvSpPr>
          <p:cNvPr id="14" name="Text Placeholder 14">
            <a:extLst>
              <a:ext uri="{FF2B5EF4-FFF2-40B4-BE49-F238E27FC236}">
                <a16:creationId xmlns:a16="http://schemas.microsoft.com/office/drawing/2014/main" id="{57764454-6873-884F-9775-F35004DBD37D}"/>
              </a:ext>
            </a:extLst>
          </p:cNvPr>
          <p:cNvSpPr txBox="1">
            <a:spLocks/>
          </p:cNvSpPr>
          <p:nvPr/>
        </p:nvSpPr>
        <p:spPr>
          <a:xfrm>
            <a:off x="5235889" y="4004099"/>
            <a:ext cx="959877" cy="3792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472" fontAlgn="base">
              <a:spcBef>
                <a:spcPct val="0"/>
              </a:spcBef>
              <a:spcAft>
                <a:spcPct val="0"/>
              </a:spcAft>
              <a:buFont typeface="Arial" panose="020B0604020202020204" pitchFamily="34" charset="0"/>
              <a:buNone/>
              <a:defRPr/>
            </a:pPr>
            <a:r>
              <a:rPr lang="en-gb" sz="1200" dirty="0">
                <a:gradFill>
                  <a:gsLst>
                    <a:gs pos="1250">
                      <a:srgbClr val="FFFFFF"/>
                    </a:gs>
                    <a:gs pos="100000">
                      <a:srgbClr val="FFFFFF"/>
                    </a:gs>
                  </a:gsLst>
                  <a:lin ang="5400000" scaled="0"/>
                </a:gradFill>
                <a:latin typeface="Segoe UI Semibold"/>
                <a:ea typeface="Segoe UI" pitchFamily="34" charset="0"/>
              </a:rPr>
              <a:t>IoT devices</a:t>
            </a:r>
          </a:p>
        </p:txBody>
      </p:sp>
      <p:sp>
        <p:nvSpPr>
          <p:cNvPr id="15" name="Text Placeholder 17">
            <a:extLst>
              <a:ext uri="{FF2B5EF4-FFF2-40B4-BE49-F238E27FC236}">
                <a16:creationId xmlns:a16="http://schemas.microsoft.com/office/drawing/2014/main" id="{E1EFDAA2-C7FA-E443-B2F0-82C84C451FD2}"/>
              </a:ext>
            </a:extLst>
          </p:cNvPr>
          <p:cNvSpPr txBox="1">
            <a:spLocks/>
          </p:cNvSpPr>
          <p:nvPr/>
        </p:nvSpPr>
        <p:spPr>
          <a:xfrm>
            <a:off x="6592600" y="4002490"/>
            <a:ext cx="646687" cy="2948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200" dirty="0">
                <a:gradFill>
                  <a:gsLst>
                    <a:gs pos="1250">
                      <a:srgbClr val="FFFFFF"/>
                    </a:gs>
                    <a:gs pos="100000">
                      <a:srgbClr val="FFFFFF"/>
                    </a:gs>
                  </a:gsLst>
                  <a:lin ang="5400000" scaled="0"/>
                </a:gradFill>
                <a:latin typeface="Segoe UI Semibold"/>
                <a:ea typeface="Segoe UI" pitchFamily="34" charset="0"/>
              </a:rPr>
              <a:t>Edge</a:t>
            </a:r>
            <a:endParaRPr lang="en-US" dirty="0"/>
          </a:p>
        </p:txBody>
      </p:sp>
      <p:sp>
        <p:nvSpPr>
          <p:cNvPr id="16" name="Text Placeholder 18">
            <a:extLst>
              <a:ext uri="{FF2B5EF4-FFF2-40B4-BE49-F238E27FC236}">
                <a16:creationId xmlns:a16="http://schemas.microsoft.com/office/drawing/2014/main" id="{7383D9FD-D400-6E44-B72B-218B166FF0ED}"/>
              </a:ext>
            </a:extLst>
          </p:cNvPr>
          <p:cNvSpPr txBox="1">
            <a:spLocks/>
          </p:cNvSpPr>
          <p:nvPr/>
        </p:nvSpPr>
        <p:spPr>
          <a:xfrm>
            <a:off x="7512016" y="2235398"/>
            <a:ext cx="2579041" cy="3519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472" fontAlgn="base">
              <a:spcBef>
                <a:spcPct val="0"/>
              </a:spcBef>
              <a:spcAft>
                <a:spcPct val="0"/>
              </a:spcAft>
              <a:buFont typeface="Arial" panose="020B0604020202020204" pitchFamily="34" charset="0"/>
              <a:buNone/>
              <a:defRPr/>
            </a:pPr>
            <a:r>
              <a:rPr lang="en-gb" sz="1600" b="1" dirty="0">
                <a:gradFill>
                  <a:gsLst>
                    <a:gs pos="0">
                      <a:srgbClr val="FFFFFF"/>
                    </a:gs>
                    <a:gs pos="100000">
                      <a:srgbClr val="FFFFFF"/>
                    </a:gs>
                  </a:gsLst>
                  <a:lin ang="5400000" scaled="0"/>
                </a:gradFill>
                <a:latin typeface="Segoe UI Semibold" panose="020B0502040204020203" pitchFamily="34" charset="0"/>
                <a:cs typeface="Segoe UI Semibold" panose="020B0502040204020203" pitchFamily="34" charset="0"/>
              </a:rPr>
              <a:t>Hybrid and multicloud</a:t>
            </a:r>
            <a:endParaRPr lang="en-US" sz="1600" b="1" dirty="0">
              <a:gradFill>
                <a:gsLst>
                  <a:gs pos="0">
                    <a:srgbClr val="FFFFFF"/>
                  </a:gs>
                  <a:gs pos="100000">
                    <a:srgbClr val="FFFFFF"/>
                  </a:gs>
                </a:gsLst>
                <a:lin ang="5400000" scaled="0"/>
              </a:gradFill>
              <a:latin typeface="Segoe UI Semibold" panose="020B0502040204020203" pitchFamily="34" charset="0"/>
              <a:cs typeface="Segoe UI Semibold" panose="020B0502040204020203" pitchFamily="34" charset="0"/>
            </a:endParaRPr>
          </a:p>
        </p:txBody>
      </p:sp>
      <p:grpSp>
        <p:nvGrpSpPr>
          <p:cNvPr id="17" name="Group 16" descr="Microsoft Azure logo">
            <a:extLst>
              <a:ext uri="{FF2B5EF4-FFF2-40B4-BE49-F238E27FC236}">
                <a16:creationId xmlns:a16="http://schemas.microsoft.com/office/drawing/2014/main" id="{9D647F26-E6D9-3D4C-9555-4E37BF1575B7}"/>
              </a:ext>
            </a:extLst>
          </p:cNvPr>
          <p:cNvGrpSpPr/>
          <p:nvPr/>
        </p:nvGrpSpPr>
        <p:grpSpPr>
          <a:xfrm>
            <a:off x="8188732" y="2831669"/>
            <a:ext cx="1158974" cy="213956"/>
            <a:chOff x="5231640" y="2859587"/>
            <a:chExt cx="1769662" cy="326694"/>
          </a:xfrm>
        </p:grpSpPr>
        <p:pic>
          <p:nvPicPr>
            <p:cNvPr id="18" name="Picture 17">
              <a:extLst>
                <a:ext uri="{FF2B5EF4-FFF2-40B4-BE49-F238E27FC236}">
                  <a16:creationId xmlns:a16="http://schemas.microsoft.com/office/drawing/2014/main" id="{7BBB4A03-9FFE-0946-B9BE-346A710E7CDF}"/>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r="82446" b="108"/>
            <a:stretch/>
          </p:blipFill>
          <p:spPr>
            <a:xfrm>
              <a:off x="5231640" y="2859587"/>
              <a:ext cx="310640" cy="326343"/>
            </a:xfrm>
            <a:prstGeom prst="rect">
              <a:avLst/>
            </a:prstGeom>
            <a:ln>
              <a:noFill/>
            </a:ln>
          </p:spPr>
        </p:pic>
        <p:pic>
          <p:nvPicPr>
            <p:cNvPr id="19" name="Picture 18">
              <a:extLst>
                <a:ext uri="{FF2B5EF4-FFF2-40B4-BE49-F238E27FC236}">
                  <a16:creationId xmlns:a16="http://schemas.microsoft.com/office/drawing/2014/main" id="{12908101-F960-6B48-9735-2C69D8CD45C8}"/>
                </a:ext>
                <a:ext uri="{C183D7F6-B498-43B3-948B-1728B52AA6E4}">
                  <adec:decorative xmlns:adec="http://schemas.microsoft.com/office/drawing/2017/decorative" val="1"/>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l="17553"/>
            <a:stretch/>
          </p:blipFill>
          <p:spPr>
            <a:xfrm>
              <a:off x="5542280" y="2859587"/>
              <a:ext cx="1459022" cy="326694"/>
            </a:xfrm>
            <a:prstGeom prst="rect">
              <a:avLst/>
            </a:prstGeom>
            <a:ln>
              <a:noFill/>
            </a:ln>
          </p:spPr>
        </p:pic>
      </p:grpSp>
      <p:grpSp>
        <p:nvGrpSpPr>
          <p:cNvPr id="20" name="Group 19" descr="aws logo">
            <a:extLst>
              <a:ext uri="{FF2B5EF4-FFF2-40B4-BE49-F238E27FC236}">
                <a16:creationId xmlns:a16="http://schemas.microsoft.com/office/drawing/2014/main" id="{570E39D9-4037-7C40-A67C-18B0C2611791}"/>
              </a:ext>
            </a:extLst>
          </p:cNvPr>
          <p:cNvGrpSpPr/>
          <p:nvPr/>
        </p:nvGrpSpPr>
        <p:grpSpPr>
          <a:xfrm>
            <a:off x="7834037" y="3322870"/>
            <a:ext cx="445589" cy="272064"/>
            <a:chOff x="9059149" y="4214490"/>
            <a:chExt cx="1521766" cy="929146"/>
          </a:xfrm>
        </p:grpSpPr>
        <p:pic>
          <p:nvPicPr>
            <p:cNvPr id="21" name="Picture 2">
              <a:extLst>
                <a:ext uri="{FF2B5EF4-FFF2-40B4-BE49-F238E27FC236}">
                  <a16:creationId xmlns:a16="http://schemas.microsoft.com/office/drawing/2014/main" id="{26D7D1EF-ED2F-4945-BE5A-292CB9F097A8}"/>
                </a:ext>
                <a:ext uri="{C183D7F6-B498-43B3-948B-1728B52AA6E4}">
                  <adec:decorative xmlns:adec="http://schemas.microsoft.com/office/drawing/2017/decorative" val="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2580" t="65567" r="12580"/>
            <a:stretch/>
          </p:blipFill>
          <p:spPr bwMode="auto">
            <a:xfrm>
              <a:off x="9059149" y="4749800"/>
              <a:ext cx="1521766" cy="39383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F315FE84-9B41-F540-8A9C-90BD680E1A4E}"/>
                </a:ext>
                <a:ext uri="{C183D7F6-B498-43B3-948B-1728B52AA6E4}">
                  <adec:decorative xmlns:adec="http://schemas.microsoft.com/office/drawing/2017/decorative" val="1"/>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l="12580" t="18764" r="12580" b="32417"/>
            <a:stretch/>
          </p:blipFill>
          <p:spPr bwMode="auto">
            <a:xfrm>
              <a:off x="9059149" y="4214490"/>
              <a:ext cx="1521766" cy="558370"/>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23" name="Group 22" descr="Google Cloud logo">
            <a:extLst>
              <a:ext uri="{FF2B5EF4-FFF2-40B4-BE49-F238E27FC236}">
                <a16:creationId xmlns:a16="http://schemas.microsoft.com/office/drawing/2014/main" id="{20557877-5E34-BA4F-B12B-52D39B53381D}"/>
              </a:ext>
            </a:extLst>
          </p:cNvPr>
          <p:cNvGrpSpPr/>
          <p:nvPr/>
        </p:nvGrpSpPr>
        <p:grpSpPr>
          <a:xfrm>
            <a:off x="8824583" y="3375090"/>
            <a:ext cx="1062210" cy="167624"/>
            <a:chOff x="7369175" y="5953125"/>
            <a:chExt cx="5734050" cy="904875"/>
          </a:xfrm>
        </p:grpSpPr>
        <p:pic>
          <p:nvPicPr>
            <p:cNvPr id="24" name="Picture 4">
              <a:extLst>
                <a:ext uri="{FF2B5EF4-FFF2-40B4-BE49-F238E27FC236}">
                  <a16:creationId xmlns:a16="http://schemas.microsoft.com/office/drawing/2014/main" id="{5D5C4C49-FBED-B547-8A95-68732E78EE63}"/>
                </a:ext>
                <a:ext uri="{C183D7F6-B498-43B3-948B-1728B52AA6E4}">
                  <adec:decorative xmlns:adec="http://schemas.microsoft.com/office/drawing/2017/decorative" val="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r="79839"/>
            <a:stretch/>
          </p:blipFill>
          <p:spPr bwMode="auto">
            <a:xfrm>
              <a:off x="7369175" y="5953125"/>
              <a:ext cx="1156058" cy="90487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5" name="Picture 4">
              <a:extLst>
                <a:ext uri="{FF2B5EF4-FFF2-40B4-BE49-F238E27FC236}">
                  <a16:creationId xmlns:a16="http://schemas.microsoft.com/office/drawing/2014/main" id="{61F47E85-9F7C-DD4A-BD4F-0743DF2C5725}"/>
                </a:ext>
                <a:ext uri="{C183D7F6-B498-43B3-948B-1728B52AA6E4}">
                  <adec:decorative xmlns:adec="http://schemas.microsoft.com/office/drawing/2017/decorative" val="1"/>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l="21960"/>
            <a:stretch/>
          </p:blipFill>
          <p:spPr bwMode="auto">
            <a:xfrm>
              <a:off x="8628361" y="5953125"/>
              <a:ext cx="4474864" cy="904875"/>
            </a:xfrm>
            <a:prstGeom prst="rect">
              <a:avLst/>
            </a:prstGeom>
            <a:noFill/>
            <a:ln>
              <a:noFill/>
            </a:ln>
            <a:extLst>
              <a:ext uri="{909E8E84-426E-40DD-AFC4-6F175D3DCCD1}">
                <a14:hiddenFill xmlns:a14="http://schemas.microsoft.com/office/drawing/2010/main">
                  <a:solidFill>
                    <a:srgbClr val="FFFFFF"/>
                  </a:solidFill>
                </a14:hiddenFill>
              </a:ext>
            </a:extLst>
          </p:spPr>
        </p:pic>
      </p:grpSp>
      <p:pic>
        <p:nvPicPr>
          <p:cNvPr id="26" name="Picture 25" descr="Oracle logo&#10;">
            <a:extLst>
              <a:ext uri="{FF2B5EF4-FFF2-40B4-BE49-F238E27FC236}">
                <a16:creationId xmlns:a16="http://schemas.microsoft.com/office/drawing/2014/main" id="{D31F6F12-1566-B944-A7C2-83A9A8EB9432}"/>
              </a:ext>
            </a:extLst>
          </p:cNvPr>
          <p:cNvPicPr>
            <a:picLocks noChangeAspect="1"/>
          </p:cNvPicPr>
          <p:nvPr/>
        </p:nvPicPr>
        <p:blipFill>
          <a:blip r:embed="rId13"/>
          <a:stretch>
            <a:fillRect/>
          </a:stretch>
        </p:blipFill>
        <p:spPr>
          <a:xfrm>
            <a:off x="7649645" y="3925878"/>
            <a:ext cx="814373" cy="106557"/>
          </a:xfrm>
          <a:prstGeom prst="rect">
            <a:avLst/>
          </a:prstGeom>
          <a:ln>
            <a:noFill/>
          </a:ln>
        </p:spPr>
      </p:pic>
      <p:pic>
        <p:nvPicPr>
          <p:cNvPr id="27" name="Picture 26" descr="IBM Cloud logo">
            <a:extLst>
              <a:ext uri="{FF2B5EF4-FFF2-40B4-BE49-F238E27FC236}">
                <a16:creationId xmlns:a16="http://schemas.microsoft.com/office/drawing/2014/main" id="{A9D2A1E1-5B21-9648-B691-C3CB56AEA8DF}"/>
              </a:ext>
            </a:extLst>
          </p:cNvPr>
          <p:cNvPicPr>
            <a:picLocks noChangeAspect="1"/>
          </p:cNvPicPr>
          <p:nvPr/>
        </p:nvPicPr>
        <p:blipFill>
          <a:blip r:embed="rId14"/>
          <a:stretch>
            <a:fillRect/>
          </a:stretch>
        </p:blipFill>
        <p:spPr>
          <a:xfrm>
            <a:off x="8863420" y="3837826"/>
            <a:ext cx="984536" cy="228546"/>
          </a:xfrm>
          <a:prstGeom prst="rect">
            <a:avLst/>
          </a:prstGeom>
          <a:ln>
            <a:noFill/>
          </a:ln>
        </p:spPr>
      </p:pic>
      <p:sp>
        <p:nvSpPr>
          <p:cNvPr id="29" name="Text Placeholder 19">
            <a:extLst>
              <a:ext uri="{FF2B5EF4-FFF2-40B4-BE49-F238E27FC236}">
                <a16:creationId xmlns:a16="http://schemas.microsoft.com/office/drawing/2014/main" id="{B6700768-8E8F-8840-8490-6C8CE4215206}"/>
              </a:ext>
            </a:extLst>
          </p:cNvPr>
          <p:cNvSpPr txBox="1">
            <a:spLocks/>
          </p:cNvSpPr>
          <p:nvPr/>
        </p:nvSpPr>
        <p:spPr>
          <a:xfrm>
            <a:off x="2550704" y="5099795"/>
            <a:ext cx="2187988" cy="4651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67">
              <a:spcBef>
                <a:spcPts val="0"/>
              </a:spcBef>
              <a:buFont typeface="Arial" panose="020B0604020202020204" pitchFamily="34" charset="0"/>
              <a:buNone/>
              <a:defRPr/>
            </a:pPr>
            <a:r>
              <a:rPr lang="en-gb" sz="1400" spc="-50" dirty="0">
                <a:gradFill>
                  <a:gsLst>
                    <a:gs pos="2917">
                      <a:srgbClr val="FFFFFF"/>
                    </a:gs>
                    <a:gs pos="30000">
                      <a:srgbClr val="FFFFFF"/>
                    </a:gs>
                  </a:gsLst>
                  <a:lin ang="5400000" scaled="0"/>
                </a:gradFill>
                <a:latin typeface="Segoe UI Semibold"/>
              </a:rPr>
              <a:t>Why choose a hybrid</a:t>
            </a:r>
          </a:p>
          <a:p>
            <a:pPr marL="0" indent="0" defTabSz="914367">
              <a:spcBef>
                <a:spcPts val="0"/>
              </a:spcBef>
              <a:buFont typeface="Arial" panose="020B0604020202020204" pitchFamily="34" charset="0"/>
              <a:buNone/>
              <a:defRPr/>
            </a:pPr>
            <a:r>
              <a:rPr lang="en-gb" sz="1400" spc="-50" dirty="0">
                <a:gradFill>
                  <a:gsLst>
                    <a:gs pos="2917">
                      <a:srgbClr val="FFFFFF"/>
                    </a:gs>
                    <a:gs pos="30000">
                      <a:srgbClr val="FFFFFF"/>
                    </a:gs>
                  </a:gsLst>
                  <a:lin ang="5400000" scaled="0"/>
                </a:gradFill>
                <a:latin typeface="Segoe UI Semibold"/>
              </a:rPr>
              <a:t>and multicloud strategy?</a:t>
            </a:r>
          </a:p>
        </p:txBody>
      </p:sp>
      <p:sp>
        <p:nvSpPr>
          <p:cNvPr id="35" name="Text Placeholder 20">
            <a:extLst>
              <a:ext uri="{FF2B5EF4-FFF2-40B4-BE49-F238E27FC236}">
                <a16:creationId xmlns:a16="http://schemas.microsoft.com/office/drawing/2014/main" id="{5801524A-63EC-7B45-9425-44C15AFC1797}"/>
              </a:ext>
            </a:extLst>
          </p:cNvPr>
          <p:cNvSpPr txBox="1">
            <a:spLocks/>
          </p:cNvSpPr>
          <p:nvPr/>
        </p:nvSpPr>
        <p:spPr>
          <a:xfrm>
            <a:off x="4973076" y="4744036"/>
            <a:ext cx="3730933" cy="1301332"/>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32472" fontAlgn="base">
              <a:spcBef>
                <a:spcPct val="0"/>
              </a:spcBef>
              <a:spcAft>
                <a:spcPts val="600"/>
              </a:spcAft>
              <a:defRPr/>
            </a:pPr>
            <a:r>
              <a:rPr lang="en-gb" sz="1200" dirty="0">
                <a:gradFill>
                  <a:gsLst>
                    <a:gs pos="98947">
                      <a:srgbClr val="FFFFFF"/>
                    </a:gs>
                    <a:gs pos="74000">
                      <a:srgbClr val="FFFFFF"/>
                    </a:gs>
                  </a:gsLst>
                  <a:lin ang="18900000" scaled="1"/>
                </a:gradFill>
                <a:latin typeface="Segoe UI Semibold"/>
                <a:ea typeface="Segoe UI" pitchFamily="34" charset="0"/>
              </a:rPr>
              <a:t>Regulatory and data sovereignty</a:t>
            </a:r>
          </a:p>
          <a:p>
            <a:pPr defTabSz="932472" fontAlgn="base">
              <a:spcBef>
                <a:spcPct val="0"/>
              </a:spcBef>
              <a:spcAft>
                <a:spcPts val="600"/>
              </a:spcAft>
              <a:defRPr/>
            </a:pPr>
            <a:r>
              <a:rPr lang="en-gb" sz="1200" dirty="0">
                <a:gradFill>
                  <a:gsLst>
                    <a:gs pos="98947">
                      <a:srgbClr val="FFFFFF"/>
                    </a:gs>
                    <a:gs pos="74000">
                      <a:srgbClr val="FFFFFF"/>
                    </a:gs>
                  </a:gsLst>
                  <a:lin ang="18900000" scaled="1"/>
                </a:gradFill>
                <a:latin typeface="Segoe UI Semibold"/>
                <a:ea typeface="Segoe UI" pitchFamily="34" charset="0"/>
              </a:rPr>
              <a:t>Low latency and edge workloads</a:t>
            </a:r>
          </a:p>
          <a:p>
            <a:pPr defTabSz="932472" fontAlgn="base">
              <a:spcBef>
                <a:spcPct val="0"/>
              </a:spcBef>
              <a:spcAft>
                <a:spcPts val="600"/>
              </a:spcAft>
              <a:defRPr/>
            </a:pPr>
            <a:r>
              <a:rPr lang="en-gb" sz="1200" dirty="0">
                <a:gradFill>
                  <a:gsLst>
                    <a:gs pos="98947">
                      <a:srgbClr val="FFFFFF"/>
                    </a:gs>
                    <a:gs pos="74000">
                      <a:srgbClr val="FFFFFF"/>
                    </a:gs>
                  </a:gsLst>
                  <a:lin ang="18900000" scaled="1"/>
                </a:gradFill>
                <a:latin typeface="Segoe UI Semibold"/>
                <a:ea typeface="Segoe UI" pitchFamily="34" charset="0"/>
              </a:rPr>
              <a:t>Application and data centre modernisation</a:t>
            </a:r>
          </a:p>
          <a:p>
            <a:pPr defTabSz="932472" fontAlgn="base">
              <a:spcBef>
                <a:spcPct val="0"/>
              </a:spcBef>
              <a:spcAft>
                <a:spcPts val="600"/>
              </a:spcAft>
              <a:defRPr/>
            </a:pPr>
            <a:r>
              <a:rPr lang="en-gb" sz="1200" dirty="0">
                <a:gradFill>
                  <a:gsLst>
                    <a:gs pos="98947">
                      <a:srgbClr val="FFFFFF"/>
                    </a:gs>
                    <a:gs pos="74000">
                      <a:srgbClr val="FFFFFF"/>
                    </a:gs>
                  </a:gsLst>
                  <a:lin ang="18900000" scaled="1"/>
                </a:gradFill>
                <a:latin typeface="Segoe UI Semibold"/>
                <a:ea typeface="Segoe UI" pitchFamily="34" charset="0"/>
              </a:rPr>
              <a:t>Business continuity and resilience</a:t>
            </a:r>
          </a:p>
          <a:p>
            <a:pPr defTabSz="932472" fontAlgn="base">
              <a:spcBef>
                <a:spcPct val="0"/>
              </a:spcBef>
              <a:spcAft>
                <a:spcPts val="600"/>
              </a:spcAft>
              <a:defRPr/>
            </a:pPr>
            <a:r>
              <a:rPr lang="en-gb" sz="1200" dirty="0">
                <a:gradFill>
                  <a:gsLst>
                    <a:gs pos="98947">
                      <a:srgbClr val="FFFFFF"/>
                    </a:gs>
                    <a:gs pos="74000">
                      <a:srgbClr val="FFFFFF"/>
                    </a:gs>
                  </a:gsLst>
                  <a:lin ang="18900000" scaled="1"/>
                </a:gradFill>
                <a:latin typeface="Segoe UI Semibold"/>
                <a:ea typeface="Segoe UI" pitchFamily="34" charset="0"/>
              </a:rPr>
              <a:t>Freedom to use more than one public cloud</a:t>
            </a:r>
          </a:p>
        </p:txBody>
      </p:sp>
    </p:spTree>
    <p:extLst>
      <p:ext uri="{BB962C8B-B14F-4D97-AF65-F5344CB8AC3E}">
        <p14:creationId xmlns:p14="http://schemas.microsoft.com/office/powerpoint/2010/main" val="1518340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DFCDAA-5362-8A47-BCBE-7017ECC5EE5C}"/>
              </a:ext>
            </a:extLst>
          </p:cNvPr>
          <p:cNvSpPr>
            <a:spLocks noGrp="1"/>
          </p:cNvSpPr>
          <p:nvPr>
            <p:ph type="title" idx="4294967295"/>
          </p:nvPr>
        </p:nvSpPr>
        <p:spPr>
          <a:xfrm>
            <a:off x="618706" y="407604"/>
            <a:ext cx="10429045"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Manage complex IT environments seamlessly as you move</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766A3223-3E82-2C44-9E34-92CC45B13450}"/>
              </a:ext>
            </a:extLst>
          </p:cNvPr>
          <p:cNvSpPr>
            <a:spLocks noGrp="1"/>
          </p:cNvSpPr>
          <p:nvPr/>
        </p:nvSpPr>
        <p:spPr>
          <a:xfrm>
            <a:off x="618706" y="1792323"/>
            <a:ext cx="9276855"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IT investments may span cloud and on-premises for the foreseeable future. </a:t>
            </a:r>
            <a:br/>
            <a:r>
              <a:rPr lang="en-gb" sz="1600" dirty="0">
                <a:latin typeface="Segoe UI" panose="020B0502040204020203" pitchFamily="34" charset="0"/>
              </a:rPr>
              <a:t>Azure hybrid cloud solutions can help reuse, manage and govern assets across hybrid environments. </a:t>
            </a:r>
          </a:p>
        </p:txBody>
      </p:sp>
      <p:sp>
        <p:nvSpPr>
          <p:cNvPr id="6" name="Text Placeholder 2">
            <a:extLst>
              <a:ext uri="{FF2B5EF4-FFF2-40B4-BE49-F238E27FC236}">
                <a16:creationId xmlns:a16="http://schemas.microsoft.com/office/drawing/2014/main" id="{A4CF54CC-86E2-8846-8423-69C712823A20}"/>
              </a:ext>
            </a:extLst>
          </p:cNvPr>
          <p:cNvSpPr txBox="1">
            <a:spLocks/>
          </p:cNvSpPr>
          <p:nvPr/>
        </p:nvSpPr>
        <p:spPr>
          <a:xfrm>
            <a:off x="2663541" y="3689090"/>
            <a:ext cx="3729042" cy="3562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472" fontAlgn="base">
              <a:spcBef>
                <a:spcPct val="0"/>
              </a:spcBef>
              <a:spcAft>
                <a:spcPct val="0"/>
              </a:spcAft>
              <a:buFont typeface="Arial" panose="020B0604020202020204" pitchFamily="34" charset="0"/>
              <a:buNone/>
              <a:defRPr/>
            </a:pPr>
            <a:r>
              <a:rPr lang="en-gb" sz="1400" dirty="0">
                <a:latin typeface="Segoe UI Semibold"/>
              </a:rPr>
              <a:t>Single control plane with Azure Arc</a:t>
            </a:r>
          </a:p>
        </p:txBody>
      </p:sp>
      <p:sp>
        <p:nvSpPr>
          <p:cNvPr id="7" name="Text Placeholder 4">
            <a:extLst>
              <a:ext uri="{FF2B5EF4-FFF2-40B4-BE49-F238E27FC236}">
                <a16:creationId xmlns:a16="http://schemas.microsoft.com/office/drawing/2014/main" id="{272B29E0-2BF8-8548-84D6-FC0282ED8978}"/>
              </a:ext>
            </a:extLst>
          </p:cNvPr>
          <p:cNvSpPr txBox="1">
            <a:spLocks/>
          </p:cNvSpPr>
          <p:nvPr/>
        </p:nvSpPr>
        <p:spPr>
          <a:xfrm>
            <a:off x="1098544" y="5469658"/>
            <a:ext cx="2244401" cy="4380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472" fontAlgn="base">
              <a:spcBef>
                <a:spcPct val="0"/>
              </a:spcBef>
              <a:spcAft>
                <a:spcPct val="0"/>
              </a:spcAft>
              <a:buFont typeface="Arial" panose="020B0604020202020204" pitchFamily="34" charset="0"/>
              <a:buNone/>
              <a:defRPr/>
            </a:pPr>
            <a:r>
              <a:rPr lang="en-gb" sz="1400" dirty="0">
                <a:latin typeface="Segoe UI" panose="020B0502040204020203" pitchFamily="34" charset="0"/>
                <a:cs typeface="Segoe UI" panose="020B0502040204020203" pitchFamily="34" charset="0"/>
              </a:rPr>
              <a:t>Bring Azure services to any infrastructure</a:t>
            </a:r>
          </a:p>
        </p:txBody>
      </p:sp>
      <p:sp>
        <p:nvSpPr>
          <p:cNvPr id="8" name="Text Placeholder 5">
            <a:extLst>
              <a:ext uri="{FF2B5EF4-FFF2-40B4-BE49-F238E27FC236}">
                <a16:creationId xmlns:a16="http://schemas.microsoft.com/office/drawing/2014/main" id="{F1610C55-C489-404F-8F0D-5C7760C800A0}"/>
              </a:ext>
            </a:extLst>
          </p:cNvPr>
          <p:cNvSpPr txBox="1">
            <a:spLocks/>
          </p:cNvSpPr>
          <p:nvPr/>
        </p:nvSpPr>
        <p:spPr>
          <a:xfrm>
            <a:off x="3342945" y="5474456"/>
            <a:ext cx="2571675" cy="4717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472" fontAlgn="base">
              <a:spcBef>
                <a:spcPct val="0"/>
              </a:spcBef>
              <a:spcAft>
                <a:spcPct val="0"/>
              </a:spcAft>
              <a:buFont typeface="Arial" panose="020B0604020202020204" pitchFamily="34" charset="0"/>
              <a:buNone/>
              <a:defRPr/>
            </a:pPr>
            <a:r>
              <a:rPr lang="en-gb" sz="1400" dirty="0">
                <a:latin typeface="Segoe UI" panose="020B0502040204020203" pitchFamily="34" charset="0"/>
                <a:cs typeface="Segoe UI" panose="020B0502040204020203" pitchFamily="34" charset="0"/>
              </a:rPr>
              <a:t>Modernise data centres with Azure Stack</a:t>
            </a:r>
          </a:p>
        </p:txBody>
      </p:sp>
      <p:sp>
        <p:nvSpPr>
          <p:cNvPr id="9" name="Text Placeholder 95">
            <a:extLst>
              <a:ext uri="{FF2B5EF4-FFF2-40B4-BE49-F238E27FC236}">
                <a16:creationId xmlns:a16="http://schemas.microsoft.com/office/drawing/2014/main" id="{E01FFD47-887E-CB4F-A836-790C4D2FAE37}"/>
              </a:ext>
            </a:extLst>
          </p:cNvPr>
          <p:cNvSpPr txBox="1">
            <a:spLocks/>
          </p:cNvSpPr>
          <p:nvPr/>
        </p:nvSpPr>
        <p:spPr>
          <a:xfrm>
            <a:off x="5786592" y="5462041"/>
            <a:ext cx="1921149" cy="5160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32472" fontAlgn="base">
              <a:spcBef>
                <a:spcPct val="0"/>
              </a:spcBef>
              <a:spcAft>
                <a:spcPct val="0"/>
              </a:spcAft>
              <a:buFont typeface="Arial" panose="020B0604020202020204" pitchFamily="34" charset="0"/>
              <a:buNone/>
              <a:defRPr/>
            </a:pPr>
            <a:r>
              <a:rPr lang="en-gb" sz="1400" dirty="0">
                <a:latin typeface="Segoe UI" panose="020B0502040204020203" pitchFamily="34" charset="0"/>
                <a:cs typeface="Segoe UI" panose="020B0502040204020203" pitchFamily="34" charset="0"/>
              </a:rPr>
              <a:t>Extend to the edge with Azure IoT</a:t>
            </a:r>
          </a:p>
        </p:txBody>
      </p:sp>
      <p:sp>
        <p:nvSpPr>
          <p:cNvPr id="12" name="Text Placeholder 3">
            <a:extLst>
              <a:ext uri="{FF2B5EF4-FFF2-40B4-BE49-F238E27FC236}">
                <a16:creationId xmlns:a16="http://schemas.microsoft.com/office/drawing/2014/main" id="{B663F0A5-BAC6-D048-AECE-EFBE59223DCB}"/>
              </a:ext>
            </a:extLst>
          </p:cNvPr>
          <p:cNvSpPr txBox="1">
            <a:spLocks/>
          </p:cNvSpPr>
          <p:nvPr/>
        </p:nvSpPr>
        <p:spPr>
          <a:xfrm>
            <a:off x="9290872" y="3049606"/>
            <a:ext cx="1869419" cy="99569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472" fontAlgn="base">
              <a:spcBef>
                <a:spcPct val="0"/>
              </a:spcBef>
              <a:spcAft>
                <a:spcPct val="0"/>
              </a:spcAft>
              <a:buFont typeface="Arial" panose="020B0604020202020204" pitchFamily="34" charset="0"/>
              <a:buNone/>
              <a:defRPr/>
            </a:pPr>
            <a:r>
              <a:rPr lang="en-gb" sz="6000" b="1" dirty="0">
                <a:solidFill>
                  <a:srgbClr val="0078D4"/>
                </a:solidFill>
                <a:latin typeface="Segoe UI Semibold" panose="020B0502040204020203" pitchFamily="34" charset="0"/>
                <a:ea typeface="Montserrat" charset="0"/>
                <a:cs typeface="Segoe UI Semibold" panose="020B0502040204020203" pitchFamily="34" charset="0"/>
              </a:rPr>
              <a:t>89%</a:t>
            </a:r>
          </a:p>
        </p:txBody>
      </p:sp>
      <p:sp>
        <p:nvSpPr>
          <p:cNvPr id="4" name="Content Placeholder 4">
            <a:extLst>
              <a:ext uri="{FF2B5EF4-FFF2-40B4-BE49-F238E27FC236}">
                <a16:creationId xmlns:a16="http://schemas.microsoft.com/office/drawing/2014/main" id="{0E58D7D5-55A0-1241-B087-C3CD6D676458}"/>
              </a:ext>
            </a:extLst>
          </p:cNvPr>
          <p:cNvSpPr>
            <a:spLocks noGrp="1"/>
          </p:cNvSpPr>
          <p:nvPr/>
        </p:nvSpPr>
        <p:spPr>
          <a:xfrm>
            <a:off x="9422563" y="3984713"/>
            <a:ext cx="2197937" cy="12926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400" dirty="0">
                <a:latin typeface="Segoe UI" panose="020B0502040204020203" pitchFamily="34" charset="0"/>
              </a:rPr>
              <a:t>of organisations use </a:t>
            </a:r>
            <a:br>
              <a:rPr lang="en-gb" sz="1400" dirty="0">
                <a:latin typeface="Segoe UI" panose="020B0502040204020203" pitchFamily="34" charset="0"/>
              </a:rPr>
            </a:br>
            <a:r>
              <a:rPr lang="en-gb" sz="1400" dirty="0">
                <a:latin typeface="Segoe UI" panose="020B0502040204020203" pitchFamily="34" charset="0"/>
              </a:rPr>
              <a:t>a hybrid or multicloud approach. Azure helps ease the complexity of managing and governing this type of environment.</a:t>
            </a:r>
          </a:p>
        </p:txBody>
      </p:sp>
      <p:sp>
        <p:nvSpPr>
          <p:cNvPr id="5" name="Content Placeholder 7">
            <a:extLst>
              <a:ext uri="{FF2B5EF4-FFF2-40B4-BE49-F238E27FC236}">
                <a16:creationId xmlns:a16="http://schemas.microsoft.com/office/drawing/2014/main" id="{AE3C5147-9101-8C45-9CAF-A4CB164A705F}"/>
              </a:ext>
            </a:extLst>
          </p:cNvPr>
          <p:cNvSpPr>
            <a:spLocks noGrp="1"/>
          </p:cNvSpPr>
          <p:nvPr/>
        </p:nvSpPr>
        <p:spPr>
          <a:xfrm>
            <a:off x="9691620" y="6574201"/>
            <a:ext cx="2197937" cy="12311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367">
              <a:spcBef>
                <a:spcPts val="0"/>
              </a:spcBef>
              <a:buSzTx/>
              <a:buNone/>
            </a:pPr>
            <a:r>
              <a:rPr lang="en-gb" sz="800" dirty="0">
                <a:latin typeface="Segoe UI" panose="020B0502040204020203" pitchFamily="34" charset="0"/>
                <a:cs typeface="+mn-cs"/>
              </a:rPr>
              <a:t>Flexera 2022: </a:t>
            </a:r>
            <a:r>
              <a:rPr lang="en-gb" sz="800" dirty="0">
                <a:latin typeface="Segoe UI" panose="020B0502040204020203" pitchFamily="34" charset="0"/>
                <a:cs typeface="+mn-cs"/>
                <a:hlinkClick r:id="rId4"/>
              </a:rPr>
              <a:t>State of the Cloud Report</a:t>
            </a:r>
            <a:endParaRPr lang="en-US" sz="800" dirty="0">
              <a:latin typeface="Segoe UI" panose="020B0502040204020203" pitchFamily="34" charset="0"/>
              <a:cs typeface="+mn-cs"/>
            </a:endParaRPr>
          </a:p>
        </p:txBody>
      </p:sp>
    </p:spTree>
    <p:extLst>
      <p:ext uri="{BB962C8B-B14F-4D97-AF65-F5344CB8AC3E}">
        <p14:creationId xmlns:p14="http://schemas.microsoft.com/office/powerpoint/2010/main" val="3871231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14C6-DFB8-224A-B3CC-23B253840EDD}"/>
              </a:ext>
            </a:extLst>
          </p:cNvPr>
          <p:cNvSpPr txBox="1">
            <a:spLocks noGrp="1"/>
          </p:cNvSpPr>
          <p:nvPr>
            <p:ph type="title" idx="4294967295"/>
          </p:nvPr>
        </p:nvSpPr>
        <p:spPr>
          <a:xfrm>
            <a:off x="618706" y="1981539"/>
            <a:ext cx="9777897" cy="22433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rPr>
              <a:t>Security, compliance, management and operational benefits </a:t>
            </a:r>
            <a:endParaRPr kumimoji="0" lang="en-US" sz="20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endParaRPr>
          </a:p>
        </p:txBody>
      </p:sp>
    </p:spTree>
    <p:extLst>
      <p:ext uri="{BB962C8B-B14F-4D97-AF65-F5344CB8AC3E}">
        <p14:creationId xmlns:p14="http://schemas.microsoft.com/office/powerpoint/2010/main" val="2357196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8ABC9E1-44BB-AD4B-B58B-75DFD6B87555}"/>
              </a:ext>
            </a:extLst>
          </p:cNvPr>
          <p:cNvSpPr>
            <a:spLocks noGrp="1"/>
          </p:cNvSpPr>
          <p:nvPr>
            <p:ph type="title" idx="4294967295"/>
          </p:nvPr>
        </p:nvSpPr>
        <p:spPr>
          <a:xfrm>
            <a:off x="618707" y="1600903"/>
            <a:ext cx="4516964"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Security benefits</a:t>
            </a:r>
          </a:p>
        </p:txBody>
      </p:sp>
      <p:sp>
        <p:nvSpPr>
          <p:cNvPr id="3" name="Content Placeholder 4">
            <a:extLst>
              <a:ext uri="{FF2B5EF4-FFF2-40B4-BE49-F238E27FC236}">
                <a16:creationId xmlns:a16="http://schemas.microsoft.com/office/drawing/2014/main" id="{381A9DCB-2EB3-5640-B3CB-DACCBC30E7F7}"/>
              </a:ext>
            </a:extLst>
          </p:cNvPr>
          <p:cNvSpPr>
            <a:spLocks noGrp="1"/>
          </p:cNvSpPr>
          <p:nvPr/>
        </p:nvSpPr>
        <p:spPr>
          <a:xfrm>
            <a:off x="618707" y="2470302"/>
            <a:ext cx="3075963"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Safeguard your business assets with multilayered security tools.</a:t>
            </a:r>
          </a:p>
        </p:txBody>
      </p:sp>
      <p:sp>
        <p:nvSpPr>
          <p:cNvPr id="4" name="Content Placeholder 4">
            <a:extLst>
              <a:ext uri="{FF2B5EF4-FFF2-40B4-BE49-F238E27FC236}">
                <a16:creationId xmlns:a16="http://schemas.microsoft.com/office/drawing/2014/main" id="{3AA7D666-5866-F542-A41F-58C7F6BBD6B2}"/>
              </a:ext>
            </a:extLst>
          </p:cNvPr>
          <p:cNvSpPr>
            <a:spLocks noGrp="1"/>
          </p:cNvSpPr>
          <p:nvPr/>
        </p:nvSpPr>
        <p:spPr>
          <a:xfrm>
            <a:off x="618707" y="3259442"/>
            <a:ext cx="5243474" cy="12926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92">
              <a:spcBef>
                <a:spcPts val="0"/>
              </a:spcBef>
              <a:buSzTx/>
              <a:defRPr/>
            </a:pPr>
            <a:r>
              <a:rPr lang="en-gb" sz="1400" dirty="0">
                <a:latin typeface="Segoe UI" panose="020B0502040204020203" pitchFamily="34" charset="0"/>
              </a:rPr>
              <a:t>Prepare for regulatory challenges with the broadest set of cloud compliance certifications from </a:t>
            </a:r>
            <a:r>
              <a:rPr lang="en-gb" sz="1400" dirty="0">
                <a:latin typeface="Segoe UI" panose="020B0502040204020203" pitchFamily="34" charset="0"/>
                <a:hlinkClick r:id="rId3"/>
              </a:rPr>
              <a:t>Azure compliance offerings</a:t>
            </a:r>
            <a:r>
              <a:rPr lang="en-gb" sz="1400" dirty="0">
                <a:latin typeface="Segoe UI" panose="020B0502040204020203" pitchFamily="34" charset="0"/>
              </a:rPr>
              <a:t> </a:t>
            </a:r>
          </a:p>
          <a:p>
            <a:pPr defTabSz="914192">
              <a:spcBef>
                <a:spcPts val="0"/>
              </a:spcBef>
              <a:buSzTx/>
              <a:defRPr/>
            </a:pPr>
            <a:endParaRPr lang="en-GB" sz="1400" dirty="0">
              <a:latin typeface="Segoe UI" panose="020B0502040204020203" pitchFamily="34" charset="0"/>
            </a:endParaRPr>
          </a:p>
          <a:p>
            <a:pPr defTabSz="914192">
              <a:spcBef>
                <a:spcPts val="0"/>
              </a:spcBef>
              <a:buSzTx/>
              <a:defRPr/>
            </a:pPr>
            <a:r>
              <a:rPr lang="en-gb" sz="1400" dirty="0">
                <a:latin typeface="Segoe UI" panose="020B0502040204020203" pitchFamily="34" charset="0"/>
              </a:rPr>
              <a:t>Secure and manage identities, connect your remote workforce, and protect your users from 99.9% of identity attacks using </a:t>
            </a:r>
            <a:r>
              <a:rPr lang="en-gb" sz="1400" dirty="0">
                <a:latin typeface="Segoe UI" panose="020B0502040204020203" pitchFamily="34" charset="0"/>
                <a:hlinkClick r:id="rId4"/>
              </a:rPr>
              <a:t>Azure Active Directory</a:t>
            </a:r>
            <a:endParaRPr lang="en-GB" sz="1400" dirty="0">
              <a:latin typeface="Segoe UI" panose="020B0502040204020203" pitchFamily="34" charset="0"/>
            </a:endParaRPr>
          </a:p>
        </p:txBody>
      </p:sp>
      <p:sp>
        <p:nvSpPr>
          <p:cNvPr id="8" name="TextBox 7">
            <a:extLst>
              <a:ext uri="{FF2B5EF4-FFF2-40B4-BE49-F238E27FC236}">
                <a16:creationId xmlns:a16="http://schemas.microsoft.com/office/drawing/2014/main" id="{F0E2789C-B486-A24E-B7AF-CB96B0D269F4}"/>
              </a:ext>
            </a:extLst>
          </p:cNvPr>
          <p:cNvSpPr txBox="1"/>
          <p:nvPr/>
        </p:nvSpPr>
        <p:spPr>
          <a:xfrm>
            <a:off x="7881064" y="1065165"/>
            <a:ext cx="3692229" cy="338554"/>
          </a:xfrm>
          <a:prstGeom prst="rect">
            <a:avLst/>
          </a:prstGeom>
          <a:noFill/>
          <a:ln>
            <a:noFill/>
          </a:ln>
        </p:spPr>
        <p:txBody>
          <a:bodyPr wrap="none" rtlCol="0">
            <a:spAutoFit/>
          </a:bodyPr>
          <a:lstStyle/>
          <a:p>
            <a:r>
              <a:rPr lang="en-gb" sz="1600" b="1" dirty="0">
                <a:solidFill>
                  <a:schemeClr val="bg1"/>
                </a:solidFill>
                <a:latin typeface="Segoe UI Semibold" panose="020B0502040204020203" pitchFamily="34" charset="0"/>
                <a:cs typeface="Segoe UI Semibold" panose="020B0502040204020203" pitchFamily="34" charset="0"/>
              </a:rPr>
              <a:t>Security is foundational for Microsoft:</a:t>
            </a:r>
          </a:p>
        </p:txBody>
      </p:sp>
      <p:sp>
        <p:nvSpPr>
          <p:cNvPr id="7" name="Text Placeholder 2">
            <a:extLst>
              <a:ext uri="{FF2B5EF4-FFF2-40B4-BE49-F238E27FC236}">
                <a16:creationId xmlns:a16="http://schemas.microsoft.com/office/drawing/2014/main" id="{C775639D-B3E2-6343-867B-EE8EBECB720D}"/>
              </a:ext>
            </a:extLst>
          </p:cNvPr>
          <p:cNvSpPr txBox="1">
            <a:spLocks/>
          </p:cNvSpPr>
          <p:nvPr/>
        </p:nvSpPr>
        <p:spPr>
          <a:xfrm>
            <a:off x="8335306" y="4730023"/>
            <a:ext cx="3528143" cy="1647990"/>
          </a:xfrm>
          <a:prstGeom prst="rect">
            <a:avLst/>
          </a:prstGeom>
        </p:spPr>
        <p:txBody>
          <a:bodyPr vert="horz" wrap="square" lIns="0" tIns="0" rIns="0" bIns="0" rtlCol="0">
            <a:normAutofit/>
          </a:bodyPr>
          <a:lstStyle>
            <a:lvl1pPr marL="0" marR="0" indent="0" algn="l" defTabSz="914225" rtl="0" eaLnBrk="1" fontAlgn="auto" latinLnBrk="0" hangingPunct="1">
              <a:lnSpc>
                <a:spcPts val="2600"/>
              </a:lnSpc>
              <a:spcBef>
                <a:spcPct val="0"/>
              </a:spcBef>
              <a:spcAft>
                <a:spcPts val="0"/>
              </a:spcAft>
              <a:buClrTx/>
              <a:buSzPct val="90000"/>
              <a:buFont typeface="Wingdings" panose="05000000000000000000" pitchFamily="2" charset="2"/>
              <a:buNone/>
              <a:tabLst/>
              <a:defRPr lang="en-US" sz="2000" kern="1200" spc="-50" baseline="0" dirty="0">
                <a:solidFill>
                  <a:srgbClr val="3C3C41"/>
                </a:solidFill>
                <a:latin typeface="Segoe UI" panose="020B0502040204020203" pitchFamily="34" charset="0"/>
                <a:ea typeface="+mj-ea"/>
                <a:cs typeface="Segoe UI" panose="020B0502040204020203" pitchFamily="34" charset="0"/>
              </a:defRPr>
            </a:lvl1pPr>
            <a:lvl2pPr marL="457112"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914225"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1371337"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1828449"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defTabSz="878727">
              <a:lnSpc>
                <a:spcPct val="90000"/>
              </a:lnSpc>
              <a:spcBef>
                <a:spcPts val="0"/>
              </a:spcBef>
              <a:spcAft>
                <a:spcPts val="1800"/>
              </a:spcAft>
              <a:buSzTx/>
              <a:defRPr/>
            </a:pPr>
            <a:r>
              <a:rPr lang="en-gb" sz="1600" b="1" kern="0" dirty="0">
                <a:solidFill>
                  <a:srgbClr val="50E6FF"/>
                </a:solidFill>
                <a:latin typeface="Segoe UI Semibold" panose="020B0502040204020203" pitchFamily="34" charset="0"/>
                <a:cs typeface="Segoe UI Semibold" panose="020B0502040204020203" pitchFamily="34" charset="0"/>
              </a:rPr>
              <a:t>USD 1B+ </a:t>
            </a:r>
            <a:r>
              <a:rPr lang="en-gb" sz="1600" kern="0" dirty="0">
                <a:solidFill>
                  <a:srgbClr val="E6E6E6"/>
                </a:solidFill>
              </a:rPr>
              <a:t>annual investment</a:t>
            </a:r>
          </a:p>
          <a:p>
            <a:pPr defTabSz="878727">
              <a:lnSpc>
                <a:spcPct val="90000"/>
              </a:lnSpc>
              <a:spcBef>
                <a:spcPts val="0"/>
              </a:spcBef>
              <a:spcAft>
                <a:spcPts val="1800"/>
              </a:spcAft>
              <a:buSzTx/>
              <a:defRPr/>
            </a:pPr>
            <a:r>
              <a:rPr lang="en-gb" sz="1600" b="1" kern="0" dirty="0">
                <a:solidFill>
                  <a:srgbClr val="50E6FF"/>
                </a:solidFill>
                <a:latin typeface="Segoe UI Semibold" panose="020B0502040204020203" pitchFamily="34" charset="0"/>
                <a:cs typeface="Segoe UI Semibold" panose="020B0502040204020203" pitchFamily="34" charset="0"/>
              </a:rPr>
              <a:t>3,500+ </a:t>
            </a:r>
            <a:r>
              <a:rPr lang="en-gb" sz="1600" kern="0" dirty="0">
                <a:solidFill>
                  <a:srgbClr val="E6E6E6"/>
                </a:solidFill>
              </a:rPr>
              <a:t>security experts</a:t>
            </a:r>
          </a:p>
          <a:p>
            <a:pPr defTabSz="878727">
              <a:lnSpc>
                <a:spcPct val="90000"/>
              </a:lnSpc>
              <a:spcBef>
                <a:spcPts val="0"/>
              </a:spcBef>
              <a:spcAft>
                <a:spcPts val="1800"/>
              </a:spcAft>
              <a:buSzTx/>
              <a:defRPr/>
            </a:pPr>
            <a:r>
              <a:rPr lang="en-gb" sz="1600" b="1" kern="0" dirty="0">
                <a:solidFill>
                  <a:srgbClr val="50E6FF"/>
                </a:solidFill>
                <a:latin typeface="Segoe UI Semibold" panose="020B0502040204020203" pitchFamily="34" charset="0"/>
                <a:cs typeface="Segoe UI Semibold" panose="020B0502040204020203" pitchFamily="34" charset="0"/>
              </a:rPr>
              <a:t>8T+ </a:t>
            </a:r>
            <a:r>
              <a:rPr lang="en-gb" sz="1600" kern="0" dirty="0">
                <a:solidFill>
                  <a:srgbClr val="E6E6E6"/>
                </a:solidFill>
              </a:rPr>
              <a:t>signals</a:t>
            </a:r>
            <a:r>
              <a:rPr lang="en-gb" sz="1600" kern="0" dirty="0">
                <a:solidFill>
                  <a:srgbClr val="50E6FF"/>
                </a:solidFill>
              </a:rPr>
              <a:t> </a:t>
            </a:r>
            <a:r>
              <a:rPr lang="en-gb" sz="1600" kern="0" dirty="0">
                <a:solidFill>
                  <a:srgbClr val="E6E6E6"/>
                </a:solidFill>
              </a:rPr>
              <a:t>analysed for intelligence</a:t>
            </a:r>
          </a:p>
        </p:txBody>
      </p:sp>
      <p:pic>
        <p:nvPicPr>
          <p:cNvPr id="6" name="Picture 5">
            <a:extLst>
              <a:ext uri="{FF2B5EF4-FFF2-40B4-BE49-F238E27FC236}">
                <a16:creationId xmlns:a16="http://schemas.microsoft.com/office/drawing/2014/main" id="{82080A17-67D5-974C-9E89-92CAECE1B0F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812505" y="1741383"/>
            <a:ext cx="3898231" cy="2442723"/>
          </a:xfrm>
          <a:prstGeom prst="rect">
            <a:avLst/>
          </a:prstGeom>
        </p:spPr>
      </p:pic>
    </p:spTree>
    <p:extLst>
      <p:ext uri="{BB962C8B-B14F-4D97-AF65-F5344CB8AC3E}">
        <p14:creationId xmlns:p14="http://schemas.microsoft.com/office/powerpoint/2010/main" val="2352433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8ABC9E1-44BB-AD4B-B58B-75DFD6B87555}"/>
              </a:ext>
            </a:extLst>
          </p:cNvPr>
          <p:cNvSpPr>
            <a:spLocks noGrp="1"/>
          </p:cNvSpPr>
          <p:nvPr>
            <p:ph type="title" idx="4294967295"/>
          </p:nvPr>
        </p:nvSpPr>
        <p:spPr>
          <a:xfrm>
            <a:off x="618706" y="1600904"/>
            <a:ext cx="5477293" cy="12187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Compliance and management benefits</a:t>
            </a:r>
          </a:p>
        </p:txBody>
      </p:sp>
      <p:sp>
        <p:nvSpPr>
          <p:cNvPr id="3" name="Content Placeholder 4">
            <a:extLst>
              <a:ext uri="{FF2B5EF4-FFF2-40B4-BE49-F238E27FC236}">
                <a16:creationId xmlns:a16="http://schemas.microsoft.com/office/drawing/2014/main" id="{381A9DCB-2EB3-5640-B3CB-DACCBC30E7F7}"/>
              </a:ext>
            </a:extLst>
          </p:cNvPr>
          <p:cNvSpPr>
            <a:spLocks noGrp="1"/>
          </p:cNvSpPr>
          <p:nvPr/>
        </p:nvSpPr>
        <p:spPr>
          <a:xfrm>
            <a:off x="618707" y="3033975"/>
            <a:ext cx="4546417"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Azure helps customers regulatory challenges with the right modernisation and migration tools. </a:t>
            </a:r>
          </a:p>
        </p:txBody>
      </p:sp>
      <p:sp>
        <p:nvSpPr>
          <p:cNvPr id="4" name="Content Placeholder 4">
            <a:extLst>
              <a:ext uri="{FF2B5EF4-FFF2-40B4-BE49-F238E27FC236}">
                <a16:creationId xmlns:a16="http://schemas.microsoft.com/office/drawing/2014/main" id="{3AA7D666-5866-F542-A41F-58C7F6BBD6B2}"/>
              </a:ext>
            </a:extLst>
          </p:cNvPr>
          <p:cNvSpPr>
            <a:spLocks noGrp="1"/>
          </p:cNvSpPr>
          <p:nvPr/>
        </p:nvSpPr>
        <p:spPr>
          <a:xfrm>
            <a:off x="618708" y="3823115"/>
            <a:ext cx="5118214" cy="215443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92">
              <a:spcBef>
                <a:spcPts val="0"/>
              </a:spcBef>
              <a:buSzTx/>
              <a:defRPr/>
            </a:pPr>
            <a:r>
              <a:rPr lang="en-gb" sz="1400" dirty="0">
                <a:latin typeface="Segoe UI" panose="020B0502040204020203" pitchFamily="34" charset="0"/>
              </a:rPr>
              <a:t>Increase the efficiency and productivity of managing compliance tools, the compliance environment and auditing.</a:t>
            </a:r>
          </a:p>
          <a:p>
            <a:pPr defTabSz="914192">
              <a:spcBef>
                <a:spcPts val="0"/>
              </a:spcBef>
              <a:buSzTx/>
              <a:defRPr/>
            </a:pPr>
            <a:endParaRPr lang="en-GB" sz="1400" dirty="0">
              <a:latin typeface="Segoe UI" panose="020B0502040204020203" pitchFamily="34" charset="0"/>
            </a:endParaRPr>
          </a:p>
          <a:p>
            <a:pPr defTabSz="914192">
              <a:spcBef>
                <a:spcPts val="0"/>
              </a:spcBef>
              <a:buSzTx/>
              <a:defRPr/>
            </a:pPr>
            <a:r>
              <a:rPr lang="en-gb" sz="1400" dirty="0">
                <a:latin typeface="Segoe UI" panose="020B0502040204020203" pitchFamily="34" charset="0"/>
              </a:rPr>
              <a:t>Reduce costs of compliance-related penalties.</a:t>
            </a:r>
          </a:p>
          <a:p>
            <a:pPr defTabSz="914192">
              <a:spcBef>
                <a:spcPts val="0"/>
              </a:spcBef>
              <a:buSzTx/>
              <a:defRPr/>
            </a:pPr>
            <a:endParaRPr lang="en-GB" sz="1400" dirty="0">
              <a:latin typeface="Segoe UI" panose="020B0502040204020203" pitchFamily="34" charset="0"/>
            </a:endParaRPr>
          </a:p>
          <a:p>
            <a:pPr defTabSz="914192">
              <a:spcBef>
                <a:spcPts val="0"/>
              </a:spcBef>
              <a:buSzTx/>
              <a:defRPr/>
            </a:pPr>
            <a:r>
              <a:rPr lang="en-gb" sz="1400" dirty="0">
                <a:latin typeface="Segoe UI" panose="020B0502040204020203" pitchFamily="34" charset="0"/>
              </a:rPr>
              <a:t>Improve agility in responding to new and ever-changing national and international regulations.</a:t>
            </a:r>
          </a:p>
          <a:p>
            <a:pPr defTabSz="914192">
              <a:spcBef>
                <a:spcPts val="0"/>
              </a:spcBef>
              <a:buSzTx/>
              <a:defRPr/>
            </a:pPr>
            <a:endParaRPr lang="en-GB" sz="1400" dirty="0">
              <a:latin typeface="Segoe UI" panose="020B0502040204020203" pitchFamily="34" charset="0"/>
            </a:endParaRPr>
          </a:p>
          <a:p>
            <a:pPr defTabSz="914192">
              <a:spcBef>
                <a:spcPts val="0"/>
              </a:spcBef>
              <a:buSzTx/>
              <a:defRPr/>
            </a:pPr>
            <a:r>
              <a:rPr lang="en-gb" sz="1400" dirty="0">
                <a:latin typeface="Segoe UI" panose="020B0502040204020203" pitchFamily="34" charset="0"/>
              </a:rPr>
              <a:t>Enhance the overall productivity of auditing and compliance teams as well as IT support.</a:t>
            </a:r>
          </a:p>
        </p:txBody>
      </p:sp>
      <p:sp>
        <p:nvSpPr>
          <p:cNvPr id="9" name="Text Placeholder 3">
            <a:extLst>
              <a:ext uri="{FF2B5EF4-FFF2-40B4-BE49-F238E27FC236}">
                <a16:creationId xmlns:a16="http://schemas.microsoft.com/office/drawing/2014/main" id="{AE0AF8F8-4155-D249-A6E9-F545F2D8BF58}"/>
              </a:ext>
            </a:extLst>
          </p:cNvPr>
          <p:cNvSpPr txBox="1">
            <a:spLocks/>
          </p:cNvSpPr>
          <p:nvPr/>
        </p:nvSpPr>
        <p:spPr>
          <a:xfrm>
            <a:off x="7681449" y="1905581"/>
            <a:ext cx="1090341" cy="99569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472" fontAlgn="base">
              <a:spcBef>
                <a:spcPct val="0"/>
              </a:spcBef>
              <a:spcAft>
                <a:spcPct val="0"/>
              </a:spcAft>
              <a:buFont typeface="Arial" panose="020B0604020202020204" pitchFamily="34" charset="0"/>
              <a:buNone/>
              <a:defRPr/>
            </a:pPr>
            <a:r>
              <a:rPr lang="en-gb" sz="6000" b="1" dirty="0">
                <a:solidFill>
                  <a:srgbClr val="50E6FF"/>
                </a:solidFill>
                <a:latin typeface="Segoe UI Semibold" panose="020B0502040204020203" pitchFamily="34" charset="0"/>
                <a:ea typeface="Montserrat" charset="0"/>
                <a:cs typeface="Segoe UI Semibold" panose="020B0502040204020203" pitchFamily="34" charset="0"/>
              </a:rPr>
              <a:t>91</a:t>
            </a:r>
          </a:p>
        </p:txBody>
      </p:sp>
      <p:sp>
        <p:nvSpPr>
          <p:cNvPr id="11" name="TextBox 10">
            <a:extLst>
              <a:ext uri="{FF2B5EF4-FFF2-40B4-BE49-F238E27FC236}">
                <a16:creationId xmlns:a16="http://schemas.microsoft.com/office/drawing/2014/main" id="{E61E68AE-B16B-0341-A9A0-7F655B3034ED}"/>
              </a:ext>
            </a:extLst>
          </p:cNvPr>
          <p:cNvSpPr txBox="1"/>
          <p:nvPr/>
        </p:nvSpPr>
        <p:spPr>
          <a:xfrm>
            <a:off x="8594368" y="2403429"/>
            <a:ext cx="2036711" cy="307777"/>
          </a:xfrm>
          <a:prstGeom prst="rect">
            <a:avLst/>
          </a:prstGeom>
          <a:noFill/>
        </p:spPr>
        <p:txBody>
          <a:bodyPr wrap="square" rtlCol="0">
            <a:spAutoFit/>
          </a:bodyPr>
          <a:lstStyle/>
          <a:p>
            <a:pPr defTabSz="914367"/>
            <a:r>
              <a:rPr lang="en-gb" sz="1400" dirty="0">
                <a:solidFill>
                  <a:srgbClr val="FFFFFF"/>
                </a:solidFill>
                <a:latin typeface="Segoe UI" panose="020B0502040204020203" pitchFamily="34" charset="0"/>
                <a:cs typeface="Segoe UI" panose="020B0502040204020203" pitchFamily="34" charset="0"/>
              </a:rPr>
              <a:t>compliance offerings</a:t>
            </a:r>
            <a:endParaRPr lang="en-US" sz="1400" spc="588" dirty="0">
              <a:solidFill>
                <a:srgbClr val="0078D4"/>
              </a:solidFill>
              <a:latin typeface="Segoe UI" panose="020B0502040204020203" pitchFamily="34" charset="0"/>
              <a:ea typeface="Montserrat" charset="0"/>
              <a:cs typeface="Segoe UI" panose="020B0502040204020203" pitchFamily="34" charset="0"/>
            </a:endParaRPr>
          </a:p>
        </p:txBody>
      </p:sp>
      <p:sp>
        <p:nvSpPr>
          <p:cNvPr id="8" name="TextBox 7">
            <a:extLst>
              <a:ext uri="{FF2B5EF4-FFF2-40B4-BE49-F238E27FC236}">
                <a16:creationId xmlns:a16="http://schemas.microsoft.com/office/drawing/2014/main" id="{1A442094-BCAC-7B47-924D-502422E2B0CB}"/>
              </a:ext>
            </a:extLst>
          </p:cNvPr>
          <p:cNvSpPr txBox="1"/>
          <p:nvPr/>
        </p:nvSpPr>
        <p:spPr>
          <a:xfrm>
            <a:off x="7552706" y="2918263"/>
            <a:ext cx="3573719" cy="1015663"/>
          </a:xfrm>
          <a:prstGeom prst="rect">
            <a:avLst/>
          </a:prstGeom>
          <a:noFill/>
        </p:spPr>
        <p:txBody>
          <a:bodyPr wrap="square" rtlCol="0">
            <a:spAutoFit/>
          </a:bodyPr>
          <a:lstStyle/>
          <a:p>
            <a:pPr algn="ctr" defTabSz="914367"/>
            <a:r>
              <a:rPr lang="en-GB" sz="6000" b="1" dirty="0">
                <a:solidFill>
                  <a:srgbClr val="50E6FF"/>
                </a:solidFill>
                <a:latin typeface="Segoe UI Semibold" panose="020B0502040204020203" pitchFamily="34" charset="0"/>
                <a:ea typeface="Montserrat" charset="0"/>
                <a:cs typeface="Segoe UI Semibold" panose="020B0502040204020203" pitchFamily="34" charset="0"/>
              </a:rPr>
              <a:t>USD 4.29</a:t>
            </a:r>
            <a:endParaRPr lang="en-gb" sz="6000" b="1" dirty="0">
              <a:solidFill>
                <a:srgbClr val="50E6FF"/>
              </a:solidFill>
              <a:latin typeface="Segoe UI Semibold" panose="020B0502040204020203" pitchFamily="34" charset="0"/>
              <a:ea typeface="Montserrat" charset="0"/>
              <a:cs typeface="Segoe UI Semibold" panose="020B0502040204020203" pitchFamily="34" charset="0"/>
            </a:endParaRPr>
          </a:p>
        </p:txBody>
      </p:sp>
      <p:sp>
        <p:nvSpPr>
          <p:cNvPr id="7" name="TextBox 6">
            <a:extLst>
              <a:ext uri="{FF2B5EF4-FFF2-40B4-BE49-F238E27FC236}">
                <a16:creationId xmlns:a16="http://schemas.microsoft.com/office/drawing/2014/main" id="{7E4AD9C4-9B7A-6E49-BF78-53BC1F2316E8}"/>
              </a:ext>
            </a:extLst>
          </p:cNvPr>
          <p:cNvSpPr txBox="1"/>
          <p:nvPr/>
        </p:nvSpPr>
        <p:spPr>
          <a:xfrm>
            <a:off x="10903631" y="3479880"/>
            <a:ext cx="1141623" cy="307777"/>
          </a:xfrm>
          <a:prstGeom prst="rect">
            <a:avLst/>
          </a:prstGeom>
          <a:noFill/>
        </p:spPr>
        <p:txBody>
          <a:bodyPr wrap="square" rtlCol="0">
            <a:spAutoFit/>
          </a:bodyPr>
          <a:lstStyle/>
          <a:p>
            <a:pPr defTabSz="914367"/>
            <a:r>
              <a:rPr lang="en-gb" sz="1400" dirty="0">
                <a:solidFill>
                  <a:srgbClr val="FFFFFF"/>
                </a:solidFill>
                <a:latin typeface="Segoe UI" panose="020B0502040204020203" pitchFamily="34" charset="0"/>
                <a:cs typeface="Segoe UI" panose="020B0502040204020203" pitchFamily="34" charset="0"/>
              </a:rPr>
              <a:t>million/year</a:t>
            </a:r>
            <a:endParaRPr lang="en-US" sz="1400" spc="588" dirty="0">
              <a:solidFill>
                <a:srgbClr val="0078D4"/>
              </a:solidFill>
              <a:latin typeface="Segoe UI" panose="020B0502040204020203" pitchFamily="34" charset="0"/>
              <a:ea typeface="Montserrat" charset="0"/>
              <a:cs typeface="Segoe UI" panose="020B0502040204020203" pitchFamily="34" charset="0"/>
            </a:endParaRPr>
          </a:p>
        </p:txBody>
      </p:sp>
      <p:sp>
        <p:nvSpPr>
          <p:cNvPr id="6" name="TextBox 5">
            <a:extLst>
              <a:ext uri="{FF2B5EF4-FFF2-40B4-BE49-F238E27FC236}">
                <a16:creationId xmlns:a16="http://schemas.microsoft.com/office/drawing/2014/main" id="{04B4DEC3-A6A1-9D4F-8197-04CC02924A60}"/>
              </a:ext>
            </a:extLst>
          </p:cNvPr>
          <p:cNvSpPr txBox="1"/>
          <p:nvPr/>
        </p:nvSpPr>
        <p:spPr>
          <a:xfrm>
            <a:off x="7934504" y="3949165"/>
            <a:ext cx="3482626" cy="523220"/>
          </a:xfrm>
          <a:prstGeom prst="rect">
            <a:avLst/>
          </a:prstGeom>
          <a:noFill/>
        </p:spPr>
        <p:txBody>
          <a:bodyPr wrap="square" rtlCol="0">
            <a:spAutoFit/>
          </a:bodyPr>
          <a:lstStyle/>
          <a:p>
            <a:pPr algn="ctr" defTabSz="914367"/>
            <a:r>
              <a:rPr lang="en-gb" sz="1400" dirty="0">
                <a:solidFill>
                  <a:srgbClr val="FFFFFF"/>
                </a:solidFill>
                <a:latin typeface="Segoe UI" panose="020B0502040204020203" pitchFamily="34" charset="0"/>
                <a:cs typeface="Segoe UI" panose="020B0502040204020203" pitchFamily="34" charset="0"/>
              </a:rPr>
              <a:t>average value achieved by leveraging cloud IaaS for compliance*</a:t>
            </a:r>
          </a:p>
        </p:txBody>
      </p:sp>
      <p:sp>
        <p:nvSpPr>
          <p:cNvPr id="5" name="TextBox 4">
            <a:extLst>
              <a:ext uri="{FF2B5EF4-FFF2-40B4-BE49-F238E27FC236}">
                <a16:creationId xmlns:a16="http://schemas.microsoft.com/office/drawing/2014/main" id="{E3041B8E-65F8-5141-88D3-A9F2A10605DA}"/>
              </a:ext>
            </a:extLst>
          </p:cNvPr>
          <p:cNvSpPr txBox="1"/>
          <p:nvPr/>
        </p:nvSpPr>
        <p:spPr>
          <a:xfrm>
            <a:off x="7547212" y="6365557"/>
            <a:ext cx="4289947" cy="492443"/>
          </a:xfrm>
          <a:prstGeom prst="rect">
            <a:avLst/>
          </a:prstGeom>
          <a:noFill/>
        </p:spPr>
        <p:txBody>
          <a:bodyPr wrap="square" lIns="0" tIns="0" rIns="0" bIns="0" rtlCol="0">
            <a:spAutoFit/>
          </a:bodyPr>
          <a:lstStyle/>
          <a:p>
            <a:pPr algn="ctr" defTabSz="1054473">
              <a:defRPr/>
            </a:pPr>
            <a:r>
              <a:rPr lang="en-gb" sz="800" dirty="0">
                <a:solidFill>
                  <a:srgbClr val="FFFFFF"/>
                </a:solidFill>
                <a:latin typeface="Segoe UI" panose="020B0502040204020203" pitchFamily="34" charset="0"/>
                <a:cs typeface="Segoe UI" panose="020B0502040204020203" pitchFamily="34" charset="0"/>
              </a:rPr>
              <a:t>*IDC: </a:t>
            </a:r>
            <a:r>
              <a:rPr lang="en-gb" sz="800" dirty="0">
                <a:solidFill>
                  <a:srgbClr val="50E6FF"/>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Microsoft Azure Is Helping Organisations Manage Regulatory </a:t>
            </a:r>
          </a:p>
          <a:p>
            <a:pPr algn="ctr" defTabSz="1054473">
              <a:defRPr/>
            </a:pPr>
            <a:r>
              <a:rPr lang="en-gb" sz="800" dirty="0">
                <a:solidFill>
                  <a:srgbClr val="50E6FF"/>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Challenges More Effectively, May 2019</a:t>
            </a:r>
            <a:endParaRPr lang="en-US" sz="800" dirty="0">
              <a:solidFill>
                <a:srgbClr val="50E6FF"/>
              </a:solidFill>
              <a:latin typeface="Segoe UI" panose="020B0502040204020203" pitchFamily="34" charset="0"/>
              <a:cs typeface="Segoe UI" panose="020B0502040204020203" pitchFamily="34" charset="0"/>
            </a:endParaRPr>
          </a:p>
          <a:p>
            <a:pPr algn="ctr" defTabSz="1054473">
              <a:defRPr/>
            </a:pPr>
            <a:endParaRPr lang="en-US" sz="800" dirty="0">
              <a:solidFill>
                <a:srgbClr val="FFFFFF"/>
              </a:solidFill>
              <a:latin typeface="Segoe UI" panose="020B0502040204020203" pitchFamily="34" charset="0"/>
              <a:cs typeface="Segoe UI" panose="020B0502040204020203" pitchFamily="34" charset="0"/>
            </a:endParaRPr>
          </a:p>
          <a:p>
            <a:pPr algn="ctr" defTabSz="1054473">
              <a:defRPr/>
            </a:pPr>
            <a:endParaRPr lang="en-US" sz="800" dirty="0">
              <a:solidFill>
                <a:srgbClr val="FFFFFF"/>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56793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8ABC9E1-44BB-AD4B-B58B-75DFD6B87555}"/>
              </a:ext>
            </a:extLst>
          </p:cNvPr>
          <p:cNvSpPr>
            <a:spLocks noGrp="1"/>
          </p:cNvSpPr>
          <p:nvPr>
            <p:ph type="title" idx="4294967295"/>
          </p:nvPr>
        </p:nvSpPr>
        <p:spPr>
          <a:xfrm>
            <a:off x="618707" y="2322798"/>
            <a:ext cx="5243474"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Operational benefits</a:t>
            </a:r>
          </a:p>
        </p:txBody>
      </p:sp>
      <p:sp>
        <p:nvSpPr>
          <p:cNvPr id="3" name="Content Placeholder 4">
            <a:extLst>
              <a:ext uri="{FF2B5EF4-FFF2-40B4-BE49-F238E27FC236}">
                <a16:creationId xmlns:a16="http://schemas.microsoft.com/office/drawing/2014/main" id="{381A9DCB-2EB3-5640-B3CB-DACCBC30E7F7}"/>
              </a:ext>
            </a:extLst>
          </p:cNvPr>
          <p:cNvSpPr>
            <a:spLocks noGrp="1"/>
          </p:cNvSpPr>
          <p:nvPr/>
        </p:nvSpPr>
        <p:spPr>
          <a:xfrm>
            <a:off x="618707" y="3192197"/>
            <a:ext cx="2988789"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Expedite operational capacity while reducing IT overhead costs.</a:t>
            </a:r>
          </a:p>
        </p:txBody>
      </p:sp>
      <p:sp>
        <p:nvSpPr>
          <p:cNvPr id="4" name="Content Placeholder 4">
            <a:extLst>
              <a:ext uri="{FF2B5EF4-FFF2-40B4-BE49-F238E27FC236}">
                <a16:creationId xmlns:a16="http://schemas.microsoft.com/office/drawing/2014/main" id="{3AA7D666-5866-F542-A41F-58C7F6BBD6B2}"/>
              </a:ext>
            </a:extLst>
          </p:cNvPr>
          <p:cNvSpPr>
            <a:spLocks noGrp="1"/>
          </p:cNvSpPr>
          <p:nvPr/>
        </p:nvSpPr>
        <p:spPr>
          <a:xfrm>
            <a:off x="618707" y="3981337"/>
            <a:ext cx="5243474" cy="64633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192">
              <a:spcBef>
                <a:spcPts val="0"/>
              </a:spcBef>
              <a:buSzTx/>
              <a:defRPr/>
            </a:pPr>
            <a:r>
              <a:rPr lang="en-gb" sz="1400" dirty="0">
                <a:latin typeface="Segoe UI" panose="020B0502040204020203" pitchFamily="34" charset="0"/>
              </a:rPr>
              <a:t>Gain efficiencies.</a:t>
            </a:r>
          </a:p>
          <a:p>
            <a:pPr defTabSz="914192">
              <a:spcBef>
                <a:spcPts val="0"/>
              </a:spcBef>
              <a:buSzTx/>
              <a:defRPr/>
            </a:pPr>
            <a:endParaRPr lang="en-GB" sz="1400" dirty="0">
              <a:latin typeface="Segoe UI" panose="020B0502040204020203" pitchFamily="34" charset="0"/>
            </a:endParaRPr>
          </a:p>
          <a:p>
            <a:pPr defTabSz="914192">
              <a:spcBef>
                <a:spcPts val="0"/>
              </a:spcBef>
              <a:buSzTx/>
              <a:defRPr/>
            </a:pPr>
            <a:r>
              <a:rPr lang="en-gb" sz="1400" dirty="0">
                <a:latin typeface="Segoe UI" panose="020B0502040204020203" pitchFamily="34" charset="0"/>
              </a:rPr>
              <a:t>Raise reliability.</a:t>
            </a:r>
          </a:p>
        </p:txBody>
      </p:sp>
      <p:sp>
        <p:nvSpPr>
          <p:cNvPr id="7" name="TextBox 6">
            <a:extLst>
              <a:ext uri="{FF2B5EF4-FFF2-40B4-BE49-F238E27FC236}">
                <a16:creationId xmlns:a16="http://schemas.microsoft.com/office/drawing/2014/main" id="{CF239C2F-5C67-9D43-9929-F7B0A52AB66E}"/>
              </a:ext>
            </a:extLst>
          </p:cNvPr>
          <p:cNvSpPr txBox="1"/>
          <p:nvPr/>
        </p:nvSpPr>
        <p:spPr>
          <a:xfrm>
            <a:off x="7939218" y="3033642"/>
            <a:ext cx="3689253" cy="1015663"/>
          </a:xfrm>
          <a:prstGeom prst="rect">
            <a:avLst/>
          </a:prstGeom>
          <a:noFill/>
        </p:spPr>
        <p:txBody>
          <a:bodyPr wrap="square" rtlCol="0">
            <a:spAutoFit/>
          </a:bodyPr>
          <a:lstStyle/>
          <a:p>
            <a:pPr algn="ctr" defTabSz="914367"/>
            <a:r>
              <a:rPr lang="en-gb" sz="6000" dirty="0">
                <a:solidFill>
                  <a:srgbClr val="50E6FF"/>
                </a:solidFill>
                <a:latin typeface="Segoe UI Semibold" panose="020B0502040204020203" pitchFamily="34" charset="0"/>
                <a:ea typeface="Montserrat" charset="0"/>
                <a:cs typeface="Segoe UI Semibold" panose="020B0502040204020203" pitchFamily="34" charset="0"/>
              </a:rPr>
              <a:t>90%</a:t>
            </a:r>
          </a:p>
        </p:txBody>
      </p:sp>
      <p:sp>
        <p:nvSpPr>
          <p:cNvPr id="6" name="TextBox 5">
            <a:extLst>
              <a:ext uri="{FF2B5EF4-FFF2-40B4-BE49-F238E27FC236}">
                <a16:creationId xmlns:a16="http://schemas.microsoft.com/office/drawing/2014/main" id="{B291E969-1F67-B843-887C-BD7CA673C6D8}"/>
              </a:ext>
            </a:extLst>
          </p:cNvPr>
          <p:cNvSpPr txBox="1"/>
          <p:nvPr/>
        </p:nvSpPr>
        <p:spPr>
          <a:xfrm>
            <a:off x="8215965" y="4049305"/>
            <a:ext cx="3071904" cy="643894"/>
          </a:xfrm>
          <a:prstGeom prst="rect">
            <a:avLst/>
          </a:prstGeom>
          <a:noFill/>
        </p:spPr>
        <p:txBody>
          <a:bodyPr wrap="square" rtlCol="0">
            <a:spAutoFit/>
          </a:bodyPr>
          <a:lstStyle/>
          <a:p>
            <a:pPr algn="ctr" defTabSz="914367"/>
            <a:r>
              <a:rPr lang="en-gb" sz="1400" dirty="0">
                <a:solidFill>
                  <a:srgbClr val="FFFFFF"/>
                </a:solidFill>
                <a:latin typeface="Segoe UI" panose="020B0502040204020203" pitchFamily="34" charset="0"/>
                <a:cs typeface="Segoe UI" panose="020B0502040204020203" pitchFamily="34" charset="0"/>
              </a:rPr>
              <a:t>Reduction in data centre support</a:t>
            </a:r>
          </a:p>
          <a:p>
            <a:pPr algn="ctr" defTabSz="914367"/>
            <a:r>
              <a:rPr lang="en-gb" sz="1400" dirty="0">
                <a:solidFill>
                  <a:srgbClr val="FFFFFF"/>
                </a:solidFill>
                <a:latin typeface="Segoe UI" panose="020B0502040204020203" pitchFamily="34" charset="0"/>
                <a:cs typeface="Segoe UI" panose="020B0502040204020203" pitchFamily="34" charset="0"/>
              </a:rPr>
              <a:t> needs by Year 3*</a:t>
            </a:r>
          </a:p>
          <a:p>
            <a:pPr algn="ctr" defTabSz="914367"/>
            <a:endParaRPr lang="en-US" sz="800" spc="588" dirty="0">
              <a:solidFill>
                <a:srgbClr val="0078D4"/>
              </a:solidFill>
              <a:latin typeface="Montserrat" charset="0"/>
              <a:ea typeface="Montserrat" charset="0"/>
              <a:cs typeface="Montserrat" charset="0"/>
            </a:endParaRPr>
          </a:p>
        </p:txBody>
      </p:sp>
      <p:sp>
        <p:nvSpPr>
          <p:cNvPr id="5" name="TextBox 4">
            <a:extLst>
              <a:ext uri="{FF2B5EF4-FFF2-40B4-BE49-F238E27FC236}">
                <a16:creationId xmlns:a16="http://schemas.microsoft.com/office/drawing/2014/main" id="{2F1530F4-4DBB-E44B-9909-6B7A3EFD0B63}"/>
              </a:ext>
            </a:extLst>
          </p:cNvPr>
          <p:cNvSpPr txBox="1"/>
          <p:nvPr/>
        </p:nvSpPr>
        <p:spPr>
          <a:xfrm>
            <a:off x="7484873" y="6365557"/>
            <a:ext cx="4597945" cy="369332"/>
          </a:xfrm>
          <a:prstGeom prst="rect">
            <a:avLst/>
          </a:prstGeom>
          <a:noFill/>
        </p:spPr>
        <p:txBody>
          <a:bodyPr wrap="square" lIns="0" tIns="0" rIns="0" bIns="0" rtlCol="0">
            <a:spAutoFit/>
          </a:bodyPr>
          <a:lstStyle/>
          <a:p>
            <a:pPr algn="ctr" defTabSz="1054473">
              <a:defRPr/>
            </a:pPr>
            <a:r>
              <a:rPr lang="en-gb" sz="800" dirty="0">
                <a:solidFill>
                  <a:srgbClr val="50E6FF"/>
                </a:solidFill>
                <a:latin typeface="Segoe UI" panose="020B0502040204020203" pitchFamily="34" charset="0"/>
                <a:cs typeface="Segoe UI" panose="020B0502040204020203" pitchFamily="34" charset="0"/>
              </a:rPr>
              <a:t>*The Total Economic Impact of Microsoft Azure IaaS</a:t>
            </a:r>
            <a:r>
              <a:rPr lang="en-gb" sz="800" dirty="0">
                <a:solidFill>
                  <a:schemeClr val="bg1"/>
                </a:solidFill>
                <a:latin typeface="Segoe UI" panose="020B0502040204020203" pitchFamily="34" charset="0"/>
                <a:cs typeface="Segoe UI" panose="020B0502040204020203" pitchFamily="34" charset="0"/>
              </a:rPr>
              <a:t>, a commissioned study </a:t>
            </a:r>
            <a:br>
              <a:rPr lang="en-gb" sz="800" dirty="0">
                <a:solidFill>
                  <a:schemeClr val="bg1"/>
                </a:solidFill>
                <a:latin typeface="Segoe UI" panose="020B0502040204020203" pitchFamily="34" charset="0"/>
                <a:cs typeface="Segoe UI" panose="020B0502040204020203" pitchFamily="34" charset="0"/>
              </a:rPr>
            </a:br>
            <a:r>
              <a:rPr lang="en-gb" sz="800" dirty="0">
                <a:solidFill>
                  <a:schemeClr val="bg1"/>
                </a:solidFill>
                <a:latin typeface="Segoe UI" panose="020B0502040204020203" pitchFamily="34" charset="0"/>
                <a:cs typeface="Segoe UI" panose="020B0502040204020203" pitchFamily="34" charset="0"/>
              </a:rPr>
              <a:t>conducted by Forrester Consulting on behalf of Microsoft, August 2017</a:t>
            </a:r>
          </a:p>
          <a:p>
            <a:pPr algn="ctr" defTabSz="1054473">
              <a:defRPr/>
            </a:pPr>
            <a:r>
              <a:rPr lang="en-gb" sz="800" dirty="0">
                <a:solidFill>
                  <a:srgbClr val="50E6FF"/>
                </a:solidFill>
                <a:latin typeface="Segoe UI" panose="020B0502040204020203" pitchFamily="34" charset="0"/>
                <a:cs typeface="Segoe UI" panose="020B0502040204020203" pitchFamily="34" charset="0"/>
              </a:rPr>
              <a:t> </a:t>
            </a:r>
            <a:endParaRPr lang="en-US" sz="800" dirty="0">
              <a:solidFill>
                <a:srgbClr val="FFFFFF"/>
              </a:solidFill>
              <a:latin typeface="Segoe UI" panose="020B0502040204020203" pitchFamily="34" charset="0"/>
              <a:cs typeface="Segoe UI" panose="020B0502040204020203" pitchFamily="34" charset="0"/>
            </a:endParaRPr>
          </a:p>
        </p:txBody>
      </p:sp>
      <p:grpSp>
        <p:nvGrpSpPr>
          <p:cNvPr id="8" name="Group 7">
            <a:extLst>
              <a:ext uri="{FF2B5EF4-FFF2-40B4-BE49-F238E27FC236}">
                <a16:creationId xmlns:a16="http://schemas.microsoft.com/office/drawing/2014/main" id="{0D35078B-C2D1-CE4E-BEFF-3079167ED716}"/>
              </a:ext>
              <a:ext uri="{C183D7F6-B498-43B3-948B-1728B52AA6E4}">
                <adec:decorative xmlns:adec="http://schemas.microsoft.com/office/drawing/2017/decorative" val="1"/>
              </a:ext>
            </a:extLst>
          </p:cNvPr>
          <p:cNvGrpSpPr/>
          <p:nvPr/>
        </p:nvGrpSpPr>
        <p:grpSpPr>
          <a:xfrm>
            <a:off x="8232450" y="1880211"/>
            <a:ext cx="2889677" cy="885174"/>
            <a:chOff x="8086646" y="1812243"/>
            <a:chExt cx="2889677" cy="885174"/>
          </a:xfrm>
          <a:solidFill>
            <a:srgbClr val="50E6FF"/>
          </a:solidFill>
        </p:grpSpPr>
        <p:sp>
          <p:nvSpPr>
            <p:cNvPr id="9" name="Oval 8">
              <a:extLst>
                <a:ext uri="{FF2B5EF4-FFF2-40B4-BE49-F238E27FC236}">
                  <a16:creationId xmlns:a16="http://schemas.microsoft.com/office/drawing/2014/main" id="{D9CF01EC-DAA1-9246-9C6F-069B3965B019}"/>
                </a:ext>
                <a:ext uri="{C183D7F6-B498-43B3-948B-1728B52AA6E4}">
                  <adec:decorative xmlns:adec="http://schemas.microsoft.com/office/drawing/2017/decorative" val="1"/>
                </a:ext>
              </a:extLst>
            </p:cNvPr>
            <p:cNvSpPr/>
            <p:nvPr/>
          </p:nvSpPr>
          <p:spPr bwMode="auto">
            <a:xfrm>
              <a:off x="8086646" y="1812243"/>
              <a:ext cx="338915" cy="338913"/>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Oval 9">
              <a:extLst>
                <a:ext uri="{FF2B5EF4-FFF2-40B4-BE49-F238E27FC236}">
                  <a16:creationId xmlns:a16="http://schemas.microsoft.com/office/drawing/2014/main" id="{D13A90C3-C522-574D-A312-7D769537F799}"/>
                </a:ext>
                <a:ext uri="{C183D7F6-B498-43B3-948B-1728B52AA6E4}">
                  <adec:decorative xmlns:adec="http://schemas.microsoft.com/office/drawing/2017/decorative" val="1"/>
                </a:ext>
              </a:extLst>
            </p:cNvPr>
            <p:cNvSpPr/>
            <p:nvPr/>
          </p:nvSpPr>
          <p:spPr bwMode="auto">
            <a:xfrm>
              <a:off x="8086646" y="2350720"/>
              <a:ext cx="338915" cy="338913"/>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1" name="Oval 10">
              <a:extLst>
                <a:ext uri="{FF2B5EF4-FFF2-40B4-BE49-F238E27FC236}">
                  <a16:creationId xmlns:a16="http://schemas.microsoft.com/office/drawing/2014/main" id="{3F70D1EA-B33D-0D45-A85D-FA647BA712ED}"/>
                </a:ext>
                <a:ext uri="{C183D7F6-B498-43B3-948B-1728B52AA6E4}">
                  <adec:decorative xmlns:adec="http://schemas.microsoft.com/office/drawing/2017/decorative" val="1"/>
                </a:ext>
              </a:extLst>
            </p:cNvPr>
            <p:cNvSpPr/>
            <p:nvPr/>
          </p:nvSpPr>
          <p:spPr bwMode="auto">
            <a:xfrm>
              <a:off x="8721614" y="1812243"/>
              <a:ext cx="338915" cy="338913"/>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Oval 11">
              <a:extLst>
                <a:ext uri="{FF2B5EF4-FFF2-40B4-BE49-F238E27FC236}">
                  <a16:creationId xmlns:a16="http://schemas.microsoft.com/office/drawing/2014/main" id="{58E2FBA6-BA40-B448-8BC8-08FDEFD36847}"/>
                </a:ext>
                <a:ext uri="{C183D7F6-B498-43B3-948B-1728B52AA6E4}">
                  <adec:decorative xmlns:adec="http://schemas.microsoft.com/office/drawing/2017/decorative" val="1"/>
                </a:ext>
              </a:extLst>
            </p:cNvPr>
            <p:cNvSpPr/>
            <p:nvPr/>
          </p:nvSpPr>
          <p:spPr bwMode="auto">
            <a:xfrm>
              <a:off x="8721614" y="2350720"/>
              <a:ext cx="338915" cy="338913"/>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Oval 12">
              <a:extLst>
                <a:ext uri="{FF2B5EF4-FFF2-40B4-BE49-F238E27FC236}">
                  <a16:creationId xmlns:a16="http://schemas.microsoft.com/office/drawing/2014/main" id="{78D17E39-0010-9242-A428-42E438E86BCA}"/>
                </a:ext>
                <a:ext uri="{C183D7F6-B498-43B3-948B-1728B52AA6E4}">
                  <adec:decorative xmlns:adec="http://schemas.microsoft.com/office/drawing/2017/decorative" val="1"/>
                </a:ext>
              </a:extLst>
            </p:cNvPr>
            <p:cNvSpPr/>
            <p:nvPr/>
          </p:nvSpPr>
          <p:spPr bwMode="auto">
            <a:xfrm>
              <a:off x="9361249" y="1812243"/>
              <a:ext cx="338913" cy="338913"/>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 name="Oval 13">
              <a:extLst>
                <a:ext uri="{FF2B5EF4-FFF2-40B4-BE49-F238E27FC236}">
                  <a16:creationId xmlns:a16="http://schemas.microsoft.com/office/drawing/2014/main" id="{AA1A0AA7-D18B-C54D-9883-074F087A738C}"/>
                </a:ext>
                <a:ext uri="{C183D7F6-B498-43B3-948B-1728B52AA6E4}">
                  <adec:decorative xmlns:adec="http://schemas.microsoft.com/office/drawing/2017/decorative" val="1"/>
                </a:ext>
              </a:extLst>
            </p:cNvPr>
            <p:cNvSpPr/>
            <p:nvPr/>
          </p:nvSpPr>
          <p:spPr bwMode="auto">
            <a:xfrm>
              <a:off x="9361249" y="2350720"/>
              <a:ext cx="338913" cy="338913"/>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Oval 14">
              <a:extLst>
                <a:ext uri="{FF2B5EF4-FFF2-40B4-BE49-F238E27FC236}">
                  <a16:creationId xmlns:a16="http://schemas.microsoft.com/office/drawing/2014/main" id="{42B958CB-C949-1B42-A7A8-A2CD18B76C2F}"/>
                </a:ext>
                <a:ext uri="{C183D7F6-B498-43B3-948B-1728B52AA6E4}">
                  <adec:decorative xmlns:adec="http://schemas.microsoft.com/office/drawing/2017/decorative" val="1"/>
                </a:ext>
              </a:extLst>
            </p:cNvPr>
            <p:cNvSpPr/>
            <p:nvPr/>
          </p:nvSpPr>
          <p:spPr bwMode="auto">
            <a:xfrm>
              <a:off x="10002442" y="1820025"/>
              <a:ext cx="338913" cy="338915"/>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6" name="Oval 15">
              <a:extLst>
                <a:ext uri="{FF2B5EF4-FFF2-40B4-BE49-F238E27FC236}">
                  <a16:creationId xmlns:a16="http://schemas.microsoft.com/office/drawing/2014/main" id="{E226698C-3880-7D49-A34B-FCAC6A6DC590}"/>
                </a:ext>
                <a:ext uri="{C183D7F6-B498-43B3-948B-1728B52AA6E4}">
                  <adec:decorative xmlns:adec="http://schemas.microsoft.com/office/drawing/2017/decorative" val="1"/>
                </a:ext>
              </a:extLst>
            </p:cNvPr>
            <p:cNvSpPr/>
            <p:nvPr/>
          </p:nvSpPr>
          <p:spPr bwMode="auto">
            <a:xfrm>
              <a:off x="10002442" y="2358502"/>
              <a:ext cx="338913" cy="338915"/>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7" name="Oval 16">
              <a:extLst>
                <a:ext uri="{FF2B5EF4-FFF2-40B4-BE49-F238E27FC236}">
                  <a16:creationId xmlns:a16="http://schemas.microsoft.com/office/drawing/2014/main" id="{C37C9DEE-9ED9-E943-AC33-16EE360BEDBA}"/>
                </a:ext>
                <a:ext uri="{C183D7F6-B498-43B3-948B-1728B52AA6E4}">
                  <adec:decorative xmlns:adec="http://schemas.microsoft.com/office/drawing/2017/decorative" val="1"/>
                </a:ext>
              </a:extLst>
            </p:cNvPr>
            <p:cNvSpPr/>
            <p:nvPr/>
          </p:nvSpPr>
          <p:spPr bwMode="auto">
            <a:xfrm>
              <a:off x="10637410" y="1820025"/>
              <a:ext cx="338913" cy="338915"/>
            </a:xfrm>
            <a:prstGeom prst="ellipse">
              <a:avLst/>
            </a:prstGeom>
            <a:grp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8" name="Oval 17">
              <a:extLst>
                <a:ext uri="{FF2B5EF4-FFF2-40B4-BE49-F238E27FC236}">
                  <a16:creationId xmlns:a16="http://schemas.microsoft.com/office/drawing/2014/main" id="{1CEA5AFF-7757-AB49-BDB6-8DD695C14190}"/>
                </a:ext>
                <a:ext uri="{C183D7F6-B498-43B3-948B-1728B52AA6E4}">
                  <adec:decorative xmlns:adec="http://schemas.microsoft.com/office/drawing/2017/decorative" val="1"/>
                </a:ext>
              </a:extLst>
            </p:cNvPr>
            <p:cNvSpPr/>
            <p:nvPr/>
          </p:nvSpPr>
          <p:spPr bwMode="auto">
            <a:xfrm>
              <a:off x="10637410" y="2358502"/>
              <a:ext cx="338913" cy="338915"/>
            </a:xfrm>
            <a:prstGeom prst="ellipse">
              <a:avLst/>
            </a:prstGeom>
            <a:noFill/>
            <a:ln w="19050">
              <a:solidFill>
                <a:srgbClr val="50E6F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179285" tIns="143428" rIns="179285" bIns="143428"/>
            <a:lstStyle/>
            <a:p>
              <a:pPr algn="ctr" defTabSz="914102">
                <a:lnSpc>
                  <a:spcPct val="90000"/>
                </a:lnSpc>
                <a:defRPr/>
              </a:pPr>
              <a:endParaRPr lang="en-US" sz="2353"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spTree>
    <p:extLst>
      <p:ext uri="{BB962C8B-B14F-4D97-AF65-F5344CB8AC3E}">
        <p14:creationId xmlns:p14="http://schemas.microsoft.com/office/powerpoint/2010/main" val="610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14C6-DFB8-224A-B3CC-23B253840EDD}"/>
              </a:ext>
            </a:extLst>
          </p:cNvPr>
          <p:cNvSpPr txBox="1">
            <a:spLocks noGrp="1"/>
          </p:cNvSpPr>
          <p:nvPr>
            <p:ph type="title" idx="4294967295"/>
          </p:nvPr>
        </p:nvSpPr>
        <p:spPr>
          <a:xfrm>
            <a:off x="618706" y="1981539"/>
            <a:ext cx="10586106" cy="22433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rPr>
              <a:t>Find additional support and resources</a:t>
            </a:r>
            <a:endParaRPr kumimoji="0" lang="en-US" sz="2000" b="1" i="0" u="none" strike="noStrike" kern="1200" cap="none" spc="0" normalizeH="0" baseline="0" noProof="0" dirty="0">
              <a:ln>
                <a:noFill/>
              </a:ln>
              <a:solidFill>
                <a:srgbClr val="50E6FF"/>
              </a:solidFill>
              <a:effectLst/>
              <a:uLnTx/>
              <a:uFillTx/>
              <a:latin typeface="Segoe UI Semibold" panose="020B0502040204020203" pitchFamily="34" charset="0"/>
              <a:ea typeface="+mj-ea"/>
              <a:cs typeface="Segoe UI Semibold" panose="020B0502040204020203" pitchFamily="34" charset="0"/>
            </a:endParaRPr>
          </a:p>
        </p:txBody>
      </p:sp>
    </p:spTree>
    <p:extLst>
      <p:ext uri="{BB962C8B-B14F-4D97-AF65-F5344CB8AC3E}">
        <p14:creationId xmlns:p14="http://schemas.microsoft.com/office/powerpoint/2010/main" val="492101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D814A3F-4024-FB4C-A1F9-661F946D359E}"/>
              </a:ext>
            </a:extLst>
          </p:cNvPr>
          <p:cNvSpPr>
            <a:spLocks noGrp="1"/>
          </p:cNvSpPr>
          <p:nvPr>
            <p:ph type="title" idx="4294967295"/>
          </p:nvPr>
        </p:nvSpPr>
        <p:spPr>
          <a:xfrm>
            <a:off x="618706" y="407604"/>
            <a:ext cx="10429045"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Readiness</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C13EC803-D263-7A44-8ED1-40007C39EF78}"/>
              </a:ext>
            </a:extLst>
          </p:cNvPr>
          <p:cNvSpPr>
            <a:spLocks noGrp="1"/>
          </p:cNvSpPr>
          <p:nvPr/>
        </p:nvSpPr>
        <p:spPr>
          <a:xfrm>
            <a:off x="618707" y="1115918"/>
            <a:ext cx="8149512"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Resources for learning and preparing your team for cloud adoption</a:t>
            </a:r>
          </a:p>
        </p:txBody>
      </p:sp>
      <p:sp>
        <p:nvSpPr>
          <p:cNvPr id="13" name="TextBox 12">
            <a:extLst>
              <a:ext uri="{FF2B5EF4-FFF2-40B4-BE49-F238E27FC236}">
                <a16:creationId xmlns:a16="http://schemas.microsoft.com/office/drawing/2014/main" id="{6E5ABB0E-3A65-A940-834A-77042DCBBFCE}"/>
              </a:ext>
            </a:extLst>
          </p:cNvPr>
          <p:cNvSpPr txBox="1"/>
          <p:nvPr/>
        </p:nvSpPr>
        <p:spPr>
          <a:xfrm>
            <a:off x="618706" y="2336009"/>
            <a:ext cx="2489199" cy="541367"/>
          </a:xfrm>
          <a:prstGeom prst="rect">
            <a:avLst/>
          </a:prstGeom>
          <a:noFill/>
        </p:spPr>
        <p:txBody>
          <a:bodyPr wrap="square" lIns="182880" tIns="146304" rIns="182880" bIns="146304" rtlCol="0">
            <a:spAutoFit/>
          </a:bodyPr>
          <a:lstStyle/>
          <a:p>
            <a:pPr>
              <a:lnSpc>
                <a:spcPts val="1980"/>
              </a:lnSpc>
              <a:spcAft>
                <a:spcPts val="600"/>
              </a:spcAft>
            </a:pPr>
            <a:r>
              <a:rPr lang="en-gb" sz="1600" b="1" dirty="0">
                <a:solidFill>
                  <a:srgbClr val="0078D4"/>
                </a:solidFill>
                <a:latin typeface="Segoe UI Semibold" panose="020B0502040204020203" pitchFamily="34" charset="0"/>
                <a:cs typeface="Segoe UI Semibold" panose="020B0502040204020203" pitchFamily="34" charset="0"/>
                <a:hlinkClick r:id="rId3">
                  <a:extLst>
                    <a:ext uri="{A12FA001-AC4F-418D-AE19-62706E023703}">
                      <ahyp:hlinkClr xmlns:ahyp="http://schemas.microsoft.com/office/drawing/2018/hyperlinkcolor" val="tx"/>
                    </a:ext>
                  </a:extLst>
                </a:hlinkClick>
              </a:rPr>
              <a:t>Cloud concepts</a:t>
            </a:r>
            <a:endParaRPr lang="en-US" sz="1600" b="1" dirty="0">
              <a:solidFill>
                <a:srgbClr val="0078D4"/>
              </a:solidFill>
              <a:latin typeface="Segoe UI Semibold" panose="020B0502040204020203" pitchFamily="34" charset="0"/>
              <a:cs typeface="Segoe UI Semibold" panose="020B0502040204020203" pitchFamily="34" charset="0"/>
            </a:endParaRPr>
          </a:p>
        </p:txBody>
      </p:sp>
      <p:sp>
        <p:nvSpPr>
          <p:cNvPr id="12" name="TextBox 11">
            <a:extLst>
              <a:ext uri="{FF2B5EF4-FFF2-40B4-BE49-F238E27FC236}">
                <a16:creationId xmlns:a16="http://schemas.microsoft.com/office/drawing/2014/main" id="{4A5403D3-1C28-2344-9B5E-A009F4FF467E}"/>
              </a:ext>
            </a:extLst>
          </p:cNvPr>
          <p:cNvSpPr txBox="1"/>
          <p:nvPr/>
        </p:nvSpPr>
        <p:spPr>
          <a:xfrm>
            <a:off x="618706" y="2696022"/>
            <a:ext cx="3633853" cy="1254126"/>
          </a:xfrm>
          <a:prstGeom prst="rect">
            <a:avLst/>
          </a:prstGeom>
          <a:noFill/>
        </p:spPr>
        <p:txBody>
          <a:bodyPr wrap="square" lIns="182880" tIns="146304" rIns="182880" bIns="146304" rtlCol="0">
            <a:spAutoFit/>
          </a:bodyPr>
          <a:lstStyle/>
          <a:p>
            <a:pPr>
              <a:lnSpc>
                <a:spcPts val="1900"/>
              </a:lnSpc>
              <a:spcAft>
                <a:spcPts val="600"/>
              </a:spcAft>
            </a:pPr>
            <a:r>
              <a:rPr lang="en-gb" sz="1400" dirty="0">
                <a:latin typeface="Segoe UI" panose="020B0502040204020203" pitchFamily="34" charset="0"/>
                <a:cs typeface="Segoe UI" panose="020B0502040204020203" pitchFamily="34" charset="0"/>
              </a:rPr>
              <a:t>This hour-long beginner-level course covers the definition of cloud computing, different types of cloud services and cloud deployment models.</a:t>
            </a:r>
          </a:p>
        </p:txBody>
      </p:sp>
      <p:sp>
        <p:nvSpPr>
          <p:cNvPr id="11" name="TextBox 10">
            <a:extLst>
              <a:ext uri="{FF2B5EF4-FFF2-40B4-BE49-F238E27FC236}">
                <a16:creationId xmlns:a16="http://schemas.microsoft.com/office/drawing/2014/main" id="{C55BA89A-6E4D-F940-B683-5D4B43121CFC}"/>
              </a:ext>
            </a:extLst>
          </p:cNvPr>
          <p:cNvSpPr txBox="1"/>
          <p:nvPr/>
        </p:nvSpPr>
        <p:spPr>
          <a:xfrm>
            <a:off x="4274282" y="2336009"/>
            <a:ext cx="3289300" cy="541367"/>
          </a:xfrm>
          <a:prstGeom prst="rect">
            <a:avLst/>
          </a:prstGeom>
          <a:noFill/>
        </p:spPr>
        <p:txBody>
          <a:bodyPr wrap="square" lIns="182880" tIns="146304" rIns="182880" bIns="146304" rtlCol="0">
            <a:spAutoFit/>
          </a:bodyPr>
          <a:lstStyle/>
          <a:p>
            <a:pPr>
              <a:lnSpc>
                <a:spcPts val="1980"/>
              </a:lnSpc>
              <a:spcAft>
                <a:spcPts val="600"/>
              </a:spcAft>
            </a:pPr>
            <a:r>
              <a:rPr lang="en-gb" sz="1600" b="1" dirty="0">
                <a:solidFill>
                  <a:srgbClr val="0078D4"/>
                </a:solidFill>
                <a:latin typeface="Segoe UI Semibold" panose="020B0502040204020203" pitchFamily="34" charset="0"/>
                <a:cs typeface="Segoe UI Semibold" panose="020B0502040204020203" pitchFamily="34" charset="0"/>
                <a:hlinkClick r:id="rId4">
                  <a:extLst>
                    <a:ext uri="{A12FA001-AC4F-418D-AE19-62706E023703}">
                      <ahyp:hlinkClr xmlns:ahyp="http://schemas.microsoft.com/office/drawing/2018/hyperlinkcolor" val="tx"/>
                    </a:ext>
                  </a:extLst>
                </a:hlinkClick>
              </a:rPr>
              <a:t>Microsoft Learn for migration</a:t>
            </a:r>
            <a:endParaRPr lang="en-US" sz="1600" b="1" dirty="0">
              <a:solidFill>
                <a:srgbClr val="0078D4"/>
              </a:solidFill>
              <a:latin typeface="Segoe UI Semibold" panose="020B0502040204020203" pitchFamily="34" charset="0"/>
              <a:cs typeface="Segoe UI Semibold" panose="020B0502040204020203" pitchFamily="34" charset="0"/>
            </a:endParaRPr>
          </a:p>
        </p:txBody>
      </p:sp>
      <p:sp>
        <p:nvSpPr>
          <p:cNvPr id="10" name="TextBox 9">
            <a:extLst>
              <a:ext uri="{FF2B5EF4-FFF2-40B4-BE49-F238E27FC236}">
                <a16:creationId xmlns:a16="http://schemas.microsoft.com/office/drawing/2014/main" id="{DC4032D8-CC2D-5E4B-BDFD-88EE6A7A7579}"/>
              </a:ext>
            </a:extLst>
          </p:cNvPr>
          <p:cNvSpPr txBox="1"/>
          <p:nvPr/>
        </p:nvSpPr>
        <p:spPr>
          <a:xfrm>
            <a:off x="4274282" y="2696022"/>
            <a:ext cx="3163354" cy="1010469"/>
          </a:xfrm>
          <a:prstGeom prst="rect">
            <a:avLst/>
          </a:prstGeom>
          <a:noFill/>
        </p:spPr>
        <p:txBody>
          <a:bodyPr wrap="square" lIns="182880" tIns="146304" rIns="182880" bIns="146304" rtlCol="0">
            <a:spAutoFit/>
          </a:bodyPr>
          <a:lstStyle/>
          <a:p>
            <a:pPr>
              <a:lnSpc>
                <a:spcPts val="1900"/>
              </a:lnSpc>
              <a:spcAft>
                <a:spcPts val="600"/>
              </a:spcAft>
            </a:pPr>
            <a:r>
              <a:rPr lang="en-gb" sz="1400" dirty="0">
                <a:latin typeface="Segoe UI" panose="020B0502040204020203" pitchFamily="34" charset="0"/>
                <a:cs typeface="Segoe UI" panose="020B0502040204020203" pitchFamily="34" charset="0"/>
              </a:rPr>
              <a:t>Grow and build the skills you need to confidently migrate application workloads and data to Azure. </a:t>
            </a:r>
          </a:p>
        </p:txBody>
      </p:sp>
      <p:sp>
        <p:nvSpPr>
          <p:cNvPr id="9" name="TextBox 8">
            <a:extLst>
              <a:ext uri="{FF2B5EF4-FFF2-40B4-BE49-F238E27FC236}">
                <a16:creationId xmlns:a16="http://schemas.microsoft.com/office/drawing/2014/main" id="{138B1338-7F78-1E4C-A57E-5FE51DEF767C}"/>
              </a:ext>
            </a:extLst>
          </p:cNvPr>
          <p:cNvSpPr txBox="1"/>
          <p:nvPr/>
        </p:nvSpPr>
        <p:spPr>
          <a:xfrm>
            <a:off x="7675724" y="2328803"/>
            <a:ext cx="2600423" cy="541367"/>
          </a:xfrm>
          <a:prstGeom prst="rect">
            <a:avLst/>
          </a:prstGeom>
          <a:noFill/>
        </p:spPr>
        <p:txBody>
          <a:bodyPr wrap="square" lIns="182880" tIns="146304" rIns="182880" bIns="146304" rtlCol="0">
            <a:spAutoFit/>
          </a:bodyPr>
          <a:lstStyle/>
          <a:p>
            <a:pPr>
              <a:lnSpc>
                <a:spcPts val="1980"/>
              </a:lnSpc>
              <a:spcAft>
                <a:spcPts val="600"/>
              </a:spcAft>
            </a:pPr>
            <a:r>
              <a:rPr lang="en-gb" sz="1600" b="1" dirty="0">
                <a:solidFill>
                  <a:srgbClr val="0078D4"/>
                </a:solidFill>
                <a:latin typeface="Segoe UI Semibold" panose="020B0502040204020203" pitchFamily="34" charset="0"/>
                <a:cs typeface="Segoe UI Semibold" panose="020B0502040204020203" pitchFamily="34" charset="0"/>
                <a:hlinkClick r:id="rId5">
                  <a:extLst>
                    <a:ext uri="{A12FA001-AC4F-418D-AE19-62706E023703}">
                      <ahyp:hlinkClr xmlns:ahyp="http://schemas.microsoft.com/office/drawing/2018/hyperlinkcolor" val="tx"/>
                    </a:ext>
                  </a:extLst>
                </a:hlinkClick>
              </a:rPr>
              <a:t>Certification paths</a:t>
            </a:r>
            <a:endParaRPr lang="en-US" sz="1600" b="1" dirty="0">
              <a:solidFill>
                <a:srgbClr val="0078D4"/>
              </a:solidFill>
              <a:latin typeface="Segoe UI Semibold" panose="020B0502040204020203" pitchFamily="34" charset="0"/>
              <a:cs typeface="Segoe UI Semibold" panose="020B0502040204020203" pitchFamily="34" charset="0"/>
            </a:endParaRPr>
          </a:p>
        </p:txBody>
      </p:sp>
      <p:sp>
        <p:nvSpPr>
          <p:cNvPr id="8" name="TextBox 7">
            <a:extLst>
              <a:ext uri="{FF2B5EF4-FFF2-40B4-BE49-F238E27FC236}">
                <a16:creationId xmlns:a16="http://schemas.microsoft.com/office/drawing/2014/main" id="{AE885C1A-6D21-E24F-8FD5-B6AE66579443}"/>
              </a:ext>
            </a:extLst>
          </p:cNvPr>
          <p:cNvSpPr txBox="1"/>
          <p:nvPr/>
        </p:nvSpPr>
        <p:spPr>
          <a:xfrm>
            <a:off x="7675724" y="2696022"/>
            <a:ext cx="3289300" cy="1010469"/>
          </a:xfrm>
          <a:prstGeom prst="rect">
            <a:avLst/>
          </a:prstGeom>
          <a:noFill/>
        </p:spPr>
        <p:txBody>
          <a:bodyPr wrap="square" lIns="182880" tIns="146304" rIns="182880" bIns="146304" rtlCol="0">
            <a:spAutoFit/>
          </a:bodyPr>
          <a:lstStyle/>
          <a:p>
            <a:pPr>
              <a:lnSpc>
                <a:spcPts val="1900"/>
              </a:lnSpc>
              <a:spcAft>
                <a:spcPts val="600"/>
              </a:spcAft>
            </a:pPr>
            <a:r>
              <a:rPr lang="en-gb" sz="1400" dirty="0">
                <a:latin typeface="Segoe UI" panose="020B0502040204020203" pitchFamily="34" charset="0"/>
                <a:cs typeface="Segoe UI" panose="020B0502040204020203" pitchFamily="34" charset="0"/>
              </a:rPr>
              <a:t>A resource for locating certification paths for those interested in taking their learning to the next level.</a:t>
            </a:r>
          </a:p>
        </p:txBody>
      </p:sp>
      <p:sp>
        <p:nvSpPr>
          <p:cNvPr id="7" name="TextBox 6">
            <a:extLst>
              <a:ext uri="{FF2B5EF4-FFF2-40B4-BE49-F238E27FC236}">
                <a16:creationId xmlns:a16="http://schemas.microsoft.com/office/drawing/2014/main" id="{0E16FDFB-9022-D84B-8B01-7D41449CFED1}"/>
              </a:ext>
            </a:extLst>
          </p:cNvPr>
          <p:cNvSpPr txBox="1"/>
          <p:nvPr/>
        </p:nvSpPr>
        <p:spPr>
          <a:xfrm>
            <a:off x="618706" y="4791077"/>
            <a:ext cx="3286221" cy="790794"/>
          </a:xfrm>
          <a:prstGeom prst="rect">
            <a:avLst/>
          </a:prstGeom>
          <a:noFill/>
        </p:spPr>
        <p:txBody>
          <a:bodyPr wrap="square" lIns="182880" tIns="146304" rIns="182880" bIns="146304" rtlCol="0">
            <a:spAutoFit/>
          </a:bodyPr>
          <a:lstStyle/>
          <a:p>
            <a:pPr>
              <a:lnSpc>
                <a:spcPts val="1980"/>
              </a:lnSpc>
              <a:spcAft>
                <a:spcPts val="600"/>
              </a:spcAft>
            </a:pPr>
            <a:r>
              <a:rPr lang="en-gb" sz="1600" b="1" dirty="0">
                <a:solidFill>
                  <a:srgbClr val="0078D4"/>
                </a:solidFill>
                <a:latin typeface="Segoe UI Semibold" panose="020B0502040204020203" pitchFamily="34" charset="0"/>
                <a:cs typeface="Segoe UI Semibold" panose="020B0502040204020203" pitchFamily="34" charset="0"/>
                <a:hlinkClick r:id="rId6">
                  <a:extLst>
                    <a:ext uri="{A12FA001-AC4F-418D-AE19-62706E023703}">
                      <ahyp:hlinkClr xmlns:ahyp="http://schemas.microsoft.com/office/drawing/2018/hyperlinkcolor" val="tx"/>
                    </a:ext>
                  </a:extLst>
                </a:hlinkClick>
              </a:rPr>
              <a:t>Microsoft security, compliance and Identity fundamentals </a:t>
            </a:r>
            <a:endParaRPr lang="en-US" sz="1600" b="1" dirty="0">
              <a:solidFill>
                <a:srgbClr val="0078D4"/>
              </a:solidFill>
              <a:latin typeface="Segoe UI Semibold" panose="020B0502040204020203" pitchFamily="34" charset="0"/>
              <a:cs typeface="Segoe UI Semibold" panose="020B0502040204020203" pitchFamily="34" charset="0"/>
            </a:endParaRPr>
          </a:p>
        </p:txBody>
      </p:sp>
      <p:sp>
        <p:nvSpPr>
          <p:cNvPr id="6" name="TextBox 5">
            <a:extLst>
              <a:ext uri="{FF2B5EF4-FFF2-40B4-BE49-F238E27FC236}">
                <a16:creationId xmlns:a16="http://schemas.microsoft.com/office/drawing/2014/main" id="{E76633B7-E73A-C042-A5CC-9BEC318DAA27}"/>
              </a:ext>
            </a:extLst>
          </p:cNvPr>
          <p:cNvSpPr txBox="1"/>
          <p:nvPr/>
        </p:nvSpPr>
        <p:spPr>
          <a:xfrm>
            <a:off x="618706" y="5439927"/>
            <a:ext cx="3163355" cy="766813"/>
          </a:xfrm>
          <a:prstGeom prst="rect">
            <a:avLst/>
          </a:prstGeom>
          <a:noFill/>
        </p:spPr>
        <p:txBody>
          <a:bodyPr wrap="square" lIns="182880" tIns="146304" rIns="182880" bIns="146304" rtlCol="0">
            <a:spAutoFit/>
          </a:bodyPr>
          <a:lstStyle/>
          <a:p>
            <a:pPr>
              <a:lnSpc>
                <a:spcPts val="1900"/>
              </a:lnSpc>
              <a:spcAft>
                <a:spcPts val="600"/>
              </a:spcAft>
            </a:pPr>
            <a:r>
              <a:rPr lang="en-gb" sz="1400" dirty="0">
                <a:latin typeface="Segoe UI" panose="020B0502040204020203" pitchFamily="34" charset="0"/>
                <a:cs typeface="Segoe UI" panose="020B0502040204020203" pitchFamily="34" charset="0"/>
              </a:rPr>
              <a:t>Learn about security capabilities across Microsoft 365 and Azure.</a:t>
            </a:r>
          </a:p>
        </p:txBody>
      </p:sp>
      <p:sp>
        <p:nvSpPr>
          <p:cNvPr id="5" name="TextBox 4">
            <a:extLst>
              <a:ext uri="{FF2B5EF4-FFF2-40B4-BE49-F238E27FC236}">
                <a16:creationId xmlns:a16="http://schemas.microsoft.com/office/drawing/2014/main" id="{C585C35B-B4E6-644C-AE11-D6FF960706A4}"/>
              </a:ext>
            </a:extLst>
          </p:cNvPr>
          <p:cNvSpPr txBox="1"/>
          <p:nvPr/>
        </p:nvSpPr>
        <p:spPr>
          <a:xfrm>
            <a:off x="4274281" y="4815791"/>
            <a:ext cx="2794001" cy="541367"/>
          </a:xfrm>
          <a:prstGeom prst="rect">
            <a:avLst/>
          </a:prstGeom>
          <a:noFill/>
        </p:spPr>
        <p:txBody>
          <a:bodyPr wrap="square" lIns="182880" tIns="146304" rIns="182880" bIns="146304" rtlCol="0">
            <a:spAutoFit/>
          </a:bodyPr>
          <a:lstStyle/>
          <a:p>
            <a:pPr>
              <a:lnSpc>
                <a:spcPts val="1980"/>
              </a:lnSpc>
              <a:spcAft>
                <a:spcPts val="600"/>
              </a:spcAft>
            </a:pPr>
            <a:r>
              <a:rPr lang="en-gb" sz="1600" b="1" dirty="0">
                <a:solidFill>
                  <a:srgbClr val="0078D4"/>
                </a:solidFill>
                <a:latin typeface="Segoe UI Semibold" panose="020B0502040204020203" pitchFamily="34" charset="0"/>
                <a:cs typeface="Segoe UI Semibold" panose="020B0502040204020203" pitchFamily="34" charset="0"/>
                <a:hlinkClick r:id="rId7">
                  <a:extLst>
                    <a:ext uri="{A12FA001-AC4F-418D-AE19-62706E023703}">
                      <ahyp:hlinkClr xmlns:ahyp="http://schemas.microsoft.com/office/drawing/2018/hyperlinkcolor" val="tx"/>
                    </a:ext>
                  </a:extLst>
                </a:hlinkClick>
              </a:rPr>
              <a:t>Organisational readiness</a:t>
            </a:r>
            <a:endParaRPr lang="en-US" sz="1600" b="1" dirty="0">
              <a:solidFill>
                <a:srgbClr val="0078D4"/>
              </a:solidFill>
              <a:latin typeface="Segoe UI Semibold" panose="020B0502040204020203" pitchFamily="34" charset="0"/>
              <a:cs typeface="Segoe UI Semibold" panose="020B0502040204020203" pitchFamily="34" charset="0"/>
            </a:endParaRPr>
          </a:p>
        </p:txBody>
      </p:sp>
      <p:sp>
        <p:nvSpPr>
          <p:cNvPr id="4" name="TextBox 3">
            <a:extLst>
              <a:ext uri="{FF2B5EF4-FFF2-40B4-BE49-F238E27FC236}">
                <a16:creationId xmlns:a16="http://schemas.microsoft.com/office/drawing/2014/main" id="{206CCA6B-491F-F242-B2F2-C94FC7C42EBE}"/>
              </a:ext>
            </a:extLst>
          </p:cNvPr>
          <p:cNvSpPr txBox="1"/>
          <p:nvPr/>
        </p:nvSpPr>
        <p:spPr>
          <a:xfrm>
            <a:off x="4274281" y="5175804"/>
            <a:ext cx="3163354" cy="1010469"/>
          </a:xfrm>
          <a:prstGeom prst="rect">
            <a:avLst/>
          </a:prstGeom>
          <a:noFill/>
        </p:spPr>
        <p:txBody>
          <a:bodyPr wrap="square" lIns="182880" tIns="146304" rIns="182880" bIns="146304" rtlCol="0">
            <a:spAutoFit/>
          </a:bodyPr>
          <a:lstStyle/>
          <a:p>
            <a:pPr>
              <a:lnSpc>
                <a:spcPts val="1900"/>
              </a:lnSpc>
              <a:spcAft>
                <a:spcPts val="600"/>
              </a:spcAft>
            </a:pPr>
            <a:r>
              <a:rPr lang="en-gb" sz="1400" dirty="0">
                <a:latin typeface="Segoe UI" panose="020B0502040204020203" pitchFamily="34" charset="0"/>
                <a:cs typeface="Segoe UI" panose="020B0502040204020203" pitchFamily="34" charset="0"/>
              </a:rPr>
              <a:t>Prepare for your migration with the Strategic Migration Assessment and Readiness Tool (SMART). </a:t>
            </a:r>
          </a:p>
        </p:txBody>
      </p:sp>
      <p:sp>
        <p:nvSpPr>
          <p:cNvPr id="14" name="TextBox 13">
            <a:extLst>
              <a:ext uri="{FF2B5EF4-FFF2-40B4-BE49-F238E27FC236}">
                <a16:creationId xmlns:a16="http://schemas.microsoft.com/office/drawing/2014/main" id="{B1AA95D4-1DCF-2C4A-861D-D6A9C022959B}"/>
              </a:ext>
            </a:extLst>
          </p:cNvPr>
          <p:cNvSpPr txBox="1"/>
          <p:nvPr/>
        </p:nvSpPr>
        <p:spPr>
          <a:xfrm>
            <a:off x="7746446" y="4855152"/>
            <a:ext cx="3897278" cy="584775"/>
          </a:xfrm>
          <a:prstGeom prst="rect">
            <a:avLst/>
          </a:prstGeom>
          <a:noFill/>
        </p:spPr>
        <p:txBody>
          <a:bodyPr wrap="square">
            <a:spAutoFit/>
          </a:bodyPr>
          <a:lstStyle/>
          <a:p>
            <a:r>
              <a:rPr lang="en-gb" sz="1600" b="1" dirty="0">
                <a:solidFill>
                  <a:srgbClr val="0078D4"/>
                </a:solidFill>
                <a:latin typeface="Segoe UI Semibold" panose="020B0502040204020203" pitchFamily="34" charset="0"/>
                <a:cs typeface="Segoe UI Semibold" panose="020B0502040204020203" pitchFamily="34" charset="0"/>
                <a:hlinkClick r:id="rId8">
                  <a:extLst>
                    <a:ext uri="{A12FA001-AC4F-418D-AE19-62706E023703}">
                      <ahyp:hlinkClr xmlns:ahyp="http://schemas.microsoft.com/office/drawing/2018/hyperlinkcolor" val="tx"/>
                    </a:ext>
                  </a:extLst>
                </a:hlinkClick>
              </a:rPr>
              <a:t>Accelerate your migration and modernisation journey to Azure</a:t>
            </a:r>
            <a:endParaRPr lang="en-US" sz="1600" b="1" dirty="0">
              <a:solidFill>
                <a:srgbClr val="0078D4"/>
              </a:solidFill>
              <a:latin typeface="Segoe UI Semibold" panose="020B0502040204020203" pitchFamily="34" charset="0"/>
              <a:cs typeface="Segoe UI Semibold" panose="020B0502040204020203" pitchFamily="34" charset="0"/>
            </a:endParaRPr>
          </a:p>
        </p:txBody>
      </p:sp>
      <p:sp>
        <p:nvSpPr>
          <p:cNvPr id="23" name="Rectangle 22">
            <a:extLst>
              <a:ext uri="{FF2B5EF4-FFF2-40B4-BE49-F238E27FC236}">
                <a16:creationId xmlns:a16="http://schemas.microsoft.com/office/drawing/2014/main" id="{98AEA531-EAD0-3840-B5E6-36992F9F9BF1}"/>
              </a:ext>
            </a:extLst>
          </p:cNvPr>
          <p:cNvSpPr/>
          <p:nvPr/>
        </p:nvSpPr>
        <p:spPr>
          <a:xfrm>
            <a:off x="7746445" y="5476998"/>
            <a:ext cx="3301305" cy="1050993"/>
          </a:xfrm>
          <a:prstGeom prst="rect">
            <a:avLst/>
          </a:prstGeom>
        </p:spPr>
        <p:txBody>
          <a:bodyPr wrap="square">
            <a:spAutoFit/>
          </a:bodyPr>
          <a:lstStyle/>
          <a:p>
            <a:pPr>
              <a:lnSpc>
                <a:spcPts val="1900"/>
              </a:lnSpc>
            </a:pPr>
            <a:r>
              <a:rPr lang="en-gb" sz="1400" dirty="0">
                <a:latin typeface="Segoe UI" panose="020B0502040204020203" pitchFamily="34" charset="0"/>
                <a:cs typeface="Segoe UI" panose="020B0502040204020203" pitchFamily="34" charset="0"/>
              </a:rPr>
              <a:t>Take advantage of fully managed services in Azure to reduce operational burden, scale on demand and focus on more important tasks.</a:t>
            </a:r>
          </a:p>
        </p:txBody>
      </p:sp>
      <p:pic>
        <p:nvPicPr>
          <p:cNvPr id="16" name="Picture 15">
            <a:extLst>
              <a:ext uri="{FF2B5EF4-FFF2-40B4-BE49-F238E27FC236}">
                <a16:creationId xmlns:a16="http://schemas.microsoft.com/office/drawing/2014/main" id="{487CC27E-81DB-D14E-8354-5168F94CF183}"/>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450139" y="4074148"/>
            <a:ext cx="594360" cy="594360"/>
          </a:xfrm>
          <a:prstGeom prst="rect">
            <a:avLst/>
          </a:prstGeom>
        </p:spPr>
      </p:pic>
      <p:sp>
        <p:nvSpPr>
          <p:cNvPr id="18" name="object 10">
            <a:extLst>
              <a:ext uri="{FF2B5EF4-FFF2-40B4-BE49-F238E27FC236}">
                <a16:creationId xmlns:a16="http://schemas.microsoft.com/office/drawing/2014/main" id="{FA3AD0FD-DFE5-E94F-A7A0-EDCD110CA556}"/>
              </a:ext>
              <a:ext uri="{C183D7F6-B498-43B3-948B-1728B52AA6E4}">
                <adec:decorative xmlns:adec="http://schemas.microsoft.com/office/drawing/2017/decorative" val="1"/>
              </a:ext>
            </a:extLst>
          </p:cNvPr>
          <p:cNvSpPr/>
          <p:nvPr/>
        </p:nvSpPr>
        <p:spPr>
          <a:xfrm>
            <a:off x="7828531" y="1688821"/>
            <a:ext cx="573506" cy="604054"/>
          </a:xfrm>
          <a:prstGeom prst="rect">
            <a:avLst/>
          </a:prstGeom>
          <a:blipFill>
            <a:blip r:embed="rId10" cstate="print"/>
            <a:stretch>
              <a:fillRect/>
            </a:stretch>
          </a:blipFill>
        </p:spPr>
        <p:txBody>
          <a:bodyPr wrap="square" lIns="0" tIns="0" rIns="0" bIns="0" rtlCol="0"/>
          <a:lstStyle/>
          <a:p>
            <a:endParaRPr/>
          </a:p>
        </p:txBody>
      </p:sp>
      <p:pic>
        <p:nvPicPr>
          <p:cNvPr id="22" name="Picture 21">
            <a:extLst>
              <a:ext uri="{FF2B5EF4-FFF2-40B4-BE49-F238E27FC236}">
                <a16:creationId xmlns:a16="http://schemas.microsoft.com/office/drawing/2014/main" id="{A24D95FD-760E-4C46-9C7F-F991572FC0BF}"/>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845282" y="1633713"/>
            <a:ext cx="723110" cy="723110"/>
          </a:xfrm>
          <a:prstGeom prst="rect">
            <a:avLst/>
          </a:prstGeom>
        </p:spPr>
      </p:pic>
      <p:pic>
        <p:nvPicPr>
          <p:cNvPr id="24" name="Picture 23">
            <a:extLst>
              <a:ext uri="{FF2B5EF4-FFF2-40B4-BE49-F238E27FC236}">
                <a16:creationId xmlns:a16="http://schemas.microsoft.com/office/drawing/2014/main" id="{FAB09E78-C3A8-A64D-8CF7-E94FC70A450F}"/>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4503585" y="1527602"/>
            <a:ext cx="919044" cy="919044"/>
          </a:xfrm>
          <a:prstGeom prst="rect">
            <a:avLst/>
          </a:prstGeom>
        </p:spPr>
      </p:pic>
      <p:pic>
        <p:nvPicPr>
          <p:cNvPr id="26" name="Picture 25">
            <a:extLst>
              <a:ext uri="{FF2B5EF4-FFF2-40B4-BE49-F238E27FC236}">
                <a16:creationId xmlns:a16="http://schemas.microsoft.com/office/drawing/2014/main" id="{978B4743-F428-BA4A-8EFC-C9B780DD2BEB}"/>
              </a:ex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7753729" y="4052158"/>
            <a:ext cx="723110" cy="723110"/>
          </a:xfrm>
          <a:prstGeom prst="rect">
            <a:avLst/>
          </a:prstGeom>
        </p:spPr>
      </p:pic>
      <p:pic>
        <p:nvPicPr>
          <p:cNvPr id="20" name="Picture 19">
            <a:extLst>
              <a:ext uri="{FF2B5EF4-FFF2-40B4-BE49-F238E27FC236}">
                <a16:creationId xmlns:a16="http://schemas.microsoft.com/office/drawing/2014/main" id="{67A080CC-F429-AA40-BAFF-6433A7F08A2D}"/>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746426" y="4100957"/>
            <a:ext cx="625511" cy="625511"/>
          </a:xfrm>
          <a:prstGeom prst="rect">
            <a:avLst/>
          </a:prstGeom>
        </p:spPr>
      </p:pic>
    </p:spTree>
    <p:extLst>
      <p:ext uri="{BB962C8B-B14F-4D97-AF65-F5344CB8AC3E}">
        <p14:creationId xmlns:p14="http://schemas.microsoft.com/office/powerpoint/2010/main" val="2341605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D814A3F-4024-FB4C-A1F9-661F946D359E}"/>
              </a:ext>
            </a:extLst>
          </p:cNvPr>
          <p:cNvSpPr>
            <a:spLocks noGrp="1"/>
          </p:cNvSpPr>
          <p:nvPr>
            <p:ph type="title" idx="4294967295"/>
          </p:nvPr>
        </p:nvSpPr>
        <p:spPr>
          <a:xfrm>
            <a:off x="618706" y="407604"/>
            <a:ext cx="10429045" cy="6093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gb" sz="4400" b="1" i="0" u="none" strike="noStrike" kern="1200" cap="none" spc="-50" normalizeH="0" baseline="0" noProof="0" dirty="0">
                <a:ln>
                  <a:noFill/>
                </a:ln>
                <a:solidFill>
                  <a:srgbClr val="0078D4"/>
                </a:solidFill>
                <a:effectLst/>
                <a:uLnTx/>
                <a:uFillTx/>
                <a:latin typeface="Segoe UI Semibold" panose="020B0502040204020203" pitchFamily="34" charset="0"/>
                <a:ea typeface="+mn-ea"/>
                <a:cs typeface="Segoe UI Semibold" panose="020B0502040204020203" pitchFamily="34" charset="0"/>
              </a:rPr>
              <a:t>Move forward with confidence</a:t>
            </a:r>
            <a:endParaRPr kumimoji="0" lang="en-IN" sz="3600" b="1" i="0" u="none" strike="noStrike" kern="1200" cap="none" spc="-50" normalizeH="0" baseline="0" noProof="0" dirty="0">
              <a:ln w="3175">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 name="Content Placeholder 4">
            <a:extLst>
              <a:ext uri="{FF2B5EF4-FFF2-40B4-BE49-F238E27FC236}">
                <a16:creationId xmlns:a16="http://schemas.microsoft.com/office/drawing/2014/main" id="{C13EC803-D263-7A44-8ED1-40007C39EF78}"/>
              </a:ext>
            </a:extLst>
          </p:cNvPr>
          <p:cNvSpPr>
            <a:spLocks noGrp="1"/>
          </p:cNvSpPr>
          <p:nvPr/>
        </p:nvSpPr>
        <p:spPr>
          <a:xfrm>
            <a:off x="618707" y="1115918"/>
            <a:ext cx="8149512"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dirty="0">
                <a:latin typeface="Segoe UI" panose="020B0502040204020203" pitchFamily="34" charset="0"/>
              </a:rPr>
              <a:t>The Azure Migration and Modernisation Programme offers support every step of the way. </a:t>
            </a:r>
          </a:p>
        </p:txBody>
      </p:sp>
      <p:sp>
        <p:nvSpPr>
          <p:cNvPr id="25" name="Content Placeholder 4">
            <a:extLst>
              <a:ext uri="{FF2B5EF4-FFF2-40B4-BE49-F238E27FC236}">
                <a16:creationId xmlns:a16="http://schemas.microsoft.com/office/drawing/2014/main" id="{6B9B0558-274A-2240-994C-8916FA838461}"/>
              </a:ext>
            </a:extLst>
          </p:cNvPr>
          <p:cNvSpPr>
            <a:spLocks noGrp="1"/>
          </p:cNvSpPr>
          <p:nvPr/>
        </p:nvSpPr>
        <p:spPr>
          <a:xfrm>
            <a:off x="2292213" y="3500459"/>
            <a:ext cx="8149512" cy="2462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92">
              <a:spcBef>
                <a:spcPts val="0"/>
              </a:spcBef>
              <a:buSzTx/>
              <a:buNone/>
              <a:defRPr/>
            </a:pPr>
            <a:r>
              <a:rPr lang="en-gb" sz="1600" b="1" dirty="0">
                <a:latin typeface="Segoe UI Semibold" panose="020B0502040204020203" pitchFamily="34" charset="0"/>
                <a:cs typeface="Segoe UI Semibold" panose="020B0502040204020203" pitchFamily="34" charset="0"/>
              </a:rPr>
              <a:t>Accelerate your cloud journey with the right mix of resources and expert help </a:t>
            </a:r>
          </a:p>
        </p:txBody>
      </p:sp>
      <p:sp>
        <p:nvSpPr>
          <p:cNvPr id="18" name="Rectangle 17">
            <a:extLst>
              <a:ext uri="{FF2B5EF4-FFF2-40B4-BE49-F238E27FC236}">
                <a16:creationId xmlns:a16="http://schemas.microsoft.com/office/drawing/2014/main" id="{EC66D07C-DA6F-754E-AE98-EC8C3F9FA8FE}"/>
              </a:ext>
            </a:extLst>
          </p:cNvPr>
          <p:cNvSpPr/>
          <p:nvPr/>
        </p:nvSpPr>
        <p:spPr bwMode="auto">
          <a:xfrm>
            <a:off x="445587" y="4713300"/>
            <a:ext cx="158475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r>
              <a:rPr lang="en-gb" sz="1200" kern="0" dirty="0">
                <a:latin typeface="Segoe UI" panose="020B0502040204020203" pitchFamily="34" charset="0"/>
                <a:cs typeface="Segoe UI" panose="020B0502040204020203" pitchFamily="34" charset="0"/>
              </a:rPr>
              <a:t>Proven approach: Microsoft Cloud Adoption Framework and Well-Architected Framework  </a:t>
            </a:r>
          </a:p>
        </p:txBody>
      </p:sp>
      <p:sp>
        <p:nvSpPr>
          <p:cNvPr id="19" name="Rectangle 18">
            <a:extLst>
              <a:ext uri="{FF2B5EF4-FFF2-40B4-BE49-F238E27FC236}">
                <a16:creationId xmlns:a16="http://schemas.microsoft.com/office/drawing/2014/main" id="{A0C0B8E9-2268-0144-8D33-96D5E0612A8C}"/>
              </a:ext>
            </a:extLst>
          </p:cNvPr>
          <p:cNvSpPr/>
          <p:nvPr/>
        </p:nvSpPr>
        <p:spPr bwMode="auto">
          <a:xfrm>
            <a:off x="2137494" y="4713300"/>
            <a:ext cx="150876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27" tIns="0" rIns="91427" bIns="0"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r>
              <a:rPr lang="en-gb" sz="1200" kern="0" dirty="0">
                <a:latin typeface="Segoe UI" panose="020B0502040204020203" pitchFamily="34" charset="0"/>
                <a:cs typeface="Segoe UI" panose="020B0502040204020203" pitchFamily="34" charset="0"/>
              </a:rPr>
              <a:t>Cost-effective offers and incentives</a:t>
            </a:r>
          </a:p>
        </p:txBody>
      </p:sp>
      <p:sp>
        <p:nvSpPr>
          <p:cNvPr id="20" name="Rectangle 19">
            <a:extLst>
              <a:ext uri="{FF2B5EF4-FFF2-40B4-BE49-F238E27FC236}">
                <a16:creationId xmlns:a16="http://schemas.microsoft.com/office/drawing/2014/main" id="{0C68A0E0-DC2D-7B40-ABDB-54B8F53E3D4A}"/>
              </a:ext>
            </a:extLst>
          </p:cNvPr>
          <p:cNvSpPr/>
          <p:nvPr/>
        </p:nvSpPr>
        <p:spPr bwMode="auto">
          <a:xfrm>
            <a:off x="3740711" y="4713300"/>
            <a:ext cx="150876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27" tIns="0" rIns="91427" bIns="0"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r>
              <a:rPr lang="en-gb" sz="1200" kern="0" dirty="0">
                <a:latin typeface="Segoe UI" panose="020B0502040204020203" pitchFamily="34" charset="0"/>
                <a:cs typeface="Segoe UI" panose="020B0502040204020203" pitchFamily="34" charset="0"/>
              </a:rPr>
              <a:t>Technical skill building </a:t>
            </a:r>
          </a:p>
        </p:txBody>
      </p:sp>
      <p:sp>
        <p:nvSpPr>
          <p:cNvPr id="21" name="Rectangle 20">
            <a:extLst>
              <a:ext uri="{FF2B5EF4-FFF2-40B4-BE49-F238E27FC236}">
                <a16:creationId xmlns:a16="http://schemas.microsoft.com/office/drawing/2014/main" id="{8DA9E386-A0C4-9541-9AB6-763A09BD61C2}"/>
              </a:ext>
            </a:extLst>
          </p:cNvPr>
          <p:cNvSpPr/>
          <p:nvPr/>
        </p:nvSpPr>
        <p:spPr bwMode="auto">
          <a:xfrm>
            <a:off x="5214402" y="4713300"/>
            <a:ext cx="150876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27" tIns="0" rIns="91427" bIns="0"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r>
              <a:rPr lang="en-gb" sz="1200" kern="0" dirty="0">
                <a:latin typeface="Segoe UI" panose="020B0502040204020203" pitchFamily="34" charset="0"/>
                <a:cs typeface="Segoe UI" panose="020B0502040204020203" pitchFamily="34" charset="0"/>
              </a:rPr>
              <a:t>Free tools/automation: Azure Migrate</a:t>
            </a:r>
          </a:p>
        </p:txBody>
      </p:sp>
      <p:sp>
        <p:nvSpPr>
          <p:cNvPr id="22" name="Rectangle 21">
            <a:extLst>
              <a:ext uri="{FF2B5EF4-FFF2-40B4-BE49-F238E27FC236}">
                <a16:creationId xmlns:a16="http://schemas.microsoft.com/office/drawing/2014/main" id="{2482FFF1-7E77-EE48-A286-D17F7E42FF77}"/>
              </a:ext>
            </a:extLst>
          </p:cNvPr>
          <p:cNvSpPr/>
          <p:nvPr/>
        </p:nvSpPr>
        <p:spPr bwMode="auto">
          <a:xfrm>
            <a:off x="6977599" y="4713300"/>
            <a:ext cx="150876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27" tIns="0" rIns="91427" bIns="0" numCol="1" spcCol="0" rtlCol="0" fromWordArt="0" anchor="t" anchorCtr="0" forceAA="0" compatLnSpc="1">
            <a:prstTxWarp prst="textNoShape">
              <a:avLst/>
            </a:prstTxWarp>
            <a:noAutofit/>
          </a:bodyPr>
          <a:lstStyle/>
          <a:p>
            <a:pPr algn="ctr" defTabSz="931935" fontAlgn="base">
              <a:lnSpc>
                <a:spcPct val="90000"/>
              </a:lnSpc>
              <a:spcAft>
                <a:spcPts val="400"/>
              </a:spcAft>
              <a:defRPr/>
            </a:pPr>
            <a:r>
              <a:rPr lang="en-gb" sz="1200" kern="0" dirty="0">
                <a:latin typeface="Segoe UI" panose="020B0502040204020203" pitchFamily="34" charset="0"/>
                <a:cs typeface="Segoe UI" panose="020B0502040204020203" pitchFamily="34" charset="0"/>
              </a:rPr>
              <a:t>In-depth assistance from FastTrack for Azure engineers</a:t>
            </a:r>
          </a:p>
        </p:txBody>
      </p:sp>
      <p:sp>
        <p:nvSpPr>
          <p:cNvPr id="23" name="Rectangle 22">
            <a:extLst>
              <a:ext uri="{FF2B5EF4-FFF2-40B4-BE49-F238E27FC236}">
                <a16:creationId xmlns:a16="http://schemas.microsoft.com/office/drawing/2014/main" id="{D267B437-B006-0944-93AC-3709FD8A19B5}"/>
              </a:ext>
            </a:extLst>
          </p:cNvPr>
          <p:cNvSpPr/>
          <p:nvPr/>
        </p:nvSpPr>
        <p:spPr bwMode="auto">
          <a:xfrm>
            <a:off x="8652903" y="4713300"/>
            <a:ext cx="150876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27" tIns="0" rIns="91427" bIns="0"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r>
              <a:rPr lang="en-gb" sz="1200" kern="0" dirty="0">
                <a:latin typeface="Segoe UI" panose="020B0502040204020203" pitchFamily="34" charset="0"/>
                <a:cs typeface="Segoe UI" panose="020B0502040204020203" pitchFamily="34" charset="0"/>
              </a:rPr>
              <a:t>Expert help from specialised service partners</a:t>
            </a:r>
          </a:p>
        </p:txBody>
      </p:sp>
      <p:sp>
        <p:nvSpPr>
          <p:cNvPr id="24" name="Rectangle 23">
            <a:extLst>
              <a:ext uri="{FF2B5EF4-FFF2-40B4-BE49-F238E27FC236}">
                <a16:creationId xmlns:a16="http://schemas.microsoft.com/office/drawing/2014/main" id="{B1AA94A2-3212-F444-AF90-FCC23FF0C0EF}"/>
              </a:ext>
            </a:extLst>
          </p:cNvPr>
          <p:cNvSpPr/>
          <p:nvPr/>
        </p:nvSpPr>
        <p:spPr bwMode="auto">
          <a:xfrm>
            <a:off x="10179597" y="4713300"/>
            <a:ext cx="1508760" cy="8166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91427" tIns="0" rIns="91427" bIns="0"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r>
              <a:rPr lang="en-gb" sz="1200" kern="0" dirty="0">
                <a:latin typeface="Segoe UI" panose="020B0502040204020203" pitchFamily="34" charset="0"/>
                <a:cs typeface="Segoe UI" panose="020B0502040204020203" pitchFamily="34" charset="0"/>
              </a:rPr>
              <a:t>Support environmentally sustainable initiatives </a:t>
            </a:r>
          </a:p>
        </p:txBody>
      </p:sp>
      <p:sp>
        <p:nvSpPr>
          <p:cNvPr id="16" name="Rectangle 15">
            <a:hlinkClick r:id="rId4"/>
            <a:extLst>
              <a:ext uri="{FF2B5EF4-FFF2-40B4-BE49-F238E27FC236}">
                <a16:creationId xmlns:a16="http://schemas.microsoft.com/office/drawing/2014/main" id="{D4A2F7FB-6A1A-8348-AC0B-3085B955A8EA}"/>
              </a:ext>
            </a:extLst>
          </p:cNvPr>
          <p:cNvSpPr/>
          <p:nvPr/>
        </p:nvSpPr>
        <p:spPr bwMode="auto">
          <a:xfrm>
            <a:off x="4646683" y="5943057"/>
            <a:ext cx="2898634" cy="719809"/>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67">
              <a:lnSpc>
                <a:spcPts val="2000"/>
              </a:lnSpc>
            </a:pPr>
            <a:r>
              <a:rPr lang="en-gb" sz="1400" dirty="0">
                <a:solidFill>
                  <a:schemeClr val="bg1"/>
                </a:solidFill>
                <a:latin typeface="Segoe UI Semibold" panose="020B0502040204020203" pitchFamily="34" charset="0"/>
                <a:ea typeface="Montserrat" charset="0"/>
                <a:cs typeface="Segoe UI Semibold" panose="020B0502040204020203" pitchFamily="34" charset="0"/>
              </a:rPr>
              <a:t>Join the Azure Migration and Modernisation Programme ❯</a:t>
            </a:r>
            <a:endParaRPr lang="en-US" sz="2000" dirty="0"/>
          </a:p>
        </p:txBody>
      </p:sp>
    </p:spTree>
    <p:extLst>
      <p:ext uri="{BB962C8B-B14F-4D97-AF65-F5344CB8AC3E}">
        <p14:creationId xmlns:p14="http://schemas.microsoft.com/office/powerpoint/2010/main" val="1635556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84158-92D2-1242-8965-6EAEC19E2F39}"/>
              </a:ext>
            </a:extLst>
          </p:cNvPr>
          <p:cNvSpPr txBox="1">
            <a:spLocks noGrp="1"/>
          </p:cNvSpPr>
          <p:nvPr>
            <p:ph type="title" idx="4294967295"/>
          </p:nvPr>
        </p:nvSpPr>
        <p:spPr>
          <a:xfrm>
            <a:off x="745798" y="4957550"/>
            <a:ext cx="8504767" cy="153498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3600" kern="1200" spc="-50" baseline="0">
                <a:gradFill>
                  <a:gsLst>
                    <a:gs pos="62564">
                      <a:schemeClr val="tx1"/>
                    </a:gs>
                    <a:gs pos="55000">
                      <a:schemeClr val="tx1"/>
                    </a:gs>
                  </a:gsLst>
                  <a:lin ang="5400000" scaled="0"/>
                </a:gradFill>
                <a:latin typeface="+mj-lt"/>
                <a:ea typeface="+mj-ea"/>
                <a:cs typeface="Segoe UI" panose="020B0502040204020203" pitchFamily="34" charset="0"/>
              </a:defRPr>
            </a:lvl1pPr>
          </a:lstStyle>
          <a:p>
            <a:pPr marL="0" marR="0" lvl="0" indent="0" algn="l" defTabSz="914400" rtl="0" eaLnBrk="1" fontAlgn="t" latinLnBrk="0" hangingPunct="1">
              <a:lnSpc>
                <a:spcPts val="1600"/>
              </a:lnSpc>
              <a:spcBef>
                <a:spcPct val="0"/>
              </a:spcBef>
              <a:spcAft>
                <a:spcPts val="0"/>
              </a:spcAft>
              <a:buClrTx/>
              <a:buSzTx/>
              <a:buFontTx/>
              <a:buNone/>
              <a:tabLst/>
              <a:defRPr/>
            </a:pPr>
            <a:r>
              <a:rPr kumimoji="0" lang="en-gb" sz="1200" b="0" i="0" u="none" strike="noStrike" kern="1200" cap="none" spc="0" normalizeH="0" baseline="0" noProof="0" dirty="0">
                <a:ln>
                  <a:noFill/>
                </a:ln>
                <a:solidFill>
                  <a:schemeClr val="bg1"/>
                </a:solidFill>
                <a:effectLst/>
                <a:uLnTx/>
                <a:uFillTx/>
                <a:latin typeface="Segoe UI" panose="020B0502040204020203" pitchFamily="34" charset="0"/>
                <a:ea typeface="+mj-ea"/>
                <a:cs typeface="Segoe UI" panose="020B0502040204020203" pitchFamily="34" charset="0"/>
              </a:rPr>
              <a:t>Copyright © 2022 Microsoft, Inc. All rights reserved. The content in this PowerPoint is intended for informational purposes only. Microsoft makes no warranties, express or implied, with respect to the information presented here. Microsoft, Azure, Microsoft 365, Windows and Windows Server are either registered trademarks or trademarks of the Microsoft group of companies. All other trademarks are property of their respective owners. </a:t>
            </a:r>
            <a:br/>
            <a:br/>
            <a:r>
              <a:rPr kumimoji="0" lang="en-gb" sz="1200" b="0" i="0" u="none" strike="noStrike" kern="1200" cap="none" spc="0" normalizeH="0" baseline="0" noProof="0" dirty="0">
                <a:ln>
                  <a:noFill/>
                </a:ln>
                <a:solidFill>
                  <a:schemeClr val="bg1"/>
                </a:solidFill>
                <a:effectLst/>
                <a:uLnTx/>
                <a:uFillTx/>
                <a:latin typeface="Segoe UI" panose="020B0502040204020203" pitchFamily="34" charset="0"/>
                <a:ea typeface="+mj-ea"/>
                <a:cs typeface="Segoe UI" panose="020B0502040204020203" pitchFamily="34" charset="0"/>
              </a:rPr>
              <a:t>Information in this document, including URL and other internet website references, is subject to change without notice. Complying with all applicable copyright laws is the responsibility of the user. </a:t>
            </a:r>
            <a:br/>
            <a:br/>
            <a:endParaRPr kumimoji="0" lang="en-US" sz="1200" b="0" i="0" u="none" strike="noStrike" kern="1200" cap="none" spc="0" normalizeH="0" baseline="0" noProof="0" dirty="0">
              <a:ln>
                <a:noFill/>
              </a:ln>
              <a:solidFill>
                <a:schemeClr val="bg1"/>
              </a:solidFill>
              <a:effectLst/>
              <a:uLnTx/>
              <a:uFillTx/>
              <a:latin typeface="Segoe UI" panose="020B0502040204020203" pitchFamily="34" charset="0"/>
              <a:ea typeface="+mj-ea"/>
              <a:cs typeface="Segoe UI" panose="020B0502040204020203" pitchFamily="34" charset="0"/>
            </a:endParaRPr>
          </a:p>
        </p:txBody>
      </p:sp>
      <p:pic>
        <p:nvPicPr>
          <p:cNvPr id="4" name="Picture 3" descr="Microsoft Azure logo&#10;">
            <a:extLst>
              <a:ext uri="{FF2B5EF4-FFF2-40B4-BE49-F238E27FC236}">
                <a16:creationId xmlns:a16="http://schemas.microsoft.com/office/drawing/2014/main" id="{F55B9F59-FBB3-F049-A681-71E7C621E7E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45798" y="607272"/>
            <a:ext cx="1964298" cy="279831"/>
          </a:xfrm>
          <a:prstGeom prst="rect">
            <a:avLst/>
          </a:prstGeom>
        </p:spPr>
      </p:pic>
    </p:spTree>
    <p:extLst>
      <p:ext uri="{BB962C8B-B14F-4D97-AF65-F5344CB8AC3E}">
        <p14:creationId xmlns:p14="http://schemas.microsoft.com/office/powerpoint/2010/main" val="211517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7DACAB2B0AF74187EFFA83796591CD" ma:contentTypeVersion="22" ma:contentTypeDescription="Create a new document." ma:contentTypeScope="" ma:versionID="089712c2c48406acedc1a856bfc350e9">
  <xsd:schema xmlns:xsd="http://www.w3.org/2001/XMLSchema" xmlns:xs="http://www.w3.org/2001/XMLSchema" xmlns:p="http://schemas.microsoft.com/office/2006/metadata/properties" xmlns:ns1="http://schemas.microsoft.com/sharepoint/v3" xmlns:ns2="e15da6c4-7dac-4731-9a39-8483b4618d6d" xmlns:ns3="789e3430-bb71-4a18-80d5-bc658dd6e505" xmlns:ns4="230e9df3-be65-4c73-a93b-d1236ebd677e" targetNamespace="http://schemas.microsoft.com/office/2006/metadata/properties" ma:root="true" ma:fieldsID="f2ac4c5d541083ac7e97339bdf242792" ns1:_="" ns2:_="" ns3:_="" ns4:_="">
    <xsd:import namespace="http://schemas.microsoft.com/sharepoint/v3"/>
    <xsd:import namespace="e15da6c4-7dac-4731-9a39-8483b4618d6d"/>
    <xsd:import namespace="789e3430-bb71-4a18-80d5-bc658dd6e505"/>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ServiceTranscript" minOccurs="0"/>
                <xsd:element ref="ns2:Current_x0020_Version" minOccurs="0"/>
                <xsd:element ref="ns2:MediaLengthInSeconds" minOccurs="0"/>
                <xsd:element ref="ns4:TaxCatchAll"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5da6c4-7dac-4731-9a39-8483b4618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Transcript" ma:index="21" nillable="true" ma:displayName="MediaServiceTranscript" ma:hidden="true" ma:internalName="MediaServiceTranscript" ma:readOnly="false">
      <xsd:simpleType>
        <xsd:restriction base="dms:Note"/>
      </xsd:simpleType>
    </xsd:element>
    <xsd:element name="Current_x0020_Version" ma:index="22" nillable="true" ma:displayName="Current Version" ma:format="Dropdown" ma:internalName="Current_x0020_Version">
      <xsd:simpleType>
        <xsd:restriction base="dms:Choice">
          <xsd:enumeration value="Current"/>
          <xsd:enumeration value="Old"/>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89e3430-bb71-4a18-80d5-bc658dd6e50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cc219bb1-e71a-4cc4-b7b6-21fa6e438ae5}" ma:internalName="TaxCatchAll" ma:showField="CatchAllData" ma:web="789e3430-bb71-4a18-80d5-bc658dd6e5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e15da6c4-7dac-4731-9a39-8483b4618d6d">
      <Terms xmlns="http://schemas.microsoft.com/office/infopath/2007/PartnerControls"/>
    </lcf76f155ced4ddcb4097134ff3c332f>
    <_ip_UnifiedCompliancePolicyProperties xmlns="http://schemas.microsoft.com/sharepoint/v3" xsi:nil="true"/>
    <MediaServiceTranscript xmlns="e15da6c4-7dac-4731-9a39-8483b4618d6d" xsi:nil="true"/>
    <Current_x0020_Version xmlns="e15da6c4-7dac-4731-9a39-8483b4618d6d" xsi:nil="true"/>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F800B1-EEEA-45BC-B68A-9B6E135B91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15da6c4-7dac-4731-9a39-8483b4618d6d"/>
    <ds:schemaRef ds:uri="789e3430-bb71-4a18-80d5-bc658dd6e505"/>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7803162-C94E-4102-8201-C116E977BAE1}">
  <ds:schemaRefs>
    <ds:schemaRef ds:uri="789e3430-bb71-4a18-80d5-bc658dd6e505"/>
    <ds:schemaRef ds:uri="http://purl.org/dc/terms/"/>
    <ds:schemaRef ds:uri="e15da6c4-7dac-4731-9a39-8483b4618d6d"/>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230e9df3-be65-4c73-a93b-d1236ebd677e"/>
    <ds:schemaRef ds:uri="http://schemas.microsoft.com/sharepoint/v3"/>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8DE999F1-404A-4D52-8DC0-3777675665F6}">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1095</TotalTime>
  <Words>2373</Words>
  <Application>Microsoft Office PowerPoint</Application>
  <PresentationFormat>Widescreen</PresentationFormat>
  <Paragraphs>402</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Wingdings</vt:lpstr>
      <vt:lpstr>Calibri Light</vt:lpstr>
      <vt:lpstr>Segoe UI</vt:lpstr>
      <vt:lpstr>Segoe UI Semibold</vt:lpstr>
      <vt:lpstr>Arial</vt:lpstr>
      <vt:lpstr>Montserrat</vt:lpstr>
      <vt:lpstr>Calibri</vt:lpstr>
      <vt:lpstr>Office Theme</vt:lpstr>
      <vt:lpstr>Making the Business Case for Moving to the Cloud</vt:lpstr>
      <vt:lpstr>Topics</vt:lpstr>
      <vt:lpstr>Why companies are moving to the cloud</vt:lpstr>
      <vt:lpstr>Enterprises are accelerating digital transformation</vt:lpstr>
      <vt:lpstr>The next era of business is here </vt:lpstr>
      <vt:lpstr>Why move now?</vt:lpstr>
      <vt:lpstr>Moving from CAPEX to OPEX?</vt:lpstr>
      <vt:lpstr>Cloud migration and modernisation concepts</vt:lpstr>
      <vt:lpstr>Understanding cloud services: SaaS, IaaS and PaaS </vt:lpstr>
      <vt:lpstr>Understanding migration and modernisation</vt:lpstr>
      <vt:lpstr>Common migration and modernisation projects</vt:lpstr>
      <vt:lpstr>Prioritising cloud migration and modernisation</vt:lpstr>
      <vt:lpstr>Migration and modernisation approaches</vt:lpstr>
      <vt:lpstr>Steps for migrating and modernising to the cloud</vt:lpstr>
      <vt:lpstr>Why migrate and modernise to Azure?</vt:lpstr>
      <vt:lpstr>Future-proof your business with Azure</vt:lpstr>
      <vt:lpstr>Navigate complex IT environments</vt:lpstr>
      <vt:lpstr>Manage complex IT environments seamlessly as you move</vt:lpstr>
      <vt:lpstr>Security, compliance, management and operational benefits </vt:lpstr>
      <vt:lpstr>Security benefits</vt:lpstr>
      <vt:lpstr>Compliance and management benefits</vt:lpstr>
      <vt:lpstr>Operational benefits</vt:lpstr>
      <vt:lpstr>Find additional support and resources</vt:lpstr>
      <vt:lpstr>Readiness</vt:lpstr>
      <vt:lpstr>Move forward with confidence</vt:lpstr>
      <vt:lpstr>Copyright © 2022 Microsoft, Inc. All rights reserved. The content in this PowerPoint is intended for informational purposes only. Microsoft makes no warranties, express or implied, with respect to the information presented here. Microsoft, Azure, Microsoft 365, Windows and Windows Server are either registered trademarks or trademarks of the Microsoft group of companies. All other trademarks are property of their respective owners.   Information in this document, including URL and other internet website references, is subject to change without notice. Complying with all applicable copyright laws is the responsibility of the user.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the Business Case for Moving to the Cloud</dc:title>
  <dc:subject/>
  <dc:creator>Microsoft</dc:creator>
  <cp:keywords/>
  <dc:description/>
  <cp:lastModifiedBy>Tambe, Sakshi</cp:lastModifiedBy>
  <cp:revision>48</cp:revision>
  <dcterms:created xsi:type="dcterms:W3CDTF">2022-03-22T23:12:18Z</dcterms:created>
  <dcterms:modified xsi:type="dcterms:W3CDTF">2022-06-09T13:59:07Z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0x010100847DACAB2B0AF74187EFFA83796591CD</vt:lpwstr>
  </property>
  <property fmtid="{D5CDD505-2E9C-101B-9397-08002B2CF9AE}" pid="3" name="MediaServiceImageTags">
    <vt:lpwstr/>
  </property>
</Properties>
</file>